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Certified AI Finance Leader program by the Virginia Institute of Finance and Management. In Module Two, we shift our focus to descriptive and predictive analytics, the analytical backbone of AI-driven finance. Over the next four lessons, you will learn how to visualize financial data effectively, extract insights from historical performance, build predictive models for key financial outcomes, and integrate all of this into dashboards that drive better decision-making. This first lesson sets the stage by exploring data visualization and the emerging role of AI in financial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with Lesson One: Data Visualization and AI-Powered Reporting. In the world of finance, data is only as valuable as your ability to communicate it. A well-designed chart can convey in seconds what a hundred-row spreadsheet cannot. In this lesson, we will cover why data visualization matters in finance, examine the AI-powered tools reshaping reporting workflows, discuss design principles for effective dashboards, and conclude with the art of storytelling with data. By the end, you will understand how to turn raw numbers into compelling visual narratives that drive executive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fundamental disconnect in corporate finance: roughly sixty-five percent of people process information visually, yet the majority of financial reports remain dense tables of numbers. Gartner's research indicates that seventy-three percent of financial reports are still predominantly text and table based. This gap represents a massive opportunity. When finance teams embrace effective data visualization, they do not just make reports prettier; they make insights more accessible, decisions faster, and errors easier to spot. Throughout this lesson, we will bridge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landscape of AI-powered reporting tools has expanded dramatically. At the center sits the AI reporting engine, which acts as an intelligence layer connecting multiple capabilities. Data ingestion now relies on automated ETL pipelines that clean and normalize financial data from dozens of sources. Anomaly detection algorithms flag outliers the moment they appear, long before a human reviewer would catch them. Natural language generation engines produce written commentary on variances and trends, replacing what used to take analysts hours to draft. Smart formatting means the AI can choose the best chart type for the data and audience. Role-based distribution ensures the CFO sees a different dashboard than the accounts payable manager. And interactive question and answer interfaces allow any stakeholder to ask questions of the data in plain English. Together, these capabilities form a modern reporting ecosystem that is fundamentally more efficient and insightful than anything we had five years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dashboard design follows a visual hierarchy I call the Dashboard Design Pyramid. At the top are your strategic KPIs: the three to five numbers that any executive should be able to read within five seconds of opening the dashboard. Think revenue, EBITDA, net cash position, and your most critical operating ratio. The second tier is trend analysis, where time-series charts show whether those KPIs are moving in the right direction. You want twelve to twenty-four months of history so that patterns and seasonality become visible. The third tier provides variance and comparison views: budget versus actual, year-over-year performance, and peer benchmarks. These require interactive drill-down so users can investigate deviations. At the base is transactional detail: the granular tables and filters that analysts and auditors need for line-item investigation. The key principle is progressive disclosure. Most users never need to go past the second tier, but the detail is always accessible when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get practical with dashboard design guidelines. On the do side: limit each view to five to seven KPIs, because cognitive overload kills insight. Use consistent color encoding so that green always means favorable and red always means unfavorable across every chart. Always provide context. A revenue number in isolation is meaningless; show it against budget, prior period, or an industry benchmark. Design mobile-first, because executives increasingly review dashboards on tablets and phones. And always include a date stamp so users know how fresh the data is. On the don't side: avoid 3D charts. They look impressive but systematically distort data perception. Keep your color palette to five or fewer colors per visualization. Never present raw numbers without units or axis labels. Do not require horizontal scrolling, which is the fastest way to lose your audience. And finally, retire pie charts for anything beyond four categories; horizontal bar charts are almost always more 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consider Atlas Manufacturing Group, a mid-market industrial company with eight hundred million dollars in annual revenue. Their finance team was producing static PDF reports every month, distributing them by email to over two hundred managers. The problem was twofold: producing those reports consumed one hundred and twenty analyst hours per month, and fewer than thirty percent of managers actually read them. Decisions were routinely made on stale data. Atlas deployed an AI-powered dashboard platform that automated data ingestion, generated variance narratives using natural language generation, and delivered role-specific interactive views. The results were dramatic: an eighty-five percent reduction in report production time, a threefold increase in manager engagement with financial data, and annual cost savings of two point one million dollars. The key lesson is that better visualization does not just save time; it changes behavior across the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visualization becomes truly powerful when it is embedded within a story. Here are five steps to effective data storytelling in finance. Step one: start with the headline. Lead with the single most critical insight. Your audience, especially C-suite executives, should understand the key message within ten seconds. Step two: provide context through comparisons. A revenue number alone is just a data point; compare it to budget, to prior year, or to a competitor benchmark, and it becomes meaningful. Step three: explain causality, not just correlation. Do not just say revenue fell. Explain why it fell, linking the outcome to a specific driver such as increased churn or a pricing change. Step four: use progressive disclosure. Start high-level and allow interested stakeholders to drill deeper. Not everyone needs the same level of detail. Step five: always end with a call to action. The purpose of financial reporting is not just to inform; it is to drive better decisions. Every presentation should answer the question: what should we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recap what we covered in this lesson. First, data visualization is not a nice-to-have; it is the critical bridge between raw financial data and executive decision-making. Second, AI-powered reporting tools are transforming the entire reporting pipeline with automated data ingestion, natural language narratives, intelligent chart selection, and anomaly detection. Third, effective dashboards follow the design pyramid: strategic KPIs at the top, trends in the middle, variances and comparisons below, and transactional detail at the base. And fourth, the best financial communicators are data storytellers who lead with a headline, provide comparative context, explain causality, and always end with a clear call to action. In the next lesson, we will explore descriptive analytics and how to extract meaningful insights from historical financial performance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wraps up Lesson One on Data Visualization and AI-Powered Reporting. You now have a strong foundation in visualization principles, AI reporting tools, and data storytelling techniques. Next, we will dive into descriptive analytics, where you will learn how to systematically evaluate historical financial performance using techniques like trend analysis, variance decomposition, and cohort analysis. See you in Lesson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FM_CONTENT">
    <p:bg>
      <p:bgPr>
        <a:solidFill>
          <a:srgbClr val="060A1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FM_TITLE">
    <p:bg>
      <p:bgPr>
        <a:solidFill>
          <a:srgbClr val="060A1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audio" Target="../media/media-1-2.mp3"/><Relationship Id="rId3" Type="http://schemas.microsoft.com/office/2007/relationships/media" Target="../media/media-1-2.mp3"/><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audio" Target="../media/media-2-2.mp3"/><Relationship Id="rId3" Type="http://schemas.microsoft.com/office/2007/relationships/media" Target="../media/media-2-2.mp3"/><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audio" Target="../media/media-3-2.mp3"/><Relationship Id="rId3" Type="http://schemas.microsoft.com/office/2007/relationships/media" Target="../media/media-3-2.mp3"/><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audio" Target="../media/media-4-2.mp3"/><Relationship Id="rId3" Type="http://schemas.microsoft.com/office/2007/relationships/media" Target="../media/media-4-2.mp3"/><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audio" Target="../media/media-5-2.mp3"/><Relationship Id="rId3" Type="http://schemas.microsoft.com/office/2007/relationships/media" Target="../media/media-5-2.mp3"/><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audio" Target="../media/media-6-2.mp3"/><Relationship Id="rId3" Type="http://schemas.microsoft.com/office/2007/relationships/media" Target="../media/media-6-2.mp3"/><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audio" Target="../media/media-7-2.mp3"/><Relationship Id="rId3" Type="http://schemas.microsoft.com/office/2007/relationships/media" Target="../media/media-7-2.mp3"/><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audio" Target="../media/media-8-2.mp3"/><Relationship Id="rId3" Type="http://schemas.microsoft.com/office/2007/relationships/media" Target="../media/media-8-2.mp3"/><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audio" Target="../media/media-9-6.mp3"/><Relationship Id="rId7" Type="http://schemas.microsoft.com/office/2007/relationships/media" Target="../media/media-9-6.mp3"/><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audio" Target="../media/media-10-2.mp3"/><Relationship Id="rId3" Type="http://schemas.microsoft.com/office/2007/relationships/media" Target="../media/media-10-2.mp3"/><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lIns="0" tIns="0" rIns="0" bIns="0" rtlCol="0" anchor="ctr"/>
          <a:lstStyle/>
          <a:p>
            <a:pPr algn="ctr" indent="0" marL="0">
              <a:buNone/>
            </a:pPr>
            <a:r>
              <a:rPr lang="en-US" sz="1400" spc="400" kern="0" dirty="0">
                <a:solidFill>
                  <a:srgbClr val="5391D5"/>
                </a:solidFill>
                <a:latin typeface="Arial" pitchFamily="34" charset="0"/>
                <a:ea typeface="Arial" pitchFamily="34" charset="-122"/>
                <a:cs typeface="Arial" pitchFamily="34" charset="-120"/>
              </a:rPr>
              <a:t>CAIFL</a:t>
            </a:r>
            <a:endParaRPr lang="en-US" sz="1400" dirty="0"/>
          </a:p>
        </p:txBody>
      </p:sp>
      <p:sp>
        <p:nvSpPr>
          <p:cNvPr id="3" name="Text 1"/>
          <p:cNvSpPr/>
          <p:nvPr/>
        </p:nvSpPr>
        <p:spPr>
          <a:xfrm>
            <a:off x="457200" y="1371600"/>
            <a:ext cx="8229600" cy="914400"/>
          </a:xfrm>
          <a:prstGeom prst="rect">
            <a:avLst/>
          </a:prstGeom>
          <a:noFill/>
          <a:ln/>
        </p:spPr>
        <p:txBody>
          <a:bodyPr wrap="square" lIns="0" tIns="0" rIns="0" bIns="0" rtlCol="0" anchor="ctr"/>
          <a:lstStyle/>
          <a:p>
            <a:pPr algn="ctr" indent="0" marL="0">
              <a:buNone/>
            </a:pPr>
            <a:r>
              <a:rPr lang="en-US" sz="3200" b="1" dirty="0">
                <a:solidFill>
                  <a:srgbClr val="F5F0E8"/>
                </a:solidFill>
                <a:latin typeface="Arial" pitchFamily="34" charset="0"/>
                <a:ea typeface="Arial" pitchFamily="34" charset="-122"/>
                <a:cs typeface="Arial" pitchFamily="34" charset="-120"/>
              </a:rPr>
              <a:t>Certified AI Finance Leader</a:t>
            </a:r>
            <a:endParaRPr lang="en-US" sz="3200" dirty="0"/>
          </a:p>
        </p:txBody>
      </p:sp>
      <p:sp>
        <p:nvSpPr>
          <p:cNvPr id="4" name="Text 2"/>
          <p:cNvSpPr/>
          <p:nvPr/>
        </p:nvSpPr>
        <p:spPr>
          <a:xfrm>
            <a:off x="914400" y="2377440"/>
            <a:ext cx="7315200" cy="548640"/>
          </a:xfrm>
          <a:prstGeom prst="rect">
            <a:avLst/>
          </a:prstGeom>
          <a:noFill/>
          <a:ln/>
        </p:spPr>
        <p:txBody>
          <a:bodyPr wrap="square" lIns="0" tIns="0" rIns="0" bIns="0" rtlCol="0" anchor="ctr"/>
          <a:lstStyle/>
          <a:p>
            <a:pPr algn="ctr" indent="0" marL="0">
              <a:buNone/>
            </a:pPr>
            <a:r>
              <a:rPr lang="en-US" sz="1400" dirty="0">
                <a:solidFill>
                  <a:srgbClr val="8A9BB5"/>
                </a:solidFill>
                <a:latin typeface="Arial" pitchFamily="34" charset="0"/>
                <a:ea typeface="Arial" pitchFamily="34" charset="-122"/>
                <a:cs typeface="Arial" pitchFamily="34" charset="-120"/>
              </a:rPr>
              <a:t>Descriptive &amp; Predictive Analytics for Finance</a:t>
            </a:r>
            <a:endParaRPr lang="en-US" sz="1400" dirty="0"/>
          </a:p>
        </p:txBody>
      </p:sp>
      <p:sp>
        <p:nvSpPr>
          <p:cNvPr id="5" name="Text 3"/>
          <p:cNvSpPr/>
          <p:nvPr/>
        </p:nvSpPr>
        <p:spPr>
          <a:xfrm>
            <a:off x="914400" y="3108960"/>
            <a:ext cx="7315200" cy="365760"/>
          </a:xfrm>
          <a:prstGeom prst="rect">
            <a:avLst/>
          </a:prstGeom>
          <a:noFill/>
          <a:ln/>
        </p:spPr>
        <p:txBody>
          <a:bodyPr wrap="square" lIns="0" tIns="0" rIns="0" bIns="0" rtlCol="0" anchor="ctr"/>
          <a:lstStyle/>
          <a:p>
            <a:pPr algn="ctr" indent="0" marL="0">
              <a:buNone/>
            </a:pPr>
            <a:r>
              <a:rPr lang="en-US" sz="1200" dirty="0">
                <a:solidFill>
                  <a:srgbClr val="5391D5"/>
                </a:solidFill>
                <a:latin typeface="Arial" pitchFamily="34" charset="0"/>
                <a:ea typeface="Arial" pitchFamily="34" charset="-122"/>
                <a:cs typeface="Arial" pitchFamily="34" charset="-120"/>
              </a:rPr>
              <a:t>Lesson 01</a:t>
            </a:r>
            <a:endParaRPr lang="en-US" sz="1200" dirty="0"/>
          </a:p>
        </p:txBody>
      </p:sp>
      <p:sp>
        <p:nvSpPr>
          <p:cNvPr id="6" name="Shape 4"/>
          <p:cNvSpPr/>
          <p:nvPr/>
        </p:nvSpPr>
        <p:spPr>
          <a:xfrm>
            <a:off x="3200400" y="2926080"/>
            <a:ext cx="2743200" cy="0"/>
          </a:xfrm>
          <a:prstGeom prst="line">
            <a:avLst/>
          </a:prstGeom>
          <a:noFill/>
          <a:ln w="12700">
            <a:solidFill>
              <a:srgbClr val="5391D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1" name="Text 6"/>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1 / 10</a:t>
            </a:r>
            <a:endParaRPr lang="en-US" sz="800" dirty="0"/>
          </a:p>
        </p:txBody>
      </p:sp>
    </p:spTree>
  </p:cSld>
  <p:clrMapOvr>
    <a:masterClrMapping/>
  </p:clrMapOvr>
  <p:transition spd="fast" advClick="0" advTm="35926">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097280"/>
            <a:ext cx="8229600" cy="365760"/>
          </a:xfrm>
          <a:prstGeom prst="rect">
            <a:avLst/>
          </a:prstGeom>
          <a:noFill/>
          <a:ln/>
        </p:spPr>
        <p:txBody>
          <a:bodyPr wrap="square" lIns="0" tIns="0" rIns="0" bIns="0" rtlCol="0" anchor="ctr"/>
          <a:lstStyle/>
          <a:p>
            <a:pPr algn="ctr" indent="0" marL="0">
              <a:buNone/>
            </a:pPr>
            <a:r>
              <a:rPr lang="en-US" sz="1200" spc="400" kern="0" dirty="0">
                <a:solidFill>
                  <a:srgbClr val="5391D5"/>
                </a:solidFill>
                <a:latin typeface="Arial" pitchFamily="34" charset="0"/>
                <a:ea typeface="Arial" pitchFamily="34" charset="-122"/>
                <a:cs typeface="Arial" pitchFamily="34" charset="-120"/>
              </a:rPr>
              <a:t>MODULE 02</a:t>
            </a:r>
            <a:endParaRPr lang="en-US" sz="1200" dirty="0"/>
          </a:p>
        </p:txBody>
      </p:sp>
      <p:sp>
        <p:nvSpPr>
          <p:cNvPr id="3" name="Text 1"/>
          <p:cNvSpPr/>
          <p:nvPr/>
        </p:nvSpPr>
        <p:spPr>
          <a:xfrm>
            <a:off x="457200" y="1554480"/>
            <a:ext cx="8229600" cy="822960"/>
          </a:xfrm>
          <a:prstGeom prst="rect">
            <a:avLst/>
          </a:prstGeom>
          <a:noFill/>
          <a:ln/>
        </p:spPr>
        <p:txBody>
          <a:bodyPr wrap="square" lIns="0" tIns="0" rIns="0" bIns="0" rtlCol="0" anchor="ctr"/>
          <a:lstStyle/>
          <a:p>
            <a:pPr algn="ctr" indent="0" marL="0">
              <a:buNone/>
            </a:pPr>
            <a:r>
              <a:rPr lang="en-US" sz="2800" b="1" dirty="0">
                <a:solidFill>
                  <a:srgbClr val="F5F0E8"/>
                </a:solidFill>
                <a:latin typeface="Arial" pitchFamily="34" charset="0"/>
                <a:ea typeface="Arial" pitchFamily="34" charset="-122"/>
                <a:cs typeface="Arial" pitchFamily="34" charset="-120"/>
              </a:rPr>
              <a:t>Descriptive &amp; Predictive Analytics for Finance</a:t>
            </a:r>
            <a:endParaRPr lang="en-US" sz="2800" dirty="0"/>
          </a:p>
        </p:txBody>
      </p:sp>
      <p:sp>
        <p:nvSpPr>
          <p:cNvPr id="4" name="Shape 2"/>
          <p:cNvSpPr/>
          <p:nvPr/>
        </p:nvSpPr>
        <p:spPr>
          <a:xfrm>
            <a:off x="3200400" y="2560320"/>
            <a:ext cx="2743200" cy="0"/>
          </a:xfrm>
          <a:prstGeom prst="line">
            <a:avLst/>
          </a:prstGeom>
          <a:noFill/>
          <a:ln w="12700">
            <a:solidFill>
              <a:srgbClr val="5391D5"/>
            </a:solidFill>
            <a:prstDash val="solid"/>
          </a:ln>
        </p:spPr>
      </p:sp>
      <p:sp>
        <p:nvSpPr>
          <p:cNvPr id="5" name="Text 3"/>
          <p:cNvSpPr/>
          <p:nvPr/>
        </p:nvSpPr>
        <p:spPr>
          <a:xfrm>
            <a:off x="914400" y="2743200"/>
            <a:ext cx="7315200" cy="548640"/>
          </a:xfrm>
          <a:prstGeom prst="rect">
            <a:avLst/>
          </a:prstGeom>
          <a:noFill/>
          <a:ln/>
        </p:spPr>
        <p:txBody>
          <a:bodyPr wrap="square" lIns="0" tIns="0" rIns="0" bIns="0" rtlCol="0" anchor="ctr"/>
          <a:lstStyle/>
          <a:p>
            <a:pPr algn="ctr" indent="0" marL="0">
              <a:buNone/>
            </a:pPr>
            <a:r>
              <a:rPr lang="en-US" sz="1600" dirty="0">
                <a:solidFill>
                  <a:srgbClr val="8A9BB5"/>
                </a:solidFill>
                <a:latin typeface="Arial" pitchFamily="34" charset="0"/>
                <a:ea typeface="Arial" pitchFamily="34" charset="-122"/>
                <a:cs typeface="Arial" pitchFamily="34" charset="-120"/>
              </a:rPr>
              <a:t>Data Visualization and AI-Powered Reporting</a:t>
            </a:r>
            <a:endParaRPr lang="en-US" sz="1600" dirty="0"/>
          </a:p>
        </p:txBody>
      </p:sp>
      <p:pic>
        <p:nvPicPr>
          <p:cNvPr id="6"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0" name="Text 5"/>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2 / 10</a:t>
            </a:r>
            <a:endParaRPr lang="en-US" sz="800" dirty="0"/>
          </a:p>
        </p:txBody>
      </p:sp>
    </p:spTree>
  </p:cSld>
  <p:clrMapOvr>
    <a:masterClrMapping/>
  </p:clrMapOvr>
  <p:transition spd="fast" advClick="0" advTm="38878">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Data Visualization and AI-Powered Reporting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914400" y="914400"/>
            <a:ext cx="7315200" cy="274320"/>
          </a:xfrm>
          <a:prstGeom prst="rect">
            <a:avLst/>
          </a:prstGeom>
          <a:noFill/>
          <a:ln/>
        </p:spPr>
        <p:txBody>
          <a:bodyPr wrap="square" lIns="0" tIns="0" rIns="0" bIns="0" rtlCol="0" anchor="ctr"/>
          <a:lstStyle/>
          <a:p>
            <a:pPr algn="ctr" indent="0" marL="0">
              <a:buNone/>
            </a:pPr>
            <a:r>
              <a:rPr lang="en-US" sz="1000" spc="300" kern="0" dirty="0">
                <a:solidFill>
                  <a:srgbClr val="5391D5"/>
                </a:solidFill>
                <a:latin typeface="Arial" pitchFamily="34" charset="0"/>
                <a:ea typeface="Arial" pitchFamily="34" charset="-122"/>
                <a:cs typeface="Arial" pitchFamily="34" charset="-120"/>
              </a:rPr>
              <a:t>THE VISUALIZATION IMPERATIVE</a:t>
            </a:r>
            <a:endParaRPr lang="en-US" sz="1000" dirty="0"/>
          </a:p>
        </p:txBody>
      </p:sp>
      <p:sp>
        <p:nvSpPr>
          <p:cNvPr id="10" name="Text 7"/>
          <p:cNvSpPr/>
          <p:nvPr/>
        </p:nvSpPr>
        <p:spPr>
          <a:xfrm>
            <a:off x="914400" y="1371600"/>
            <a:ext cx="7315200" cy="1645920"/>
          </a:xfrm>
          <a:prstGeom prst="rect">
            <a:avLst/>
          </a:prstGeom>
          <a:noFill/>
          <a:ln/>
        </p:spPr>
        <p:txBody>
          <a:bodyPr wrap="square" lIns="0" tIns="0" rIns="0" bIns="0" rtlCol="0" anchor="ctr"/>
          <a:lstStyle/>
          <a:p>
            <a:pPr algn="ctr" indent="0" marL="0">
              <a:buNone/>
            </a:pPr>
            <a:r>
              <a:rPr lang="en-US" sz="2600" b="1" dirty="0">
                <a:solidFill>
                  <a:srgbClr val="F5F0E8"/>
                </a:solidFill>
                <a:latin typeface="Arial" pitchFamily="34" charset="0"/>
                <a:ea typeface="Arial" pitchFamily="34" charset="-122"/>
                <a:cs typeface="Arial" pitchFamily="34" charset="-120"/>
              </a:rPr>
              <a:t>65% of people are visual learners, yet </a:t>
            </a:r>
            <a:pPr algn="ctr" indent="0" marL="0">
              <a:buNone/>
            </a:pPr>
            <a:r>
              <a:rPr lang="en-US" sz="2600" b="1" dirty="0">
                <a:solidFill>
                  <a:srgbClr val="5391D5"/>
                </a:solidFill>
                <a:latin typeface="Arial" pitchFamily="34" charset="0"/>
                <a:ea typeface="Arial" pitchFamily="34" charset="-122"/>
                <a:cs typeface="Arial" pitchFamily="34" charset="-120"/>
              </a:rPr>
              <a:t>73%</a:t>
            </a:r>
            <a:pPr algn="ctr" indent="0" marL="0">
              <a:buNone/>
            </a:pPr>
            <a:r>
              <a:rPr lang="en-US" sz="2600" b="1" dirty="0">
                <a:solidFill>
                  <a:srgbClr val="F5F0E8"/>
                </a:solidFill>
                <a:latin typeface="Arial" pitchFamily="34" charset="0"/>
                <a:ea typeface="Arial" pitchFamily="34" charset="-122"/>
                <a:cs typeface="Arial" pitchFamily="34" charset="-120"/>
              </a:rPr>
              <a:t> of financial reports are still text-heavy tables</a:t>
            </a:r>
            <a:endParaRPr lang="en-US" sz="2600" dirty="0"/>
          </a:p>
        </p:txBody>
      </p:sp>
      <p:sp>
        <p:nvSpPr>
          <p:cNvPr id="11" name="Text 8"/>
          <p:cNvSpPr/>
          <p:nvPr/>
        </p:nvSpPr>
        <p:spPr>
          <a:xfrm>
            <a:off x="1371600" y="3200400"/>
            <a:ext cx="6400800" cy="365760"/>
          </a:xfrm>
          <a:prstGeom prst="rect">
            <a:avLst/>
          </a:prstGeom>
          <a:noFill/>
          <a:ln/>
        </p:spPr>
        <p:txBody>
          <a:bodyPr wrap="square" lIns="0" tIns="0" rIns="0" bIns="0" rtlCol="0" anchor="ctr"/>
          <a:lstStyle/>
          <a:p>
            <a:pPr algn="ctr" indent="0" marL="0">
              <a:buNone/>
            </a:pPr>
            <a:r>
              <a:rPr lang="en-US" sz="900" dirty="0">
                <a:solidFill>
                  <a:srgbClr val="8A9BB5"/>
                </a:solidFill>
                <a:latin typeface="Arial" pitchFamily="34" charset="0"/>
                <a:ea typeface="Arial" pitchFamily="34" charset="-122"/>
                <a:cs typeface="Arial" pitchFamily="34" charset="-120"/>
              </a:rPr>
              <a:t>Source: Gartner Financial Reporting Survey, 2023</a:t>
            </a:r>
            <a:endParaRPr lang="en-US" sz="9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4" name="Text 9"/>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3 / 10</a:t>
            </a:r>
            <a:endParaRPr lang="en-US" sz="800" dirty="0"/>
          </a:p>
        </p:txBody>
      </p:sp>
    </p:spTree>
  </p:cSld>
  <p:clrMapOvr>
    <a:masterClrMapping/>
  </p:clrMapOvr>
  <p:transition spd="fast" advClick="0" advTm="36944">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Data Visualization and AI-Powered Reporting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AI REPORTING ECOSYSTEM</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5391D5"/>
                </a:solidFill>
                <a:latin typeface="Arial" pitchFamily="34" charset="0"/>
                <a:ea typeface="Arial" pitchFamily="34" charset="-122"/>
                <a:cs typeface="Arial" pitchFamily="34" charset="-120"/>
              </a:rPr>
              <a:t>AI-Powered</a:t>
            </a:r>
            <a:pPr indent="0" marL="0">
              <a:buNone/>
            </a:pPr>
            <a:r>
              <a:rPr lang="en-US" sz="2200" b="1" dirty="0">
                <a:solidFill>
                  <a:srgbClr val="F5F0E8"/>
                </a:solidFill>
                <a:latin typeface="Arial" pitchFamily="34" charset="0"/>
                <a:ea typeface="Arial" pitchFamily="34" charset="-122"/>
                <a:cs typeface="Arial" pitchFamily="34" charset="-120"/>
              </a:rPr>
              <a:t> Reporting Tools Landscape</a:t>
            </a:r>
            <a:endParaRPr lang="en-US" sz="2200" dirty="0"/>
          </a:p>
        </p:txBody>
      </p:sp>
      <p:sp>
        <p:nvSpPr>
          <p:cNvPr id="11" name="Text 8"/>
          <p:cNvSpPr/>
          <p:nvPr/>
        </p:nvSpPr>
        <p:spPr>
          <a:xfrm>
            <a:off x="457200" y="2011680"/>
            <a:ext cx="2560320" cy="914400"/>
          </a:xfrm>
          <a:prstGeom prst="rect">
            <a:avLst/>
          </a:prstGeom>
          <a:noFill/>
          <a:ln/>
        </p:spPr>
        <p:txBody>
          <a:bodyPr wrap="square" lIns="0" tIns="0" rIns="0" bIns="0" rtlCol="0" anchor="ctr"/>
          <a:lstStyle/>
          <a:p>
            <a:pPr indent="0" marL="0">
              <a:buNone/>
            </a:pPr>
            <a:r>
              <a:rPr lang="en-US" sz="900" dirty="0">
                <a:solidFill>
                  <a:srgbClr val="8A9BB5"/>
                </a:solidFill>
                <a:latin typeface="Arial" pitchFamily="34" charset="0"/>
                <a:ea typeface="Arial" pitchFamily="34" charset="-122"/>
                <a:cs typeface="Arial" pitchFamily="34" charset="-120"/>
              </a:rPr>
              <a:t>The modern finance reporting stack revolves around AI augmentation at every stage.</a:t>
            </a:r>
            <a:endParaRPr lang="en-US" sz="900" dirty="0"/>
          </a:p>
        </p:txBody>
      </p:sp>
      <p:sp>
        <p:nvSpPr>
          <p:cNvPr id="12" name="Shape 9"/>
          <p:cNvSpPr/>
          <p:nvPr/>
        </p:nvSpPr>
        <p:spPr>
          <a:xfrm>
            <a:off x="5440680" y="1965960"/>
            <a:ext cx="1005840" cy="1005840"/>
          </a:xfrm>
          <a:prstGeom prst="ellipse">
            <a:avLst/>
          </a:prstGeom>
          <a:solidFill>
            <a:srgbClr val="5391D5"/>
          </a:solidFill>
          <a:ln/>
        </p:spPr>
      </p:sp>
      <p:sp>
        <p:nvSpPr>
          <p:cNvPr id="13" name="Text 10"/>
          <p:cNvSpPr/>
          <p:nvPr/>
        </p:nvSpPr>
        <p:spPr>
          <a:xfrm>
            <a:off x="5440680" y="1965960"/>
            <a:ext cx="1005840" cy="1005840"/>
          </a:xfrm>
          <a:prstGeom prst="rect">
            <a:avLst/>
          </a:prstGeom>
          <a:noFill/>
          <a:ln/>
        </p:spPr>
        <p:txBody>
          <a:bodyPr wrap="square" lIns="0" tIns="0" rIns="0" bIns="0" rtlCol="0" anchor="ctr"/>
          <a:lstStyle/>
          <a:p>
            <a:pPr algn="ctr" indent="0" marL="0">
              <a:buNone/>
            </a:pPr>
            <a:r>
              <a:rPr lang="en-US" sz="1100" b="1" dirty="0">
                <a:solidFill>
                  <a:srgbClr val="F5F0E8"/>
                </a:solidFill>
                <a:latin typeface="Arial" pitchFamily="34" charset="0"/>
                <a:ea typeface="Arial" pitchFamily="34" charset="-122"/>
                <a:cs typeface="Arial" pitchFamily="34" charset="-120"/>
              </a:rPr>
              <a:t>AI Reporting Engine</a:t>
            </a:r>
            <a:endParaRPr lang="en-US" sz="1100" dirty="0"/>
          </a:p>
          <a:p>
            <a:pPr algn="ctr" indent="0" marL="0">
              <a:buNone/>
            </a:pPr>
            <a:r>
              <a:rPr lang="en-US" sz="700" dirty="0">
                <a:solidFill>
                  <a:srgbClr val="F5F0E8"/>
                </a:solidFill>
                <a:latin typeface="Arial" pitchFamily="34" charset="0"/>
                <a:ea typeface="Arial" pitchFamily="34" charset="-122"/>
                <a:cs typeface="Arial" pitchFamily="34" charset="-120"/>
              </a:rPr>
              <a:t>Central Intelligence Layer</a:t>
            </a:r>
            <a:endParaRPr lang="en-US" sz="1100" dirty="0"/>
          </a:p>
        </p:txBody>
      </p:sp>
      <p:sp>
        <p:nvSpPr>
          <p:cNvPr id="14" name="Shape 11"/>
          <p:cNvSpPr/>
          <p:nvPr/>
        </p:nvSpPr>
        <p:spPr>
          <a:xfrm>
            <a:off x="5943600" y="2041398"/>
            <a:ext cx="0" cy="-612648"/>
          </a:xfrm>
          <a:prstGeom prst="line">
            <a:avLst/>
          </a:prstGeom>
          <a:noFill/>
          <a:ln w="12700">
            <a:solidFill>
              <a:srgbClr val="0A1525"/>
            </a:solidFill>
            <a:prstDash val="solid"/>
          </a:ln>
        </p:spPr>
      </p:sp>
      <p:sp>
        <p:nvSpPr>
          <p:cNvPr id="15" name="Shape 12"/>
          <p:cNvSpPr/>
          <p:nvPr/>
        </p:nvSpPr>
        <p:spPr>
          <a:xfrm>
            <a:off x="5596128" y="749808"/>
            <a:ext cx="694944" cy="694944"/>
          </a:xfrm>
          <a:prstGeom prst="ellipse">
            <a:avLst/>
          </a:prstGeom>
          <a:solidFill>
            <a:srgbClr val="111D2E"/>
          </a:solidFill>
          <a:ln w="9525">
            <a:solidFill>
              <a:srgbClr val="5391D5"/>
            </a:solidFill>
            <a:prstDash val="solid"/>
          </a:ln>
        </p:spPr>
      </p:sp>
      <p:sp>
        <p:nvSpPr>
          <p:cNvPr id="16" name="Text 13"/>
          <p:cNvSpPr/>
          <p:nvPr/>
        </p:nvSpPr>
        <p:spPr>
          <a:xfrm>
            <a:off x="5596128" y="749808"/>
            <a:ext cx="694944" cy="694944"/>
          </a:xfrm>
          <a:prstGeom prst="rect">
            <a:avLst/>
          </a:prstGeom>
          <a:noFill/>
          <a:ln/>
        </p:spPr>
        <p:txBody>
          <a:bodyPr wrap="square" lIns="0" tIns="0" rIns="0" bIns="0" rtlCol="0" anchor="ctr"/>
          <a:lstStyle/>
          <a:p>
            <a:pPr algn="ctr" indent="0" marL="0">
              <a:buNone/>
            </a:pPr>
            <a:r>
              <a:rPr lang="en-US" sz="800" b="1" dirty="0">
                <a:solidFill>
                  <a:srgbClr val="F5F0E8"/>
                </a:solidFill>
                <a:latin typeface="Arial" pitchFamily="34" charset="0"/>
                <a:ea typeface="Arial" pitchFamily="34" charset="-122"/>
                <a:cs typeface="Arial" pitchFamily="34" charset="-120"/>
              </a:rPr>
              <a:t>Data Ingestion</a:t>
            </a:r>
            <a:endParaRPr lang="en-US" sz="800" dirty="0"/>
          </a:p>
          <a:p>
            <a:pPr algn="ctr" indent="0" marL="0">
              <a:buNone/>
            </a:pPr>
            <a:r>
              <a:rPr lang="en-US" sz="600" dirty="0">
                <a:solidFill>
                  <a:srgbClr val="8A9BB5"/>
                </a:solidFill>
                <a:latin typeface="Arial" pitchFamily="34" charset="0"/>
                <a:ea typeface="Arial" pitchFamily="34" charset="-122"/>
                <a:cs typeface="Arial" pitchFamily="34" charset="-120"/>
              </a:rPr>
              <a:t>Automated ETL pipelines</a:t>
            </a:r>
            <a:endParaRPr lang="en-US" sz="800" dirty="0"/>
          </a:p>
        </p:txBody>
      </p:sp>
      <p:sp>
        <p:nvSpPr>
          <p:cNvPr id="17" name="Shape 14"/>
          <p:cNvSpPr/>
          <p:nvPr/>
        </p:nvSpPr>
        <p:spPr>
          <a:xfrm>
            <a:off x="6313810" y="2255139"/>
            <a:ext cx="530569" cy="-306324"/>
          </a:xfrm>
          <a:prstGeom prst="line">
            <a:avLst/>
          </a:prstGeom>
          <a:noFill/>
          <a:ln w="12700">
            <a:solidFill>
              <a:srgbClr val="0A1525"/>
            </a:solidFill>
            <a:prstDash val="solid"/>
          </a:ln>
        </p:spPr>
      </p:sp>
      <p:sp>
        <p:nvSpPr>
          <p:cNvPr id="18" name="Shape 15"/>
          <p:cNvSpPr/>
          <p:nvPr/>
        </p:nvSpPr>
        <p:spPr>
          <a:xfrm>
            <a:off x="6783968" y="1435608"/>
            <a:ext cx="694944" cy="694944"/>
          </a:xfrm>
          <a:prstGeom prst="ellipse">
            <a:avLst/>
          </a:prstGeom>
          <a:solidFill>
            <a:srgbClr val="111D2E"/>
          </a:solidFill>
          <a:ln w="9525">
            <a:solidFill>
              <a:srgbClr val="5391D5"/>
            </a:solidFill>
            <a:prstDash val="solid"/>
          </a:ln>
        </p:spPr>
      </p:sp>
      <p:sp>
        <p:nvSpPr>
          <p:cNvPr id="19" name="Text 16"/>
          <p:cNvSpPr/>
          <p:nvPr/>
        </p:nvSpPr>
        <p:spPr>
          <a:xfrm>
            <a:off x="6783968" y="1435608"/>
            <a:ext cx="694944" cy="694944"/>
          </a:xfrm>
          <a:prstGeom prst="rect">
            <a:avLst/>
          </a:prstGeom>
          <a:noFill/>
          <a:ln/>
        </p:spPr>
        <p:txBody>
          <a:bodyPr wrap="square" lIns="0" tIns="0" rIns="0" bIns="0" rtlCol="0" anchor="ctr"/>
          <a:lstStyle/>
          <a:p>
            <a:pPr algn="ctr" indent="0" marL="0">
              <a:buNone/>
            </a:pPr>
            <a:r>
              <a:rPr lang="en-US" sz="800" b="1" dirty="0">
                <a:solidFill>
                  <a:srgbClr val="F5F0E8"/>
                </a:solidFill>
                <a:latin typeface="Arial" pitchFamily="34" charset="0"/>
                <a:ea typeface="Arial" pitchFamily="34" charset="-122"/>
                <a:cs typeface="Arial" pitchFamily="34" charset="-120"/>
              </a:rPr>
              <a:t>Anomaly Detection</a:t>
            </a:r>
            <a:endParaRPr lang="en-US" sz="800" dirty="0"/>
          </a:p>
          <a:p>
            <a:pPr algn="ctr" indent="0" marL="0">
              <a:buNone/>
            </a:pPr>
            <a:r>
              <a:rPr lang="en-US" sz="600" dirty="0">
                <a:solidFill>
                  <a:srgbClr val="8A9BB5"/>
                </a:solidFill>
                <a:latin typeface="Arial" pitchFamily="34" charset="0"/>
                <a:ea typeface="Arial" pitchFamily="34" charset="-122"/>
                <a:cs typeface="Arial" pitchFamily="34" charset="-120"/>
              </a:rPr>
              <a:t>Flagging outliers in real time</a:t>
            </a:r>
            <a:endParaRPr lang="en-US" sz="800" dirty="0"/>
          </a:p>
        </p:txBody>
      </p:sp>
      <p:sp>
        <p:nvSpPr>
          <p:cNvPr id="20" name="Shape 17"/>
          <p:cNvSpPr/>
          <p:nvPr/>
        </p:nvSpPr>
        <p:spPr>
          <a:xfrm>
            <a:off x="6313810" y="2682621"/>
            <a:ext cx="530569" cy="306324"/>
          </a:xfrm>
          <a:prstGeom prst="line">
            <a:avLst/>
          </a:prstGeom>
          <a:noFill/>
          <a:ln w="12700">
            <a:solidFill>
              <a:srgbClr val="0A1525"/>
            </a:solidFill>
            <a:prstDash val="solid"/>
          </a:ln>
        </p:spPr>
      </p:sp>
      <p:sp>
        <p:nvSpPr>
          <p:cNvPr id="21" name="Shape 18"/>
          <p:cNvSpPr/>
          <p:nvPr/>
        </p:nvSpPr>
        <p:spPr>
          <a:xfrm>
            <a:off x="6783968" y="2807208"/>
            <a:ext cx="694944" cy="694944"/>
          </a:xfrm>
          <a:prstGeom prst="ellipse">
            <a:avLst/>
          </a:prstGeom>
          <a:solidFill>
            <a:srgbClr val="111D2E"/>
          </a:solidFill>
          <a:ln w="9525">
            <a:solidFill>
              <a:srgbClr val="5391D5"/>
            </a:solidFill>
            <a:prstDash val="solid"/>
          </a:ln>
        </p:spPr>
      </p:sp>
      <p:sp>
        <p:nvSpPr>
          <p:cNvPr id="22" name="Text 19"/>
          <p:cNvSpPr/>
          <p:nvPr/>
        </p:nvSpPr>
        <p:spPr>
          <a:xfrm>
            <a:off x="6783968" y="2807208"/>
            <a:ext cx="694944" cy="694944"/>
          </a:xfrm>
          <a:prstGeom prst="rect">
            <a:avLst/>
          </a:prstGeom>
          <a:noFill/>
          <a:ln/>
        </p:spPr>
        <p:txBody>
          <a:bodyPr wrap="square" lIns="0" tIns="0" rIns="0" bIns="0" rtlCol="0" anchor="ctr"/>
          <a:lstStyle/>
          <a:p>
            <a:pPr algn="ctr" indent="0" marL="0">
              <a:buNone/>
            </a:pPr>
            <a:r>
              <a:rPr lang="en-US" sz="800" b="1" dirty="0">
                <a:solidFill>
                  <a:srgbClr val="F5F0E8"/>
                </a:solidFill>
                <a:latin typeface="Arial" pitchFamily="34" charset="0"/>
                <a:ea typeface="Arial" pitchFamily="34" charset="-122"/>
                <a:cs typeface="Arial" pitchFamily="34" charset="-120"/>
              </a:rPr>
              <a:t>NLG Narratives</a:t>
            </a:r>
            <a:endParaRPr lang="en-US" sz="800" dirty="0"/>
          </a:p>
          <a:p>
            <a:pPr algn="ctr" indent="0" marL="0">
              <a:buNone/>
            </a:pPr>
            <a:r>
              <a:rPr lang="en-US" sz="600" dirty="0">
                <a:solidFill>
                  <a:srgbClr val="8A9BB5"/>
                </a:solidFill>
                <a:latin typeface="Arial" pitchFamily="34" charset="0"/>
                <a:ea typeface="Arial" pitchFamily="34" charset="-122"/>
                <a:cs typeface="Arial" pitchFamily="34" charset="-120"/>
              </a:rPr>
              <a:t>Auto-generated commentary</a:t>
            </a:r>
            <a:endParaRPr lang="en-US" sz="800" dirty="0"/>
          </a:p>
        </p:txBody>
      </p:sp>
      <p:sp>
        <p:nvSpPr>
          <p:cNvPr id="23" name="Shape 20"/>
          <p:cNvSpPr/>
          <p:nvPr/>
        </p:nvSpPr>
        <p:spPr>
          <a:xfrm>
            <a:off x="5943600" y="2896362"/>
            <a:ext cx="0" cy="612648"/>
          </a:xfrm>
          <a:prstGeom prst="line">
            <a:avLst/>
          </a:prstGeom>
          <a:noFill/>
          <a:ln w="12700">
            <a:solidFill>
              <a:srgbClr val="0A1525"/>
            </a:solidFill>
            <a:prstDash val="solid"/>
          </a:ln>
        </p:spPr>
      </p:sp>
      <p:sp>
        <p:nvSpPr>
          <p:cNvPr id="24" name="Shape 21"/>
          <p:cNvSpPr/>
          <p:nvPr/>
        </p:nvSpPr>
        <p:spPr>
          <a:xfrm>
            <a:off x="5596128" y="3493008"/>
            <a:ext cx="694944" cy="694944"/>
          </a:xfrm>
          <a:prstGeom prst="ellipse">
            <a:avLst/>
          </a:prstGeom>
          <a:solidFill>
            <a:srgbClr val="111D2E"/>
          </a:solidFill>
          <a:ln w="9525">
            <a:solidFill>
              <a:srgbClr val="5391D5"/>
            </a:solidFill>
            <a:prstDash val="solid"/>
          </a:ln>
        </p:spPr>
      </p:sp>
      <p:sp>
        <p:nvSpPr>
          <p:cNvPr id="25" name="Text 22"/>
          <p:cNvSpPr/>
          <p:nvPr/>
        </p:nvSpPr>
        <p:spPr>
          <a:xfrm>
            <a:off x="5596128" y="3493008"/>
            <a:ext cx="694944" cy="694944"/>
          </a:xfrm>
          <a:prstGeom prst="rect">
            <a:avLst/>
          </a:prstGeom>
          <a:noFill/>
          <a:ln/>
        </p:spPr>
        <p:txBody>
          <a:bodyPr wrap="square" lIns="0" tIns="0" rIns="0" bIns="0" rtlCol="0" anchor="ctr"/>
          <a:lstStyle/>
          <a:p>
            <a:pPr algn="ctr" indent="0" marL="0">
              <a:buNone/>
            </a:pPr>
            <a:r>
              <a:rPr lang="en-US" sz="800" b="1" dirty="0">
                <a:solidFill>
                  <a:srgbClr val="F5F0E8"/>
                </a:solidFill>
                <a:latin typeface="Arial" pitchFamily="34" charset="0"/>
                <a:ea typeface="Arial" pitchFamily="34" charset="-122"/>
                <a:cs typeface="Arial" pitchFamily="34" charset="-120"/>
              </a:rPr>
              <a:t>Smart Formatting</a:t>
            </a:r>
            <a:endParaRPr lang="en-US" sz="800" dirty="0"/>
          </a:p>
          <a:p>
            <a:pPr algn="ctr" indent="0" marL="0">
              <a:buNone/>
            </a:pPr>
            <a:r>
              <a:rPr lang="en-US" sz="600" dirty="0">
                <a:solidFill>
                  <a:srgbClr val="8A9BB5"/>
                </a:solidFill>
                <a:latin typeface="Arial" pitchFamily="34" charset="0"/>
                <a:ea typeface="Arial" pitchFamily="34" charset="-122"/>
                <a:cs typeface="Arial" pitchFamily="34" charset="-120"/>
              </a:rPr>
              <a:t>Adaptive chart selection</a:t>
            </a:r>
            <a:endParaRPr lang="en-US" sz="800" dirty="0"/>
          </a:p>
        </p:txBody>
      </p:sp>
      <p:sp>
        <p:nvSpPr>
          <p:cNvPr id="26" name="Shape 23"/>
          <p:cNvSpPr/>
          <p:nvPr/>
        </p:nvSpPr>
        <p:spPr>
          <a:xfrm>
            <a:off x="5573390" y="2682621"/>
            <a:ext cx="-530569" cy="306324"/>
          </a:xfrm>
          <a:prstGeom prst="line">
            <a:avLst/>
          </a:prstGeom>
          <a:noFill/>
          <a:ln w="12700">
            <a:solidFill>
              <a:srgbClr val="0A1525"/>
            </a:solidFill>
            <a:prstDash val="solid"/>
          </a:ln>
        </p:spPr>
      </p:sp>
      <p:sp>
        <p:nvSpPr>
          <p:cNvPr id="27" name="Shape 24"/>
          <p:cNvSpPr/>
          <p:nvPr/>
        </p:nvSpPr>
        <p:spPr>
          <a:xfrm>
            <a:off x="4408288" y="2807208"/>
            <a:ext cx="694944" cy="694944"/>
          </a:xfrm>
          <a:prstGeom prst="ellipse">
            <a:avLst/>
          </a:prstGeom>
          <a:solidFill>
            <a:srgbClr val="111D2E"/>
          </a:solidFill>
          <a:ln w="9525">
            <a:solidFill>
              <a:srgbClr val="5391D5"/>
            </a:solidFill>
            <a:prstDash val="solid"/>
          </a:ln>
        </p:spPr>
      </p:sp>
      <p:sp>
        <p:nvSpPr>
          <p:cNvPr id="28" name="Text 25"/>
          <p:cNvSpPr/>
          <p:nvPr/>
        </p:nvSpPr>
        <p:spPr>
          <a:xfrm>
            <a:off x="4408288" y="2807208"/>
            <a:ext cx="694944" cy="694944"/>
          </a:xfrm>
          <a:prstGeom prst="rect">
            <a:avLst/>
          </a:prstGeom>
          <a:noFill/>
          <a:ln/>
        </p:spPr>
        <p:txBody>
          <a:bodyPr wrap="square" lIns="0" tIns="0" rIns="0" bIns="0" rtlCol="0" anchor="ctr"/>
          <a:lstStyle/>
          <a:p>
            <a:pPr algn="ctr" indent="0" marL="0">
              <a:buNone/>
            </a:pPr>
            <a:r>
              <a:rPr lang="en-US" sz="800" b="1" dirty="0">
                <a:solidFill>
                  <a:srgbClr val="F5F0E8"/>
                </a:solidFill>
                <a:latin typeface="Arial" pitchFamily="34" charset="0"/>
                <a:ea typeface="Arial" pitchFamily="34" charset="-122"/>
                <a:cs typeface="Arial" pitchFamily="34" charset="-120"/>
              </a:rPr>
              <a:t>Distribution</a:t>
            </a:r>
            <a:endParaRPr lang="en-US" sz="800" dirty="0"/>
          </a:p>
          <a:p>
            <a:pPr algn="ctr" indent="0" marL="0">
              <a:buNone/>
            </a:pPr>
            <a:r>
              <a:rPr lang="en-US" sz="600" dirty="0">
                <a:solidFill>
                  <a:srgbClr val="8A9BB5"/>
                </a:solidFill>
                <a:latin typeface="Arial" pitchFamily="34" charset="0"/>
                <a:ea typeface="Arial" pitchFamily="34" charset="-122"/>
                <a:cs typeface="Arial" pitchFamily="34" charset="-120"/>
              </a:rPr>
              <a:t>Role-based delivery</a:t>
            </a:r>
            <a:endParaRPr lang="en-US" sz="800" dirty="0"/>
          </a:p>
        </p:txBody>
      </p:sp>
      <p:sp>
        <p:nvSpPr>
          <p:cNvPr id="29" name="Shape 26"/>
          <p:cNvSpPr/>
          <p:nvPr/>
        </p:nvSpPr>
        <p:spPr>
          <a:xfrm>
            <a:off x="5573390" y="2255139"/>
            <a:ext cx="-530569" cy="-306324"/>
          </a:xfrm>
          <a:prstGeom prst="line">
            <a:avLst/>
          </a:prstGeom>
          <a:noFill/>
          <a:ln w="12700">
            <a:solidFill>
              <a:srgbClr val="0A1525"/>
            </a:solidFill>
            <a:prstDash val="solid"/>
          </a:ln>
        </p:spPr>
      </p:sp>
      <p:sp>
        <p:nvSpPr>
          <p:cNvPr id="30" name="Shape 27"/>
          <p:cNvSpPr/>
          <p:nvPr/>
        </p:nvSpPr>
        <p:spPr>
          <a:xfrm>
            <a:off x="4408288" y="1435608"/>
            <a:ext cx="694944" cy="694944"/>
          </a:xfrm>
          <a:prstGeom prst="ellipse">
            <a:avLst/>
          </a:prstGeom>
          <a:solidFill>
            <a:srgbClr val="111D2E"/>
          </a:solidFill>
          <a:ln w="9525">
            <a:solidFill>
              <a:srgbClr val="5391D5"/>
            </a:solidFill>
            <a:prstDash val="solid"/>
          </a:ln>
        </p:spPr>
      </p:sp>
      <p:sp>
        <p:nvSpPr>
          <p:cNvPr id="31" name="Text 28"/>
          <p:cNvSpPr/>
          <p:nvPr/>
        </p:nvSpPr>
        <p:spPr>
          <a:xfrm>
            <a:off x="4408288" y="1435608"/>
            <a:ext cx="694944" cy="694944"/>
          </a:xfrm>
          <a:prstGeom prst="rect">
            <a:avLst/>
          </a:prstGeom>
          <a:noFill/>
          <a:ln/>
        </p:spPr>
        <p:txBody>
          <a:bodyPr wrap="square" lIns="0" tIns="0" rIns="0" bIns="0" rtlCol="0" anchor="ctr"/>
          <a:lstStyle/>
          <a:p>
            <a:pPr algn="ctr" indent="0" marL="0">
              <a:buNone/>
            </a:pPr>
            <a:r>
              <a:rPr lang="en-US" sz="800" b="1" dirty="0">
                <a:solidFill>
                  <a:srgbClr val="F5F0E8"/>
                </a:solidFill>
                <a:latin typeface="Arial" pitchFamily="34" charset="0"/>
                <a:ea typeface="Arial" pitchFamily="34" charset="-122"/>
                <a:cs typeface="Arial" pitchFamily="34" charset="-120"/>
              </a:rPr>
              <a:t>Interactive Q&amp;A</a:t>
            </a:r>
            <a:endParaRPr lang="en-US" sz="800" dirty="0"/>
          </a:p>
          <a:p>
            <a:pPr algn="ctr" indent="0" marL="0">
              <a:buNone/>
            </a:pPr>
            <a:r>
              <a:rPr lang="en-US" sz="600" dirty="0">
                <a:solidFill>
                  <a:srgbClr val="8A9BB5"/>
                </a:solidFill>
                <a:latin typeface="Arial" pitchFamily="34" charset="0"/>
                <a:ea typeface="Arial" pitchFamily="34" charset="-122"/>
                <a:cs typeface="Arial" pitchFamily="34" charset="-120"/>
              </a:rPr>
              <a:t>Natural language queries</a:t>
            </a:r>
            <a:endParaRPr lang="en-US" sz="800" dirty="0"/>
          </a:p>
        </p:txBody>
      </p:sp>
      <p:sp>
        <p:nvSpPr>
          <p:cNvPr id="32" name="Text 29"/>
          <p:cNvSpPr/>
          <p:nvPr/>
        </p:nvSpPr>
        <p:spPr>
          <a:xfrm>
            <a:off x="457200" y="3200400"/>
            <a:ext cx="2560320" cy="1371600"/>
          </a:xfrm>
          <a:prstGeom prst="rect">
            <a:avLst/>
          </a:prstGeom>
          <a:noFill/>
          <a:ln/>
        </p:spPr>
        <p:txBody>
          <a:bodyPr wrap="square" lIns="0" tIns="0" rIns="0" bIns="0" rtlCol="0" anchor="t"/>
          <a:lstStyle/>
          <a:p>
            <a:pPr marL="342900" indent="-342900">
              <a:buSzPct val="100000"/>
              <a:buChar char="•"/>
            </a:pPr>
            <a:r>
              <a:rPr lang="en-US" sz="800" dirty="0">
                <a:solidFill>
                  <a:srgbClr val="8A9BB5"/>
                </a:solidFill>
                <a:latin typeface="Arial" pitchFamily="34" charset="0"/>
                <a:ea typeface="Arial" pitchFamily="34" charset="-122"/>
                <a:cs typeface="Arial" pitchFamily="34" charset="-120"/>
              </a:rPr>
              <a:t>Tools like Power BI Copilot and Tableau AI now auto-generate charts from natural language prompts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NLG engines produce variance commentary that previously required hours of analyst time</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AI selects the optimal chart type based on data shape and audience context</a:t>
            </a:r>
            <a:endParaRPr lang="en-US" sz="8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35" name="Text 30"/>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4 / 10</a:t>
            </a:r>
            <a:endParaRPr lang="en-US" sz="800" dirty="0"/>
          </a:p>
        </p:txBody>
      </p:sp>
    </p:spTree>
  </p:cSld>
  <p:clrMapOvr>
    <a:masterClrMapping/>
  </p:clrMapOvr>
  <p:transition spd="fast" advClick="0" advTm="60246">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Data Visualization and AI-Powered Reporting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DESIGN HIERARCHY</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The Dashboard </a:t>
            </a:r>
            <a:pPr indent="0" marL="0">
              <a:buNone/>
            </a:pPr>
            <a:r>
              <a:rPr lang="en-US" sz="2200" b="1" dirty="0">
                <a:solidFill>
                  <a:srgbClr val="5391D5"/>
                </a:solidFill>
                <a:latin typeface="Arial" pitchFamily="34" charset="0"/>
                <a:ea typeface="Arial" pitchFamily="34" charset="-122"/>
                <a:cs typeface="Arial" pitchFamily="34" charset="-120"/>
              </a:rPr>
              <a:t>Design Pyramid</a:t>
            </a:r>
            <a:endParaRPr lang="en-US" sz="2200" dirty="0"/>
          </a:p>
        </p:txBody>
      </p:sp>
      <p:sp>
        <p:nvSpPr>
          <p:cNvPr id="11" name="Shape 8"/>
          <p:cNvSpPr/>
          <p:nvPr/>
        </p:nvSpPr>
        <p:spPr>
          <a:xfrm>
            <a:off x="5257800" y="731520"/>
            <a:ext cx="1371600" cy="813816"/>
          </a:xfrm>
          <a:prstGeom prst="rect">
            <a:avLst>
              <a:gd name="adj" fmla="val 6742"/>
            </a:avLst>
          </a:prstGeom>
          <a:solidFill>
            <a:srgbClr val="111D2E"/>
          </a:solidFill>
          <a:ln w="6350">
            <a:solidFill>
              <a:srgbClr val="0A1525"/>
            </a:solidFill>
            <a:prstDash val="solid"/>
          </a:ln>
        </p:spPr>
      </p:sp>
      <p:sp>
        <p:nvSpPr>
          <p:cNvPr id="12" name="Text 9"/>
          <p:cNvSpPr/>
          <p:nvPr/>
        </p:nvSpPr>
        <p:spPr>
          <a:xfrm>
            <a:off x="5394960" y="768096"/>
            <a:ext cx="1097280" cy="228600"/>
          </a:xfrm>
          <a:prstGeom prst="rect">
            <a:avLst/>
          </a:prstGeom>
          <a:noFill/>
          <a:ln/>
        </p:spPr>
        <p:txBody>
          <a:bodyPr wrap="square" lIns="0" tIns="0" rIns="0" bIns="0" rtlCol="0" anchor="ctr"/>
          <a:lstStyle/>
          <a:p>
            <a:pPr algn="ctr" indent="0" marL="0">
              <a:buNone/>
            </a:pPr>
            <a:r>
              <a:rPr lang="en-US" sz="1000" b="1" dirty="0">
                <a:solidFill>
                  <a:srgbClr val="5391D5"/>
                </a:solidFill>
                <a:latin typeface="Arial" pitchFamily="34" charset="0"/>
                <a:ea typeface="Arial" pitchFamily="34" charset="-122"/>
                <a:cs typeface="Arial" pitchFamily="34" charset="-120"/>
              </a:rPr>
              <a:t>Strategic KPIs</a:t>
            </a:r>
            <a:endParaRPr lang="en-US" sz="1000" dirty="0"/>
          </a:p>
        </p:txBody>
      </p:sp>
      <p:sp>
        <p:nvSpPr>
          <p:cNvPr id="13" name="Text 10"/>
          <p:cNvSpPr/>
          <p:nvPr/>
        </p:nvSpPr>
        <p:spPr>
          <a:xfrm>
            <a:off x="5394960" y="987552"/>
            <a:ext cx="1097280" cy="521208"/>
          </a:xfrm>
          <a:prstGeom prst="rect">
            <a:avLst/>
          </a:prstGeom>
          <a:noFill/>
          <a:ln/>
        </p:spPr>
        <p:txBody>
          <a:bodyPr wrap="square" lIns="0" tIns="0" rIns="0" bIns="0" rtlCol="0" anchor="t"/>
          <a:lstStyle/>
          <a:p>
            <a:pPr algn="ctr" indent="0" marL="0">
              <a:buNone/>
            </a:pPr>
            <a:r>
              <a:rPr lang="en-US" sz="800" dirty="0">
                <a:solidFill>
                  <a:srgbClr val="8A9BB5"/>
                </a:solidFill>
                <a:latin typeface="Arial" pitchFamily="34" charset="0"/>
                <a:ea typeface="Arial" pitchFamily="34" charset="-122"/>
                <a:cs typeface="Arial" pitchFamily="34" charset="-120"/>
              </a:rPr>
              <a:t>Top-level metrics visible at a glance: revenue, EBITDA, cash position, key ratios</a:t>
            </a:r>
            <a:endParaRPr lang="en-US" sz="800" dirty="0"/>
          </a:p>
        </p:txBody>
      </p:sp>
      <p:sp>
        <p:nvSpPr>
          <p:cNvPr id="14" name="Shape 11"/>
          <p:cNvSpPr/>
          <p:nvPr/>
        </p:nvSpPr>
        <p:spPr>
          <a:xfrm>
            <a:off x="4572000" y="1600200"/>
            <a:ext cx="2743200" cy="813816"/>
          </a:xfrm>
          <a:prstGeom prst="rect">
            <a:avLst>
              <a:gd name="adj" fmla="val 6742"/>
            </a:avLst>
          </a:prstGeom>
          <a:solidFill>
            <a:srgbClr val="111D2E"/>
          </a:solidFill>
          <a:ln w="6350">
            <a:solidFill>
              <a:srgbClr val="0A1525"/>
            </a:solidFill>
            <a:prstDash val="solid"/>
          </a:ln>
        </p:spPr>
      </p:sp>
      <p:sp>
        <p:nvSpPr>
          <p:cNvPr id="15" name="Text 12"/>
          <p:cNvSpPr/>
          <p:nvPr/>
        </p:nvSpPr>
        <p:spPr>
          <a:xfrm>
            <a:off x="4709160" y="1636776"/>
            <a:ext cx="2468880" cy="228600"/>
          </a:xfrm>
          <a:prstGeom prst="rect">
            <a:avLst/>
          </a:prstGeom>
          <a:noFill/>
          <a:ln/>
        </p:spPr>
        <p:txBody>
          <a:bodyPr wrap="square" lIns="0" tIns="0" rIns="0" bIns="0" rtlCol="0" anchor="ctr"/>
          <a:lstStyle/>
          <a:p>
            <a:pPr algn="ctr" indent="0" marL="0">
              <a:buNone/>
            </a:pPr>
            <a:r>
              <a:rPr lang="en-US" sz="1000" b="1" dirty="0">
                <a:solidFill>
                  <a:srgbClr val="5391D5"/>
                </a:solidFill>
                <a:latin typeface="Arial" pitchFamily="34" charset="0"/>
                <a:ea typeface="Arial" pitchFamily="34" charset="-122"/>
                <a:cs typeface="Arial" pitchFamily="34" charset="-120"/>
              </a:rPr>
              <a:t>Trend Analysis</a:t>
            </a:r>
            <a:endParaRPr lang="en-US" sz="1000" dirty="0"/>
          </a:p>
        </p:txBody>
      </p:sp>
      <p:sp>
        <p:nvSpPr>
          <p:cNvPr id="16" name="Text 13"/>
          <p:cNvSpPr/>
          <p:nvPr/>
        </p:nvSpPr>
        <p:spPr>
          <a:xfrm>
            <a:off x="4709160" y="1856232"/>
            <a:ext cx="2468880" cy="521208"/>
          </a:xfrm>
          <a:prstGeom prst="rect">
            <a:avLst/>
          </a:prstGeom>
          <a:noFill/>
          <a:ln/>
        </p:spPr>
        <p:txBody>
          <a:bodyPr wrap="square" lIns="0" tIns="0" rIns="0" bIns="0" rtlCol="0" anchor="t"/>
          <a:lstStyle/>
          <a:p>
            <a:pPr algn="ctr" indent="0" marL="0">
              <a:buNone/>
            </a:pPr>
            <a:r>
              <a:rPr lang="en-US" sz="800" dirty="0">
                <a:solidFill>
                  <a:srgbClr val="8A9BB5"/>
                </a:solidFill>
                <a:latin typeface="Arial" pitchFamily="34" charset="0"/>
                <a:ea typeface="Arial" pitchFamily="34" charset="-122"/>
                <a:cs typeface="Arial" pitchFamily="34" charset="-120"/>
              </a:rPr>
              <a:t>Time-series charts showing direction and momentum of core metrics over 12-24 months</a:t>
            </a:r>
            <a:endParaRPr lang="en-US" sz="800" dirty="0"/>
          </a:p>
        </p:txBody>
      </p:sp>
      <p:sp>
        <p:nvSpPr>
          <p:cNvPr id="17" name="Shape 14"/>
          <p:cNvSpPr/>
          <p:nvPr/>
        </p:nvSpPr>
        <p:spPr>
          <a:xfrm>
            <a:off x="3886200" y="2468880"/>
            <a:ext cx="4114800" cy="813816"/>
          </a:xfrm>
          <a:prstGeom prst="rect">
            <a:avLst>
              <a:gd name="adj" fmla="val 6742"/>
            </a:avLst>
          </a:prstGeom>
          <a:solidFill>
            <a:srgbClr val="111D2E"/>
          </a:solidFill>
          <a:ln w="6350">
            <a:solidFill>
              <a:srgbClr val="0A1525"/>
            </a:solidFill>
            <a:prstDash val="solid"/>
          </a:ln>
        </p:spPr>
      </p:sp>
      <p:sp>
        <p:nvSpPr>
          <p:cNvPr id="18" name="Text 15"/>
          <p:cNvSpPr/>
          <p:nvPr/>
        </p:nvSpPr>
        <p:spPr>
          <a:xfrm>
            <a:off x="4023360" y="2505456"/>
            <a:ext cx="3840480" cy="228600"/>
          </a:xfrm>
          <a:prstGeom prst="rect">
            <a:avLst/>
          </a:prstGeom>
          <a:noFill/>
          <a:ln/>
        </p:spPr>
        <p:txBody>
          <a:bodyPr wrap="square" lIns="0" tIns="0" rIns="0" bIns="0" rtlCol="0" anchor="ctr"/>
          <a:lstStyle/>
          <a:p>
            <a:pPr algn="ctr" indent="0" marL="0">
              <a:buNone/>
            </a:pPr>
            <a:r>
              <a:rPr lang="en-US" sz="1000" b="1" dirty="0">
                <a:solidFill>
                  <a:srgbClr val="5391D5"/>
                </a:solidFill>
                <a:latin typeface="Arial" pitchFamily="34" charset="0"/>
                <a:ea typeface="Arial" pitchFamily="34" charset="-122"/>
                <a:cs typeface="Arial" pitchFamily="34" charset="-120"/>
              </a:rPr>
              <a:t>Variance &amp; Comparison</a:t>
            </a:r>
            <a:endParaRPr lang="en-US" sz="1000" dirty="0"/>
          </a:p>
        </p:txBody>
      </p:sp>
      <p:sp>
        <p:nvSpPr>
          <p:cNvPr id="19" name="Text 16"/>
          <p:cNvSpPr/>
          <p:nvPr/>
        </p:nvSpPr>
        <p:spPr>
          <a:xfrm>
            <a:off x="4023360" y="2724912"/>
            <a:ext cx="3840480" cy="521208"/>
          </a:xfrm>
          <a:prstGeom prst="rect">
            <a:avLst/>
          </a:prstGeom>
          <a:noFill/>
          <a:ln/>
        </p:spPr>
        <p:txBody>
          <a:bodyPr wrap="square" lIns="0" tIns="0" rIns="0" bIns="0" rtlCol="0" anchor="t"/>
          <a:lstStyle/>
          <a:p>
            <a:pPr algn="ctr" indent="0" marL="0">
              <a:buNone/>
            </a:pPr>
            <a:r>
              <a:rPr lang="en-US" sz="800" dirty="0">
                <a:solidFill>
                  <a:srgbClr val="8A9BB5"/>
                </a:solidFill>
                <a:latin typeface="Arial" pitchFamily="34" charset="0"/>
                <a:ea typeface="Arial" pitchFamily="34" charset="-122"/>
                <a:cs typeface="Arial" pitchFamily="34" charset="-120"/>
              </a:rPr>
              <a:t>Budget vs. actual, year-over-year, and peer benchmarking views with drill-down</a:t>
            </a:r>
            <a:endParaRPr lang="en-US" sz="800" dirty="0"/>
          </a:p>
        </p:txBody>
      </p:sp>
      <p:sp>
        <p:nvSpPr>
          <p:cNvPr id="20" name="Shape 17"/>
          <p:cNvSpPr/>
          <p:nvPr/>
        </p:nvSpPr>
        <p:spPr>
          <a:xfrm>
            <a:off x="3200400" y="3337560"/>
            <a:ext cx="5486400" cy="813816"/>
          </a:xfrm>
          <a:prstGeom prst="rect">
            <a:avLst>
              <a:gd name="adj" fmla="val 6742"/>
            </a:avLst>
          </a:prstGeom>
          <a:solidFill>
            <a:srgbClr val="111D2E"/>
          </a:solidFill>
          <a:ln w="6350">
            <a:solidFill>
              <a:srgbClr val="0A1525"/>
            </a:solidFill>
            <a:prstDash val="solid"/>
          </a:ln>
        </p:spPr>
      </p:sp>
      <p:sp>
        <p:nvSpPr>
          <p:cNvPr id="21" name="Text 18"/>
          <p:cNvSpPr/>
          <p:nvPr/>
        </p:nvSpPr>
        <p:spPr>
          <a:xfrm>
            <a:off x="3337560" y="3374136"/>
            <a:ext cx="5212080" cy="228600"/>
          </a:xfrm>
          <a:prstGeom prst="rect">
            <a:avLst/>
          </a:prstGeom>
          <a:noFill/>
          <a:ln/>
        </p:spPr>
        <p:txBody>
          <a:bodyPr wrap="square" lIns="0" tIns="0" rIns="0" bIns="0" rtlCol="0" anchor="ctr"/>
          <a:lstStyle/>
          <a:p>
            <a:pPr algn="ctr" indent="0" marL="0">
              <a:buNone/>
            </a:pPr>
            <a:r>
              <a:rPr lang="en-US" sz="1000" b="1" dirty="0">
                <a:solidFill>
                  <a:srgbClr val="5391D5"/>
                </a:solidFill>
                <a:latin typeface="Arial" pitchFamily="34" charset="0"/>
                <a:ea typeface="Arial" pitchFamily="34" charset="-122"/>
                <a:cs typeface="Arial" pitchFamily="34" charset="-120"/>
              </a:rPr>
              <a:t>Transactional Detail</a:t>
            </a:r>
            <a:endParaRPr lang="en-US" sz="1000" dirty="0"/>
          </a:p>
        </p:txBody>
      </p:sp>
      <p:sp>
        <p:nvSpPr>
          <p:cNvPr id="22" name="Text 19"/>
          <p:cNvSpPr/>
          <p:nvPr/>
        </p:nvSpPr>
        <p:spPr>
          <a:xfrm>
            <a:off x="3337560" y="3593592"/>
            <a:ext cx="5212080" cy="521208"/>
          </a:xfrm>
          <a:prstGeom prst="rect">
            <a:avLst/>
          </a:prstGeom>
          <a:noFill/>
          <a:ln/>
        </p:spPr>
        <p:txBody>
          <a:bodyPr wrap="square" lIns="0" tIns="0" rIns="0" bIns="0" rtlCol="0" anchor="t"/>
          <a:lstStyle/>
          <a:p>
            <a:pPr algn="ctr" indent="0" marL="0">
              <a:buNone/>
            </a:pPr>
            <a:r>
              <a:rPr lang="en-US" sz="800" dirty="0">
                <a:solidFill>
                  <a:srgbClr val="8A9BB5"/>
                </a:solidFill>
                <a:latin typeface="Arial" pitchFamily="34" charset="0"/>
                <a:ea typeface="Arial" pitchFamily="34" charset="-122"/>
                <a:cs typeface="Arial" pitchFamily="34" charset="-120"/>
              </a:rPr>
              <a:t>Granular tables and filters for line-item investigation and audit trails</a:t>
            </a:r>
            <a:endParaRPr lang="en-US" sz="8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25" name="Text 20"/>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5 / 10</a:t>
            </a:r>
            <a:endParaRPr lang="en-US" sz="800" dirty="0"/>
          </a:p>
        </p:txBody>
      </p:sp>
    </p:spTree>
  </p:cSld>
  <p:clrMapOvr>
    <a:masterClrMapping/>
  </p:clrMapOvr>
  <p:transition spd="fast" advClick="0" advTm="63589">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Data Visualization and AI-Powered Reporting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BEST PRACTICES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Dashboard Design: </a:t>
            </a:r>
            <a:pPr indent="0" marL="0">
              <a:buNone/>
            </a:pPr>
            <a:r>
              <a:rPr lang="en-US" sz="2200" b="1" dirty="0">
                <a:solidFill>
                  <a:srgbClr val="5391D5"/>
                </a:solidFill>
                <a:latin typeface="Arial" pitchFamily="34" charset="0"/>
                <a:ea typeface="Arial" pitchFamily="34" charset="-122"/>
                <a:cs typeface="Arial" pitchFamily="34" charset="-120"/>
              </a:rPr>
              <a:t>Do's and Don'ts</a:t>
            </a:r>
            <a:endParaRPr lang="en-US" sz="2200" dirty="0"/>
          </a:p>
        </p:txBody>
      </p:sp>
      <p:sp>
        <p:nvSpPr>
          <p:cNvPr id="11" name="Shape 8"/>
          <p:cNvSpPr/>
          <p:nvPr/>
        </p:nvSpPr>
        <p:spPr>
          <a:xfrm>
            <a:off x="3200400" y="640080"/>
            <a:ext cx="2674620" cy="3474720"/>
          </a:xfrm>
          <a:prstGeom prst="rect">
            <a:avLst>
              <a:gd name="adj" fmla="val 2051"/>
            </a:avLst>
          </a:prstGeom>
          <a:solidFill>
            <a:srgbClr val="111D2E"/>
          </a:solidFill>
          <a:ln w="6350">
            <a:solidFill>
              <a:srgbClr val="0A1525"/>
            </a:solidFill>
            <a:prstDash val="solid"/>
          </a:ln>
        </p:spPr>
      </p:sp>
      <p:sp>
        <p:nvSpPr>
          <p:cNvPr id="12" name="Text 9"/>
          <p:cNvSpPr/>
          <p:nvPr/>
        </p:nvSpPr>
        <p:spPr>
          <a:xfrm>
            <a:off x="3337560" y="731520"/>
            <a:ext cx="2400300" cy="274320"/>
          </a:xfrm>
          <a:prstGeom prst="rect">
            <a:avLst/>
          </a:prstGeom>
          <a:noFill/>
          <a:ln/>
        </p:spPr>
        <p:txBody>
          <a:bodyPr wrap="square" lIns="0" tIns="0" rIns="0" bIns="0" rtlCol="0" anchor="ctr"/>
          <a:lstStyle/>
          <a:p>
            <a:pPr indent="0" marL="0">
              <a:buNone/>
            </a:pPr>
            <a:r>
              <a:rPr lang="en-US" sz="1100" b="1" spc="200" kern="0" dirty="0">
                <a:solidFill>
                  <a:srgbClr val="0F2440"/>
                </a:solidFill>
                <a:latin typeface="Arial" pitchFamily="34" charset="0"/>
                <a:ea typeface="Arial" pitchFamily="34" charset="-122"/>
                <a:cs typeface="Arial" pitchFamily="34" charset="-120"/>
              </a:rPr>
              <a:t>DO</a:t>
            </a:r>
            <a:endParaRPr lang="en-US" sz="1100" dirty="0"/>
          </a:p>
        </p:txBody>
      </p:sp>
      <p:sp>
        <p:nvSpPr>
          <p:cNvPr id="13" name="Text 10"/>
          <p:cNvSpPr/>
          <p:nvPr/>
        </p:nvSpPr>
        <p:spPr>
          <a:xfrm>
            <a:off x="3337560" y="1051560"/>
            <a:ext cx="2400300" cy="2971800"/>
          </a:xfrm>
          <a:prstGeom prst="rect">
            <a:avLst/>
          </a:prstGeom>
          <a:noFill/>
          <a:ln/>
        </p:spPr>
        <p:txBody>
          <a:bodyPr wrap="square" lIns="0" tIns="0" rIns="0" bIns="0" rtlCol="0" anchor="t"/>
          <a:lstStyle/>
          <a:p>
            <a:pPr marL="342900" indent="-342900">
              <a:buSzPct val="100000"/>
              <a:buChar char="•"/>
            </a:pPr>
            <a:r>
              <a:rPr lang="en-US" sz="900" dirty="0">
                <a:solidFill>
                  <a:srgbClr val="F5F0E8"/>
                </a:solidFill>
                <a:latin typeface="Arial" pitchFamily="34" charset="0"/>
                <a:ea typeface="Arial" pitchFamily="34" charset="-122"/>
                <a:cs typeface="Arial" pitchFamily="34" charset="-120"/>
              </a:rPr>
              <a:t>Limit each dashboard view to five to seven KPIs maximum</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Use consistent color encoding across all charts (e.g., green for favorable, red for unfavorable)</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Provide context for every number: show comparisons to budget, prior period, or benchmark</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Design for the smallest screen first, then scale up to desktop</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Include a date stamp and data freshness indicator on every dashboard</a:t>
            </a:r>
            <a:endParaRPr lang="en-US" sz="900" dirty="0"/>
          </a:p>
        </p:txBody>
      </p:sp>
      <p:sp>
        <p:nvSpPr>
          <p:cNvPr id="14" name="Shape 11"/>
          <p:cNvSpPr/>
          <p:nvPr/>
        </p:nvSpPr>
        <p:spPr>
          <a:xfrm>
            <a:off x="6012180" y="640080"/>
            <a:ext cx="2674620" cy="3474720"/>
          </a:xfrm>
          <a:prstGeom prst="rect">
            <a:avLst>
              <a:gd name="adj" fmla="val 2051"/>
            </a:avLst>
          </a:prstGeom>
          <a:solidFill>
            <a:srgbClr val="111D2E"/>
          </a:solidFill>
          <a:ln w="6350">
            <a:solidFill>
              <a:srgbClr val="0A1525"/>
            </a:solidFill>
            <a:prstDash val="solid"/>
          </a:ln>
        </p:spPr>
      </p:sp>
      <p:sp>
        <p:nvSpPr>
          <p:cNvPr id="15" name="Text 12"/>
          <p:cNvSpPr/>
          <p:nvPr/>
        </p:nvSpPr>
        <p:spPr>
          <a:xfrm>
            <a:off x="6149340" y="731520"/>
            <a:ext cx="2400300" cy="274320"/>
          </a:xfrm>
          <a:prstGeom prst="rect">
            <a:avLst/>
          </a:prstGeom>
          <a:noFill/>
          <a:ln/>
        </p:spPr>
        <p:txBody>
          <a:bodyPr wrap="square" lIns="0" tIns="0" rIns="0" bIns="0" rtlCol="0" anchor="ctr"/>
          <a:lstStyle/>
          <a:p>
            <a:pPr indent="0" marL="0">
              <a:buNone/>
            </a:pPr>
            <a:r>
              <a:rPr lang="en-US" sz="1100" b="1" spc="200" kern="0" dirty="0">
                <a:solidFill>
                  <a:srgbClr val="FF6B6B"/>
                </a:solidFill>
                <a:latin typeface="Arial" pitchFamily="34" charset="0"/>
                <a:ea typeface="Arial" pitchFamily="34" charset="-122"/>
                <a:cs typeface="Arial" pitchFamily="34" charset="-120"/>
              </a:rPr>
              <a:t>DON'T</a:t>
            </a:r>
            <a:endParaRPr lang="en-US" sz="1100" dirty="0"/>
          </a:p>
        </p:txBody>
      </p:sp>
      <p:sp>
        <p:nvSpPr>
          <p:cNvPr id="16" name="Text 13"/>
          <p:cNvSpPr/>
          <p:nvPr/>
        </p:nvSpPr>
        <p:spPr>
          <a:xfrm>
            <a:off x="6149340" y="1051560"/>
            <a:ext cx="2400300" cy="2971800"/>
          </a:xfrm>
          <a:prstGeom prst="rect">
            <a:avLst/>
          </a:prstGeom>
          <a:noFill/>
          <a:ln/>
        </p:spPr>
        <p:txBody>
          <a:bodyPr wrap="square" lIns="0" tIns="0" rIns="0" bIns="0" rtlCol="0" anchor="t"/>
          <a:lstStyle/>
          <a:p>
            <a:pPr marL="342900" indent="-342900">
              <a:buSzPct val="100000"/>
              <a:buChar char="•"/>
            </a:pPr>
            <a:r>
              <a:rPr lang="en-US" sz="900" dirty="0">
                <a:solidFill>
                  <a:srgbClr val="F5F0E8"/>
                </a:solidFill>
                <a:latin typeface="Arial" pitchFamily="34" charset="0"/>
                <a:ea typeface="Arial" pitchFamily="34" charset="-122"/>
                <a:cs typeface="Arial" pitchFamily="34" charset="-120"/>
              </a:rPr>
              <a:t>Do not use 3D charts or decorative elements that distort data perception</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Avoid using more than five colors on a single visualization</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Never present raw numbers without units, scale labels, or axis definitions</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Do not force users to scroll horizontally to see complete data</a:t>
            </a:r>
            <a:endParaRPr lang="en-US" sz="900" dirty="0"/>
          </a:p>
          <a:p>
            <a:pPr marL="342900" indent="-342900">
              <a:buSzPct val="100000"/>
              <a:buChar char="•"/>
            </a:pPr>
            <a:r>
              <a:rPr lang="en-US" sz="900" dirty="0">
                <a:solidFill>
                  <a:srgbClr val="F5F0E8"/>
                </a:solidFill>
                <a:latin typeface="Arial" pitchFamily="34" charset="0"/>
                <a:ea typeface="Arial" pitchFamily="34" charset="-122"/>
                <a:cs typeface="Arial" pitchFamily="34" charset="-120"/>
              </a:rPr>
              <a:t>Avoid pie charts for more than four categories; use bar charts instead</a:t>
            </a:r>
            <a:endParaRPr lang="en-US" sz="9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9" name="Text 14"/>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6 / 10</a:t>
            </a:r>
            <a:endParaRPr lang="en-US" sz="800" dirty="0"/>
          </a:p>
        </p:txBody>
      </p:sp>
    </p:spTree>
  </p:cSld>
  <p:clrMapOvr>
    <a:masterClrMapping/>
  </p:clrMapOvr>
  <p:transition spd="fast" advClick="0" advTm="64765">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Data Visualization and AI-Powered Reporting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CASE STUDY</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5391D5"/>
                </a:solidFill>
                <a:latin typeface="Arial" pitchFamily="34" charset="0"/>
                <a:ea typeface="Arial" pitchFamily="34" charset="-122"/>
                <a:cs typeface="Arial" pitchFamily="34" charset="-120"/>
              </a:rPr>
              <a:t>Atlas</a:t>
            </a:r>
            <a:pPr indent="0" marL="0">
              <a:buNone/>
            </a:pPr>
            <a:r>
              <a:rPr lang="en-US" sz="2200" b="1" dirty="0">
                <a:solidFill>
                  <a:srgbClr val="F5F0E8"/>
                </a:solidFill>
                <a:latin typeface="Arial" pitchFamily="34" charset="0"/>
                <a:ea typeface="Arial" pitchFamily="34" charset="-122"/>
                <a:cs typeface="Arial" pitchFamily="34" charset="-120"/>
              </a:rPr>
              <a:t> Manufacturing Group</a:t>
            </a:r>
            <a:endParaRPr lang="en-US" sz="2200" dirty="0"/>
          </a:p>
        </p:txBody>
      </p:sp>
      <p:sp>
        <p:nvSpPr>
          <p:cNvPr id="11" name="Text 8"/>
          <p:cNvSpPr/>
          <p:nvPr/>
        </p:nvSpPr>
        <p:spPr>
          <a:xfrm>
            <a:off x="457200" y="2011680"/>
            <a:ext cx="2560320" cy="1371600"/>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Atlas Manufacturing, a mid-market industrial company with $800M in annual revenue, relied on static monthly PDF reports distributed via email to over 200 managers.</a:t>
            </a:r>
            <a:endParaRPr lang="en-US" sz="900" dirty="0"/>
          </a:p>
        </p:txBody>
      </p:sp>
      <p:sp>
        <p:nvSpPr>
          <p:cNvPr id="12" name="Shape 9"/>
          <p:cNvSpPr/>
          <p:nvPr/>
        </p:nvSpPr>
        <p:spPr>
          <a:xfrm>
            <a:off x="3200400" y="640080"/>
            <a:ext cx="5486400" cy="1097280"/>
          </a:xfrm>
          <a:prstGeom prst="rect">
            <a:avLst>
              <a:gd name="adj" fmla="val 5000"/>
            </a:avLst>
          </a:prstGeom>
          <a:solidFill>
            <a:srgbClr val="111D2E"/>
          </a:solidFill>
          <a:ln w="6350">
            <a:solidFill>
              <a:srgbClr val="0A1525"/>
            </a:solidFill>
            <a:prstDash val="solid"/>
          </a:ln>
        </p:spPr>
      </p:sp>
      <p:sp>
        <p:nvSpPr>
          <p:cNvPr id="13" name="Text 10"/>
          <p:cNvSpPr/>
          <p:nvPr/>
        </p:nvSpPr>
        <p:spPr>
          <a:xfrm>
            <a:off x="3337560" y="713232"/>
            <a:ext cx="521208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CHALLENGE</a:t>
            </a:r>
            <a:endParaRPr lang="en-US" sz="800" dirty="0"/>
          </a:p>
        </p:txBody>
      </p:sp>
      <p:sp>
        <p:nvSpPr>
          <p:cNvPr id="14" name="Text 11"/>
          <p:cNvSpPr/>
          <p:nvPr/>
        </p:nvSpPr>
        <p:spPr>
          <a:xfrm>
            <a:off x="3337560" y="960120"/>
            <a:ext cx="5212080" cy="685800"/>
          </a:xfrm>
          <a:prstGeom prst="rect">
            <a:avLst/>
          </a:prstGeom>
          <a:noFill/>
          <a:ln/>
        </p:spPr>
        <p:txBody>
          <a:bodyPr wrap="square" lIns="0" tIns="0" rIns="0" bIns="0" rtlCol="0" anchor="t"/>
          <a:lstStyle/>
          <a:p>
            <a:pPr indent="0" marL="0">
              <a:buNone/>
            </a:pPr>
            <a:r>
              <a:rPr lang="en-US" sz="1000" dirty="0">
                <a:solidFill>
                  <a:srgbClr val="F5F0E8"/>
                </a:solidFill>
                <a:latin typeface="Arial" pitchFamily="34" charset="0"/>
                <a:ea typeface="Arial" pitchFamily="34" charset="-122"/>
                <a:cs typeface="Arial" pitchFamily="34" charset="-120"/>
              </a:rPr>
              <a:t>Report production consumed 120 analyst hours per month, yet fewer than 30% of managers regularly reviewed the reports. Executive decisions were frequently made on outdated data.</a:t>
            </a:r>
            <a:endParaRPr lang="en-US" sz="1000" dirty="0"/>
          </a:p>
        </p:txBody>
      </p:sp>
      <p:sp>
        <p:nvSpPr>
          <p:cNvPr id="15" name="Shape 12"/>
          <p:cNvSpPr/>
          <p:nvPr/>
        </p:nvSpPr>
        <p:spPr>
          <a:xfrm>
            <a:off x="3200400" y="1874520"/>
            <a:ext cx="5486400" cy="594360"/>
          </a:xfrm>
          <a:prstGeom prst="rect">
            <a:avLst>
              <a:gd name="adj" fmla="val 9231"/>
            </a:avLst>
          </a:prstGeom>
          <a:solidFill>
            <a:srgbClr val="111D2E"/>
          </a:solidFill>
          <a:ln w="6350">
            <a:solidFill>
              <a:srgbClr val="0A1525"/>
            </a:solidFill>
            <a:prstDash val="solid"/>
          </a:ln>
        </p:spPr>
      </p:sp>
      <p:sp>
        <p:nvSpPr>
          <p:cNvPr id="16" name="Text 13"/>
          <p:cNvSpPr/>
          <p:nvPr/>
        </p:nvSpPr>
        <p:spPr>
          <a:xfrm>
            <a:off x="3337560" y="1929384"/>
            <a:ext cx="5212080" cy="256032"/>
          </a:xfrm>
          <a:prstGeom prst="rect">
            <a:avLst/>
          </a:prstGeom>
          <a:noFill/>
          <a:ln/>
        </p:spPr>
        <p:txBody>
          <a:bodyPr wrap="square" lIns="0" tIns="0" rIns="0" bIns="0" rtlCol="0" anchor="ctr"/>
          <a:lstStyle/>
          <a:p>
            <a:pPr indent="0" marL="0">
              <a:buNone/>
            </a:pPr>
            <a:r>
              <a:rPr lang="en-US" sz="1600" b="1" dirty="0">
                <a:solidFill>
                  <a:srgbClr val="5391D5"/>
                </a:solidFill>
                <a:latin typeface="Arial" pitchFamily="34" charset="0"/>
                <a:ea typeface="Arial" pitchFamily="34" charset="-122"/>
                <a:cs typeface="Arial" pitchFamily="34" charset="-120"/>
              </a:rPr>
              <a:t>85%</a:t>
            </a:r>
            <a:endParaRPr lang="en-US" sz="1600" dirty="0"/>
          </a:p>
        </p:txBody>
      </p:sp>
      <p:sp>
        <p:nvSpPr>
          <p:cNvPr id="17" name="Text 14"/>
          <p:cNvSpPr/>
          <p:nvPr/>
        </p:nvSpPr>
        <p:spPr>
          <a:xfrm>
            <a:off x="3337560" y="2185416"/>
            <a:ext cx="5212080" cy="228600"/>
          </a:xfrm>
          <a:prstGeom prst="rect">
            <a:avLst/>
          </a:prstGeom>
          <a:noFill/>
          <a:ln/>
        </p:spPr>
        <p:txBody>
          <a:bodyPr wrap="square" lIns="0" tIns="0" rIns="0" bIns="0" rtlCol="0" anchor="ctr"/>
          <a:lstStyle/>
          <a:p>
            <a:pPr indent="0" marL="0">
              <a:buNone/>
            </a:pPr>
            <a:r>
              <a:rPr lang="en-US" sz="900" dirty="0">
                <a:solidFill>
                  <a:srgbClr val="8A9BB5"/>
                </a:solidFill>
                <a:latin typeface="Arial" pitchFamily="34" charset="0"/>
                <a:ea typeface="Arial" pitchFamily="34" charset="-122"/>
                <a:cs typeface="Arial" pitchFamily="34" charset="-120"/>
              </a:rPr>
              <a:t>Reduction in report production time after deploying AI-powered dashboards</a:t>
            </a:r>
            <a:endParaRPr lang="en-US" sz="900" dirty="0"/>
          </a:p>
        </p:txBody>
      </p:sp>
      <p:sp>
        <p:nvSpPr>
          <p:cNvPr id="18" name="Shape 15"/>
          <p:cNvSpPr/>
          <p:nvPr/>
        </p:nvSpPr>
        <p:spPr>
          <a:xfrm>
            <a:off x="3200400" y="2560320"/>
            <a:ext cx="5486400" cy="594360"/>
          </a:xfrm>
          <a:prstGeom prst="rect">
            <a:avLst>
              <a:gd name="adj" fmla="val 9231"/>
            </a:avLst>
          </a:prstGeom>
          <a:solidFill>
            <a:srgbClr val="111D2E"/>
          </a:solidFill>
          <a:ln w="6350">
            <a:solidFill>
              <a:srgbClr val="0A1525"/>
            </a:solidFill>
            <a:prstDash val="solid"/>
          </a:ln>
        </p:spPr>
      </p:sp>
      <p:sp>
        <p:nvSpPr>
          <p:cNvPr id="19" name="Text 16"/>
          <p:cNvSpPr/>
          <p:nvPr/>
        </p:nvSpPr>
        <p:spPr>
          <a:xfrm>
            <a:off x="3337560" y="2615184"/>
            <a:ext cx="5212080" cy="256032"/>
          </a:xfrm>
          <a:prstGeom prst="rect">
            <a:avLst/>
          </a:prstGeom>
          <a:noFill/>
          <a:ln/>
        </p:spPr>
        <p:txBody>
          <a:bodyPr wrap="square" lIns="0" tIns="0" rIns="0" bIns="0" rtlCol="0" anchor="ctr"/>
          <a:lstStyle/>
          <a:p>
            <a:pPr indent="0" marL="0">
              <a:buNone/>
            </a:pPr>
            <a:r>
              <a:rPr lang="en-US" sz="1600" b="1" dirty="0">
                <a:solidFill>
                  <a:srgbClr val="5391D5"/>
                </a:solidFill>
                <a:latin typeface="Arial" pitchFamily="34" charset="0"/>
                <a:ea typeface="Arial" pitchFamily="34" charset="-122"/>
                <a:cs typeface="Arial" pitchFamily="34" charset="-120"/>
              </a:rPr>
              <a:t>3x</a:t>
            </a:r>
            <a:endParaRPr lang="en-US" sz="1600" dirty="0"/>
          </a:p>
        </p:txBody>
      </p:sp>
      <p:sp>
        <p:nvSpPr>
          <p:cNvPr id="20" name="Text 17"/>
          <p:cNvSpPr/>
          <p:nvPr/>
        </p:nvSpPr>
        <p:spPr>
          <a:xfrm>
            <a:off x="3337560" y="2871216"/>
            <a:ext cx="5212080" cy="228600"/>
          </a:xfrm>
          <a:prstGeom prst="rect">
            <a:avLst/>
          </a:prstGeom>
          <a:noFill/>
          <a:ln/>
        </p:spPr>
        <p:txBody>
          <a:bodyPr wrap="square" lIns="0" tIns="0" rIns="0" bIns="0" rtlCol="0" anchor="ctr"/>
          <a:lstStyle/>
          <a:p>
            <a:pPr indent="0" marL="0">
              <a:buNone/>
            </a:pPr>
            <a:r>
              <a:rPr lang="en-US" sz="900" dirty="0">
                <a:solidFill>
                  <a:srgbClr val="8A9BB5"/>
                </a:solidFill>
                <a:latin typeface="Arial" pitchFamily="34" charset="0"/>
                <a:ea typeface="Arial" pitchFamily="34" charset="-122"/>
                <a:cs typeface="Arial" pitchFamily="34" charset="-120"/>
              </a:rPr>
              <a:t>Increase in manager engagement with financial data</a:t>
            </a:r>
            <a:endParaRPr lang="en-US" sz="900" dirty="0"/>
          </a:p>
        </p:txBody>
      </p:sp>
      <p:sp>
        <p:nvSpPr>
          <p:cNvPr id="21" name="Shape 18"/>
          <p:cNvSpPr/>
          <p:nvPr/>
        </p:nvSpPr>
        <p:spPr>
          <a:xfrm>
            <a:off x="3200400" y="3246120"/>
            <a:ext cx="5486400" cy="594360"/>
          </a:xfrm>
          <a:prstGeom prst="rect">
            <a:avLst>
              <a:gd name="adj" fmla="val 9231"/>
            </a:avLst>
          </a:prstGeom>
          <a:solidFill>
            <a:srgbClr val="111D2E"/>
          </a:solidFill>
          <a:ln w="6350">
            <a:solidFill>
              <a:srgbClr val="0A1525"/>
            </a:solidFill>
            <a:prstDash val="solid"/>
          </a:ln>
        </p:spPr>
      </p:sp>
      <p:sp>
        <p:nvSpPr>
          <p:cNvPr id="22" name="Text 19"/>
          <p:cNvSpPr/>
          <p:nvPr/>
        </p:nvSpPr>
        <p:spPr>
          <a:xfrm>
            <a:off x="3337560" y="3300984"/>
            <a:ext cx="5212080" cy="256032"/>
          </a:xfrm>
          <a:prstGeom prst="rect">
            <a:avLst/>
          </a:prstGeom>
          <a:noFill/>
          <a:ln/>
        </p:spPr>
        <p:txBody>
          <a:bodyPr wrap="square" lIns="0" tIns="0" rIns="0" bIns="0" rtlCol="0" anchor="ctr"/>
          <a:lstStyle/>
          <a:p>
            <a:pPr indent="0" marL="0">
              <a:buNone/>
            </a:pPr>
            <a:r>
              <a:rPr lang="en-US" sz="1600" b="1" dirty="0">
                <a:solidFill>
                  <a:srgbClr val="5391D5"/>
                </a:solidFill>
                <a:latin typeface="Arial" pitchFamily="34" charset="0"/>
                <a:ea typeface="Arial" pitchFamily="34" charset="-122"/>
                <a:cs typeface="Arial" pitchFamily="34" charset="-120"/>
              </a:rPr>
              <a:t>$2.1M</a:t>
            </a:r>
            <a:endParaRPr lang="en-US" sz="1600" dirty="0"/>
          </a:p>
        </p:txBody>
      </p:sp>
      <p:sp>
        <p:nvSpPr>
          <p:cNvPr id="23" name="Text 20"/>
          <p:cNvSpPr/>
          <p:nvPr/>
        </p:nvSpPr>
        <p:spPr>
          <a:xfrm>
            <a:off x="3337560" y="3557016"/>
            <a:ext cx="5212080" cy="228600"/>
          </a:xfrm>
          <a:prstGeom prst="rect">
            <a:avLst/>
          </a:prstGeom>
          <a:noFill/>
          <a:ln/>
        </p:spPr>
        <p:txBody>
          <a:bodyPr wrap="square" lIns="0" tIns="0" rIns="0" bIns="0" rtlCol="0" anchor="ctr"/>
          <a:lstStyle/>
          <a:p>
            <a:pPr indent="0" marL="0">
              <a:buNone/>
            </a:pPr>
            <a:r>
              <a:rPr lang="en-US" sz="900" dirty="0">
                <a:solidFill>
                  <a:srgbClr val="8A9BB5"/>
                </a:solidFill>
                <a:latin typeface="Arial" pitchFamily="34" charset="0"/>
                <a:ea typeface="Arial" pitchFamily="34" charset="-122"/>
                <a:cs typeface="Arial" pitchFamily="34" charset="-120"/>
              </a:rPr>
              <a:t>Annual cost savings from eliminating manual reporting processes</a:t>
            </a:r>
            <a:endParaRPr lang="en-US" sz="900" dirty="0"/>
          </a:p>
        </p:txBody>
      </p:sp>
      <p:sp>
        <p:nvSpPr>
          <p:cNvPr id="24" name="Text 21"/>
          <p:cNvSpPr/>
          <p:nvPr/>
        </p:nvSpPr>
        <p:spPr>
          <a:xfrm>
            <a:off x="3200400" y="4686300"/>
            <a:ext cx="5486400" cy="18288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Source: Illustrative</a:t>
            </a:r>
            <a:endParaRPr lang="en-US" sz="7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27" name="Text 22"/>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7 / 10</a:t>
            </a:r>
            <a:endParaRPr lang="en-US" sz="800" dirty="0"/>
          </a:p>
        </p:txBody>
      </p:sp>
    </p:spTree>
  </p:cSld>
  <p:clrMapOvr>
    <a:masterClrMapping/>
  </p:clrMapOvr>
  <p:transition spd="fast" advClick="0" advTm="60246">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Data Visualization and AI-Powered Reporting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STORYTELLING FRAMEWORK</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Five Steps to </a:t>
            </a:r>
            <a:pPr indent="0" marL="0">
              <a:buNone/>
            </a:pPr>
            <a:r>
              <a:rPr lang="en-US" sz="2200" b="1" dirty="0">
                <a:solidFill>
                  <a:srgbClr val="5391D5"/>
                </a:solidFill>
                <a:latin typeface="Arial" pitchFamily="34" charset="0"/>
                <a:ea typeface="Arial" pitchFamily="34" charset="-122"/>
                <a:cs typeface="Arial" pitchFamily="34" charset="-120"/>
              </a:rPr>
              <a:t>Data Storytelling</a:t>
            </a:r>
            <a:pPr indent="0" marL="0">
              <a:buNone/>
            </a:pPr>
            <a:r>
              <a:rPr lang="en-US" sz="2200" b="1" dirty="0">
                <a:solidFill>
                  <a:srgbClr val="F5F0E8"/>
                </a:solidFill>
                <a:latin typeface="Arial" pitchFamily="34" charset="0"/>
                <a:ea typeface="Arial" pitchFamily="34" charset="-122"/>
                <a:cs typeface="Arial" pitchFamily="34" charset="-120"/>
              </a:rPr>
              <a:t> in Finance</a:t>
            </a:r>
            <a:endParaRPr lang="en-US" sz="2200" dirty="0"/>
          </a:p>
        </p:txBody>
      </p:sp>
      <p:sp>
        <p:nvSpPr>
          <p:cNvPr id="11" name="Shape 8"/>
          <p:cNvSpPr/>
          <p:nvPr/>
        </p:nvSpPr>
        <p:spPr>
          <a:xfrm>
            <a:off x="3200400" y="640080"/>
            <a:ext cx="5486400" cy="685800"/>
          </a:xfrm>
          <a:prstGeom prst="rect">
            <a:avLst>
              <a:gd name="adj" fmla="val 8000"/>
            </a:avLst>
          </a:prstGeom>
          <a:solidFill>
            <a:srgbClr val="111D2E"/>
          </a:solidFill>
          <a:ln w="6350">
            <a:solidFill>
              <a:srgbClr val="0A1525"/>
            </a:solidFill>
            <a:prstDash val="solid"/>
          </a:ln>
        </p:spPr>
      </p:sp>
      <p:sp>
        <p:nvSpPr>
          <p:cNvPr id="12" name="Shape 9"/>
          <p:cNvSpPr/>
          <p:nvPr/>
        </p:nvSpPr>
        <p:spPr>
          <a:xfrm>
            <a:off x="3310128" y="749808"/>
            <a:ext cx="292608" cy="292608"/>
          </a:xfrm>
          <a:prstGeom prst="ellipse">
            <a:avLst/>
          </a:prstGeom>
          <a:solidFill>
            <a:srgbClr val="5391D5"/>
          </a:solidFill>
          <a:ln/>
        </p:spPr>
      </p:sp>
      <p:sp>
        <p:nvSpPr>
          <p:cNvPr id="13" name="Text 10"/>
          <p:cNvSpPr/>
          <p:nvPr/>
        </p:nvSpPr>
        <p:spPr>
          <a:xfrm>
            <a:off x="3310128" y="749808"/>
            <a:ext cx="292608" cy="292608"/>
          </a:xfrm>
          <a:prstGeom prst="rect">
            <a:avLst/>
          </a:prstGeom>
          <a:noFill/>
          <a:ln/>
        </p:spPr>
        <p:txBody>
          <a:bodyPr wrap="square" lIns="0" tIns="0" rIns="0" bIns="0" rtlCol="0" anchor="ctr"/>
          <a:lstStyle/>
          <a:p>
            <a:pPr algn="ctr" indent="0" marL="0">
              <a:buNone/>
            </a:pPr>
            <a:r>
              <a:rPr lang="en-US" sz="1200" b="1" dirty="0">
                <a:solidFill>
                  <a:srgbClr val="F5F0E8"/>
                </a:solidFill>
                <a:latin typeface="Arial" pitchFamily="34" charset="0"/>
                <a:ea typeface="Arial" pitchFamily="34" charset="-122"/>
                <a:cs typeface="Arial" pitchFamily="34" charset="-120"/>
              </a:rPr>
              <a:t>1</a:t>
            </a:r>
            <a:endParaRPr lang="en-US" sz="1200" dirty="0"/>
          </a:p>
        </p:txBody>
      </p:sp>
      <p:sp>
        <p:nvSpPr>
          <p:cNvPr id="14" name="Text 11"/>
          <p:cNvSpPr/>
          <p:nvPr/>
        </p:nvSpPr>
        <p:spPr>
          <a:xfrm>
            <a:off x="3703320" y="713232"/>
            <a:ext cx="4846320" cy="274320"/>
          </a:xfrm>
          <a:prstGeom prst="rect">
            <a:avLst/>
          </a:prstGeom>
          <a:noFill/>
          <a:ln/>
        </p:spPr>
        <p:txBody>
          <a:bodyPr wrap="square" lIns="0" tIns="0" rIns="0" bIns="0" rtlCol="0" anchor="ctr"/>
          <a:lstStyle/>
          <a:p>
            <a:pPr indent="0" marL="0">
              <a:buNone/>
            </a:pPr>
            <a:r>
              <a:rPr lang="en-US" sz="1100" b="1" dirty="0">
                <a:solidFill>
                  <a:srgbClr val="F5F0E8"/>
                </a:solidFill>
                <a:latin typeface="Arial" pitchFamily="34" charset="0"/>
                <a:ea typeface="Arial" pitchFamily="34" charset="-122"/>
                <a:cs typeface="Arial" pitchFamily="34" charset="-120"/>
              </a:rPr>
              <a:t>Start with the headline</a:t>
            </a:r>
            <a:endParaRPr lang="en-US" sz="1100" dirty="0"/>
          </a:p>
        </p:txBody>
      </p:sp>
      <p:sp>
        <p:nvSpPr>
          <p:cNvPr id="15" name="Text 12"/>
          <p:cNvSpPr/>
          <p:nvPr/>
        </p:nvSpPr>
        <p:spPr>
          <a:xfrm>
            <a:off x="3703320" y="987552"/>
            <a:ext cx="4846320" cy="246888"/>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Lead with the single most important insight. What changed? Why does it matter? Your audience should grasp the main message within ten seconds.</a:t>
            </a:r>
            <a:endParaRPr lang="en-US" sz="900" dirty="0"/>
          </a:p>
        </p:txBody>
      </p:sp>
      <p:sp>
        <p:nvSpPr>
          <p:cNvPr id="16" name="Shape 13"/>
          <p:cNvSpPr/>
          <p:nvPr/>
        </p:nvSpPr>
        <p:spPr>
          <a:xfrm>
            <a:off x="3200400" y="1417320"/>
            <a:ext cx="5486400" cy="685800"/>
          </a:xfrm>
          <a:prstGeom prst="rect">
            <a:avLst>
              <a:gd name="adj" fmla="val 8000"/>
            </a:avLst>
          </a:prstGeom>
          <a:solidFill>
            <a:srgbClr val="111D2E"/>
          </a:solidFill>
          <a:ln w="6350">
            <a:solidFill>
              <a:srgbClr val="0A1525"/>
            </a:solidFill>
            <a:prstDash val="solid"/>
          </a:ln>
        </p:spPr>
      </p:sp>
      <p:sp>
        <p:nvSpPr>
          <p:cNvPr id="17" name="Shape 14"/>
          <p:cNvSpPr/>
          <p:nvPr/>
        </p:nvSpPr>
        <p:spPr>
          <a:xfrm>
            <a:off x="3310128" y="1527048"/>
            <a:ext cx="292608" cy="292608"/>
          </a:xfrm>
          <a:prstGeom prst="ellipse">
            <a:avLst/>
          </a:prstGeom>
          <a:solidFill>
            <a:srgbClr val="5391D5"/>
          </a:solidFill>
          <a:ln/>
        </p:spPr>
      </p:sp>
      <p:sp>
        <p:nvSpPr>
          <p:cNvPr id="18" name="Text 15"/>
          <p:cNvSpPr/>
          <p:nvPr/>
        </p:nvSpPr>
        <p:spPr>
          <a:xfrm>
            <a:off x="3310128" y="1527048"/>
            <a:ext cx="292608" cy="292608"/>
          </a:xfrm>
          <a:prstGeom prst="rect">
            <a:avLst/>
          </a:prstGeom>
          <a:noFill/>
          <a:ln/>
        </p:spPr>
        <p:txBody>
          <a:bodyPr wrap="square" lIns="0" tIns="0" rIns="0" bIns="0" rtlCol="0" anchor="ctr"/>
          <a:lstStyle/>
          <a:p>
            <a:pPr algn="ctr" indent="0" marL="0">
              <a:buNone/>
            </a:pPr>
            <a:r>
              <a:rPr lang="en-US" sz="1200" b="1" dirty="0">
                <a:solidFill>
                  <a:srgbClr val="F5F0E8"/>
                </a:solidFill>
                <a:latin typeface="Arial" pitchFamily="34" charset="0"/>
                <a:ea typeface="Arial" pitchFamily="34" charset="-122"/>
                <a:cs typeface="Arial" pitchFamily="34" charset="-120"/>
              </a:rPr>
              <a:t>2</a:t>
            </a:r>
            <a:endParaRPr lang="en-US" sz="1200" dirty="0"/>
          </a:p>
        </p:txBody>
      </p:sp>
      <p:sp>
        <p:nvSpPr>
          <p:cNvPr id="19" name="Text 16"/>
          <p:cNvSpPr/>
          <p:nvPr/>
        </p:nvSpPr>
        <p:spPr>
          <a:xfrm>
            <a:off x="3703320" y="1490472"/>
            <a:ext cx="4846320" cy="274320"/>
          </a:xfrm>
          <a:prstGeom prst="rect">
            <a:avLst/>
          </a:prstGeom>
          <a:noFill/>
          <a:ln/>
        </p:spPr>
        <p:txBody>
          <a:bodyPr wrap="square" lIns="0" tIns="0" rIns="0" bIns="0" rtlCol="0" anchor="ctr"/>
          <a:lstStyle/>
          <a:p>
            <a:pPr indent="0" marL="0">
              <a:buNone/>
            </a:pPr>
            <a:r>
              <a:rPr lang="en-US" sz="1100" b="1" dirty="0">
                <a:solidFill>
                  <a:srgbClr val="F5F0E8"/>
                </a:solidFill>
                <a:latin typeface="Arial" pitchFamily="34" charset="0"/>
                <a:ea typeface="Arial" pitchFamily="34" charset="-122"/>
                <a:cs typeface="Arial" pitchFamily="34" charset="-120"/>
              </a:rPr>
              <a:t>Provide context with comparisons</a:t>
            </a:r>
            <a:endParaRPr lang="en-US" sz="1100" dirty="0"/>
          </a:p>
        </p:txBody>
      </p:sp>
      <p:sp>
        <p:nvSpPr>
          <p:cNvPr id="20" name="Text 17"/>
          <p:cNvSpPr/>
          <p:nvPr/>
        </p:nvSpPr>
        <p:spPr>
          <a:xfrm>
            <a:off x="3703320" y="1764792"/>
            <a:ext cx="4846320" cy="246888"/>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Anchor your numbers against budgets, forecasts, prior periods, or industry benchmarks. A standalone number is a data point; a comparison makes it a story.</a:t>
            </a:r>
            <a:endParaRPr lang="en-US" sz="900" dirty="0"/>
          </a:p>
        </p:txBody>
      </p:sp>
      <p:sp>
        <p:nvSpPr>
          <p:cNvPr id="21" name="Shape 18"/>
          <p:cNvSpPr/>
          <p:nvPr/>
        </p:nvSpPr>
        <p:spPr>
          <a:xfrm>
            <a:off x="3200400" y="2194560"/>
            <a:ext cx="5486400" cy="685800"/>
          </a:xfrm>
          <a:prstGeom prst="rect">
            <a:avLst>
              <a:gd name="adj" fmla="val 8000"/>
            </a:avLst>
          </a:prstGeom>
          <a:solidFill>
            <a:srgbClr val="111D2E"/>
          </a:solidFill>
          <a:ln w="6350">
            <a:solidFill>
              <a:srgbClr val="0A1525"/>
            </a:solidFill>
            <a:prstDash val="solid"/>
          </a:ln>
        </p:spPr>
      </p:sp>
      <p:sp>
        <p:nvSpPr>
          <p:cNvPr id="22" name="Shape 19"/>
          <p:cNvSpPr/>
          <p:nvPr/>
        </p:nvSpPr>
        <p:spPr>
          <a:xfrm>
            <a:off x="3310128" y="2304288"/>
            <a:ext cx="292608" cy="292608"/>
          </a:xfrm>
          <a:prstGeom prst="ellipse">
            <a:avLst/>
          </a:prstGeom>
          <a:solidFill>
            <a:srgbClr val="5391D5"/>
          </a:solidFill>
          <a:ln/>
        </p:spPr>
      </p:sp>
      <p:sp>
        <p:nvSpPr>
          <p:cNvPr id="23" name="Text 20"/>
          <p:cNvSpPr/>
          <p:nvPr/>
        </p:nvSpPr>
        <p:spPr>
          <a:xfrm>
            <a:off x="3310128" y="2304288"/>
            <a:ext cx="292608" cy="292608"/>
          </a:xfrm>
          <a:prstGeom prst="rect">
            <a:avLst/>
          </a:prstGeom>
          <a:noFill/>
          <a:ln/>
        </p:spPr>
        <p:txBody>
          <a:bodyPr wrap="square" lIns="0" tIns="0" rIns="0" bIns="0" rtlCol="0" anchor="ctr"/>
          <a:lstStyle/>
          <a:p>
            <a:pPr algn="ctr" indent="0" marL="0">
              <a:buNone/>
            </a:pPr>
            <a:r>
              <a:rPr lang="en-US" sz="1200" b="1" dirty="0">
                <a:solidFill>
                  <a:srgbClr val="F5F0E8"/>
                </a:solidFill>
                <a:latin typeface="Arial" pitchFamily="34" charset="0"/>
                <a:ea typeface="Arial" pitchFamily="34" charset="-122"/>
                <a:cs typeface="Arial" pitchFamily="34" charset="-120"/>
              </a:rPr>
              <a:t>3</a:t>
            </a:r>
            <a:endParaRPr lang="en-US" sz="1200" dirty="0"/>
          </a:p>
        </p:txBody>
      </p:sp>
      <p:sp>
        <p:nvSpPr>
          <p:cNvPr id="24" name="Text 21"/>
          <p:cNvSpPr/>
          <p:nvPr/>
        </p:nvSpPr>
        <p:spPr>
          <a:xfrm>
            <a:off x="3703320" y="2267712"/>
            <a:ext cx="4846320" cy="274320"/>
          </a:xfrm>
          <a:prstGeom prst="rect">
            <a:avLst/>
          </a:prstGeom>
          <a:noFill/>
          <a:ln/>
        </p:spPr>
        <p:txBody>
          <a:bodyPr wrap="square" lIns="0" tIns="0" rIns="0" bIns="0" rtlCol="0" anchor="ctr"/>
          <a:lstStyle/>
          <a:p>
            <a:pPr indent="0" marL="0">
              <a:buNone/>
            </a:pPr>
            <a:r>
              <a:rPr lang="en-US" sz="1100" b="1" dirty="0">
                <a:solidFill>
                  <a:srgbClr val="F5F0E8"/>
                </a:solidFill>
                <a:latin typeface="Arial" pitchFamily="34" charset="0"/>
                <a:ea typeface="Arial" pitchFamily="34" charset="-122"/>
                <a:cs typeface="Arial" pitchFamily="34" charset="-120"/>
              </a:rPr>
              <a:t>Explain causality, not just correlation</a:t>
            </a:r>
            <a:endParaRPr lang="en-US" sz="1100" dirty="0"/>
          </a:p>
        </p:txBody>
      </p:sp>
      <p:sp>
        <p:nvSpPr>
          <p:cNvPr id="25" name="Text 22"/>
          <p:cNvSpPr/>
          <p:nvPr/>
        </p:nvSpPr>
        <p:spPr>
          <a:xfrm>
            <a:off x="3703320" y="2542032"/>
            <a:ext cx="4846320" cy="246888"/>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Go beyond showing that revenue declined. Explain that revenue declined because customer churn in the enterprise segment increased by fifteen percent following a pricing change.</a:t>
            </a:r>
            <a:endParaRPr lang="en-US" sz="900" dirty="0"/>
          </a:p>
        </p:txBody>
      </p:sp>
      <p:sp>
        <p:nvSpPr>
          <p:cNvPr id="26" name="Shape 23"/>
          <p:cNvSpPr/>
          <p:nvPr/>
        </p:nvSpPr>
        <p:spPr>
          <a:xfrm>
            <a:off x="3200400" y="2971800"/>
            <a:ext cx="5486400" cy="685800"/>
          </a:xfrm>
          <a:prstGeom prst="rect">
            <a:avLst>
              <a:gd name="adj" fmla="val 8000"/>
            </a:avLst>
          </a:prstGeom>
          <a:solidFill>
            <a:srgbClr val="111D2E"/>
          </a:solidFill>
          <a:ln w="6350">
            <a:solidFill>
              <a:srgbClr val="0A1525"/>
            </a:solidFill>
            <a:prstDash val="solid"/>
          </a:ln>
        </p:spPr>
      </p:sp>
      <p:sp>
        <p:nvSpPr>
          <p:cNvPr id="27" name="Shape 24"/>
          <p:cNvSpPr/>
          <p:nvPr/>
        </p:nvSpPr>
        <p:spPr>
          <a:xfrm>
            <a:off x="3310128" y="3081528"/>
            <a:ext cx="292608" cy="292608"/>
          </a:xfrm>
          <a:prstGeom prst="ellipse">
            <a:avLst/>
          </a:prstGeom>
          <a:solidFill>
            <a:srgbClr val="5391D5"/>
          </a:solidFill>
          <a:ln/>
        </p:spPr>
      </p:sp>
      <p:sp>
        <p:nvSpPr>
          <p:cNvPr id="28" name="Text 25"/>
          <p:cNvSpPr/>
          <p:nvPr/>
        </p:nvSpPr>
        <p:spPr>
          <a:xfrm>
            <a:off x="3310128" y="3081528"/>
            <a:ext cx="292608" cy="292608"/>
          </a:xfrm>
          <a:prstGeom prst="rect">
            <a:avLst/>
          </a:prstGeom>
          <a:noFill/>
          <a:ln/>
        </p:spPr>
        <p:txBody>
          <a:bodyPr wrap="square" lIns="0" tIns="0" rIns="0" bIns="0" rtlCol="0" anchor="ctr"/>
          <a:lstStyle/>
          <a:p>
            <a:pPr algn="ctr" indent="0" marL="0">
              <a:buNone/>
            </a:pPr>
            <a:r>
              <a:rPr lang="en-US" sz="1200" b="1" dirty="0">
                <a:solidFill>
                  <a:srgbClr val="F5F0E8"/>
                </a:solidFill>
                <a:latin typeface="Arial" pitchFamily="34" charset="0"/>
                <a:ea typeface="Arial" pitchFamily="34" charset="-122"/>
                <a:cs typeface="Arial" pitchFamily="34" charset="-120"/>
              </a:rPr>
              <a:t>4</a:t>
            </a:r>
            <a:endParaRPr lang="en-US" sz="1200" dirty="0"/>
          </a:p>
        </p:txBody>
      </p:sp>
      <p:sp>
        <p:nvSpPr>
          <p:cNvPr id="29" name="Text 26"/>
          <p:cNvSpPr/>
          <p:nvPr/>
        </p:nvSpPr>
        <p:spPr>
          <a:xfrm>
            <a:off x="3703320" y="3044952"/>
            <a:ext cx="4846320" cy="274320"/>
          </a:xfrm>
          <a:prstGeom prst="rect">
            <a:avLst/>
          </a:prstGeom>
          <a:noFill/>
          <a:ln/>
        </p:spPr>
        <p:txBody>
          <a:bodyPr wrap="square" lIns="0" tIns="0" rIns="0" bIns="0" rtlCol="0" anchor="ctr"/>
          <a:lstStyle/>
          <a:p>
            <a:pPr indent="0" marL="0">
              <a:buNone/>
            </a:pPr>
            <a:r>
              <a:rPr lang="en-US" sz="1100" b="1" dirty="0">
                <a:solidFill>
                  <a:srgbClr val="F5F0E8"/>
                </a:solidFill>
                <a:latin typeface="Arial" pitchFamily="34" charset="0"/>
                <a:ea typeface="Arial" pitchFamily="34" charset="-122"/>
                <a:cs typeface="Arial" pitchFamily="34" charset="-120"/>
              </a:rPr>
              <a:t>Use progressive disclosure</a:t>
            </a:r>
            <a:endParaRPr lang="en-US" sz="1100" dirty="0"/>
          </a:p>
        </p:txBody>
      </p:sp>
      <p:sp>
        <p:nvSpPr>
          <p:cNvPr id="30" name="Text 27"/>
          <p:cNvSpPr/>
          <p:nvPr/>
        </p:nvSpPr>
        <p:spPr>
          <a:xfrm>
            <a:off x="3703320" y="3319272"/>
            <a:ext cx="4846320" cy="246888"/>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Start with the executive summary view, then offer drill-downs for those who need detail. Not every audience needs every data point.</a:t>
            </a:r>
            <a:endParaRPr lang="en-US" sz="900" dirty="0"/>
          </a:p>
        </p:txBody>
      </p:sp>
      <p:sp>
        <p:nvSpPr>
          <p:cNvPr id="31" name="Shape 28"/>
          <p:cNvSpPr/>
          <p:nvPr/>
        </p:nvSpPr>
        <p:spPr>
          <a:xfrm>
            <a:off x="3200400" y="3749040"/>
            <a:ext cx="5486400" cy="685800"/>
          </a:xfrm>
          <a:prstGeom prst="rect">
            <a:avLst>
              <a:gd name="adj" fmla="val 8000"/>
            </a:avLst>
          </a:prstGeom>
          <a:solidFill>
            <a:srgbClr val="111D2E"/>
          </a:solidFill>
          <a:ln w="6350">
            <a:solidFill>
              <a:srgbClr val="0A1525"/>
            </a:solidFill>
            <a:prstDash val="solid"/>
          </a:ln>
        </p:spPr>
      </p:sp>
      <p:sp>
        <p:nvSpPr>
          <p:cNvPr id="32" name="Shape 29"/>
          <p:cNvSpPr/>
          <p:nvPr/>
        </p:nvSpPr>
        <p:spPr>
          <a:xfrm>
            <a:off x="3310128" y="3858768"/>
            <a:ext cx="292608" cy="292608"/>
          </a:xfrm>
          <a:prstGeom prst="ellipse">
            <a:avLst/>
          </a:prstGeom>
          <a:solidFill>
            <a:srgbClr val="5391D5"/>
          </a:solidFill>
          <a:ln/>
        </p:spPr>
      </p:sp>
      <p:sp>
        <p:nvSpPr>
          <p:cNvPr id="33" name="Text 30"/>
          <p:cNvSpPr/>
          <p:nvPr/>
        </p:nvSpPr>
        <p:spPr>
          <a:xfrm>
            <a:off x="3310128" y="3858768"/>
            <a:ext cx="292608" cy="292608"/>
          </a:xfrm>
          <a:prstGeom prst="rect">
            <a:avLst/>
          </a:prstGeom>
          <a:noFill/>
          <a:ln/>
        </p:spPr>
        <p:txBody>
          <a:bodyPr wrap="square" lIns="0" tIns="0" rIns="0" bIns="0" rtlCol="0" anchor="ctr"/>
          <a:lstStyle/>
          <a:p>
            <a:pPr algn="ctr" indent="0" marL="0">
              <a:buNone/>
            </a:pPr>
            <a:r>
              <a:rPr lang="en-US" sz="1200" b="1" dirty="0">
                <a:solidFill>
                  <a:srgbClr val="F5F0E8"/>
                </a:solidFill>
                <a:latin typeface="Arial" pitchFamily="34" charset="0"/>
                <a:ea typeface="Arial" pitchFamily="34" charset="-122"/>
                <a:cs typeface="Arial" pitchFamily="34" charset="-120"/>
              </a:rPr>
              <a:t>5</a:t>
            </a:r>
            <a:endParaRPr lang="en-US" sz="1200" dirty="0"/>
          </a:p>
        </p:txBody>
      </p:sp>
      <p:sp>
        <p:nvSpPr>
          <p:cNvPr id="34" name="Text 31"/>
          <p:cNvSpPr/>
          <p:nvPr/>
        </p:nvSpPr>
        <p:spPr>
          <a:xfrm>
            <a:off x="3703320" y="3822192"/>
            <a:ext cx="4846320" cy="274320"/>
          </a:xfrm>
          <a:prstGeom prst="rect">
            <a:avLst/>
          </a:prstGeom>
          <a:noFill/>
          <a:ln/>
        </p:spPr>
        <p:txBody>
          <a:bodyPr wrap="square" lIns="0" tIns="0" rIns="0" bIns="0" rtlCol="0" anchor="ctr"/>
          <a:lstStyle/>
          <a:p>
            <a:pPr indent="0" marL="0">
              <a:buNone/>
            </a:pPr>
            <a:r>
              <a:rPr lang="en-US" sz="1100" b="1" dirty="0">
                <a:solidFill>
                  <a:srgbClr val="F5F0E8"/>
                </a:solidFill>
                <a:latin typeface="Arial" pitchFamily="34" charset="0"/>
                <a:ea typeface="Arial" pitchFamily="34" charset="-122"/>
                <a:cs typeface="Arial" pitchFamily="34" charset="-120"/>
              </a:rPr>
              <a:t>End with a call to action</a:t>
            </a:r>
            <a:endParaRPr lang="en-US" sz="1100" dirty="0"/>
          </a:p>
        </p:txBody>
      </p:sp>
      <p:sp>
        <p:nvSpPr>
          <p:cNvPr id="35" name="Text 32"/>
          <p:cNvSpPr/>
          <p:nvPr/>
        </p:nvSpPr>
        <p:spPr>
          <a:xfrm>
            <a:off x="3703320" y="4096512"/>
            <a:ext cx="4846320" cy="246888"/>
          </a:xfrm>
          <a:prstGeom prst="rect">
            <a:avLst/>
          </a:prstGeom>
          <a:noFill/>
          <a:ln/>
        </p:spPr>
        <p:txBody>
          <a:bodyPr wrap="square" lIns="0" tIns="0" rIns="0" bIns="0" rtlCol="0" anchor="t"/>
          <a:lstStyle/>
          <a:p>
            <a:pPr indent="0" marL="0">
              <a:buNone/>
            </a:pPr>
            <a:r>
              <a:rPr lang="en-US" sz="900" dirty="0">
                <a:solidFill>
                  <a:srgbClr val="8A9BB5"/>
                </a:solidFill>
                <a:latin typeface="Arial" pitchFamily="34" charset="0"/>
                <a:ea typeface="Arial" pitchFamily="34" charset="-122"/>
                <a:cs typeface="Arial" pitchFamily="34" charset="-120"/>
              </a:rPr>
              <a:t>Every financial presentation should conclude with a recommended action. What should the business do differently based on what the data is showing?</a:t>
            </a:r>
            <a:endParaRPr lang="en-US" sz="900" dirty="0"/>
          </a:p>
        </p:txBody>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38" name="Text 33"/>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8 / 10</a:t>
            </a:r>
            <a:endParaRPr lang="en-US" sz="800" dirty="0"/>
          </a:p>
        </p:txBody>
      </p:sp>
    </p:spTree>
  </p:cSld>
  <p:clrMapOvr>
    <a:masterClrMapping/>
  </p:clrMapOvr>
  <p:transition spd="fast" advClick="0" advTm="7140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indent="0" marL="0">
              <a:buNone/>
            </a:pPr>
            <a:r>
              <a:rPr lang="en-US" sz="700" dirty="0">
                <a:solidFill>
                  <a:srgbClr val="8A9BB5"/>
                </a:solidFill>
                <a:latin typeface="Arial" pitchFamily="34" charset="0"/>
                <a:ea typeface="Arial" pitchFamily="34" charset="-122"/>
                <a:cs typeface="Arial" pitchFamily="34" charset="-120"/>
              </a:rPr>
              <a:t>CAIFL &gt; Module 02 &gt; Data Visualization and AI-Powered Reporting</a:t>
            </a:r>
            <a:endParaRPr lang="en-US" sz="700" dirty="0"/>
          </a:p>
        </p:txBody>
      </p:sp>
      <p:sp>
        <p:nvSpPr>
          <p:cNvPr id="3" name="Shape 1"/>
          <p:cNvSpPr/>
          <p:nvPr/>
        </p:nvSpPr>
        <p:spPr>
          <a:xfrm>
            <a:off x="8174736" y="164592"/>
            <a:ext cx="73152" cy="73152"/>
          </a:xfrm>
          <a:prstGeom prst="ellipse">
            <a:avLst/>
          </a:prstGeom>
          <a:solidFill>
            <a:srgbClr val="0A152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indent="0" marL="0">
              <a:buNone/>
            </a:pPr>
            <a:r>
              <a:rPr lang="en-US" sz="800" spc="200" kern="0" dirty="0">
                <a:solidFill>
                  <a:srgbClr val="5391D5"/>
                </a:solidFill>
                <a:latin typeface="Arial" pitchFamily="34" charset="0"/>
                <a:ea typeface="Arial" pitchFamily="34" charset="-122"/>
                <a:cs typeface="Arial" pitchFamily="34" charset="-120"/>
              </a:rPr>
              <a:t>RECAP</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indent="0" marL="0">
              <a:buNone/>
            </a:pPr>
            <a:r>
              <a:rPr lang="en-US" sz="2200" b="1" dirty="0">
                <a:solidFill>
                  <a:srgbClr val="F5F0E8"/>
                </a:solidFill>
                <a:latin typeface="Arial" pitchFamily="34" charset="0"/>
                <a:ea typeface="Arial" pitchFamily="34" charset="-122"/>
                <a:cs typeface="Arial" pitchFamily="34" charset="-120"/>
              </a:rPr>
              <a:t>Lesson 1 Recap</a:t>
            </a:r>
            <a:endParaRPr lang="en-US" sz="2200" dirty="0"/>
          </a:p>
        </p:txBody>
      </p:sp>
      <p:sp>
        <p:nvSpPr>
          <p:cNvPr id="11" name="Shape 8"/>
          <p:cNvSpPr/>
          <p:nvPr/>
        </p:nvSpPr>
        <p:spPr>
          <a:xfrm>
            <a:off x="3200400" y="640080"/>
            <a:ext cx="5486400" cy="914400"/>
          </a:xfrm>
          <a:prstGeom prst="rect">
            <a:avLst>
              <a:gd name="adj" fmla="val 6000"/>
            </a:avLst>
          </a:prstGeom>
          <a:solidFill>
            <a:srgbClr val="111D2E"/>
          </a:solidFill>
          <a:ln w="6350">
            <a:solidFill>
              <a:srgbClr val="0A1525"/>
            </a:solidFill>
            <a:prstDash val="solid"/>
          </a:ln>
        </p:spPr>
      </p:sp>
      <p:sp>
        <p:nvSpPr>
          <p:cNvPr id="12" name="Shape 9"/>
          <p:cNvSpPr/>
          <p:nvPr/>
        </p:nvSpPr>
        <p:spPr>
          <a:xfrm>
            <a:off x="3310128" y="749808"/>
            <a:ext cx="320040" cy="320040"/>
          </a:xfrm>
          <a:prstGeom prst="ellipse">
            <a:avLst/>
          </a:prstGeom>
          <a:solidFill>
            <a:srgbClr val="5391D5">
              <a:alpha val="20000"/>
            </a:srgbClr>
          </a:solidFill>
          <a:ln w="9525">
            <a:solidFill>
              <a:srgbClr val="5391D5"/>
            </a:solidFill>
            <a:prstDash val="solid"/>
          </a:ln>
        </p:spPr>
      </p:sp>
      <p:pic>
        <p:nvPicPr>
          <p:cNvPr id="13" name="Image 1" descr="C:\Users\AimanSadeq\OneDrive - Virginia Institute of Finance\VIFM eLearning Portal\vifm-elearning\scripts\lesson-generator\assets\icons\chart.png">    </p:cNvPr>
          <p:cNvPicPr>
            <a:picLocks noChangeAspect="1"/>
          </p:cNvPicPr>
          <p:nvPr/>
        </p:nvPicPr>
        <p:blipFill>
          <a:blip r:embed="rId2"/>
          <a:stretch>
            <a:fillRect/>
          </a:stretch>
        </p:blipFill>
        <p:spPr>
          <a:xfrm>
            <a:off x="3380537" y="820217"/>
            <a:ext cx="179222" cy="179222"/>
          </a:xfrm>
          <a:prstGeom prst="rect">
            <a:avLst/>
          </a:prstGeom>
        </p:spPr>
      </p:pic>
      <p:sp>
        <p:nvSpPr>
          <p:cNvPr id="14" name="Text 10"/>
          <p:cNvSpPr/>
          <p:nvPr/>
        </p:nvSpPr>
        <p:spPr>
          <a:xfrm>
            <a:off x="3703320" y="731520"/>
            <a:ext cx="4846320" cy="731520"/>
          </a:xfrm>
          <a:prstGeom prst="rect">
            <a:avLst/>
          </a:prstGeom>
          <a:noFill/>
          <a:ln/>
        </p:spPr>
        <p:txBody>
          <a:bodyPr wrap="square" lIns="0" tIns="0" rIns="0" bIns="0" rtlCol="0" anchor="ctr"/>
          <a:lstStyle/>
          <a:p>
            <a:pPr indent="0" marL="0">
              <a:buNone/>
            </a:pPr>
            <a:r>
              <a:rPr lang="en-US" sz="1000" dirty="0">
                <a:solidFill>
                  <a:srgbClr val="F5F0E8"/>
                </a:solidFill>
                <a:latin typeface="Arial" pitchFamily="34" charset="0"/>
                <a:ea typeface="Arial" pitchFamily="34" charset="-122"/>
                <a:cs typeface="Arial" pitchFamily="34" charset="-120"/>
              </a:rPr>
              <a:t>Data visualization bridges the gap between raw financial data and executive decision-making</a:t>
            </a:r>
            <a:endParaRPr lang="en-US" sz="1000" dirty="0"/>
          </a:p>
        </p:txBody>
      </p:sp>
      <p:sp>
        <p:nvSpPr>
          <p:cNvPr id="15" name="Shape 11"/>
          <p:cNvSpPr/>
          <p:nvPr/>
        </p:nvSpPr>
        <p:spPr>
          <a:xfrm>
            <a:off x="3200400" y="1645920"/>
            <a:ext cx="5486400" cy="914400"/>
          </a:xfrm>
          <a:prstGeom prst="rect">
            <a:avLst>
              <a:gd name="adj" fmla="val 6000"/>
            </a:avLst>
          </a:prstGeom>
          <a:solidFill>
            <a:srgbClr val="111D2E"/>
          </a:solidFill>
          <a:ln w="6350">
            <a:solidFill>
              <a:srgbClr val="0A1525"/>
            </a:solidFill>
            <a:prstDash val="solid"/>
          </a:ln>
        </p:spPr>
      </p:sp>
      <p:sp>
        <p:nvSpPr>
          <p:cNvPr id="16" name="Shape 12"/>
          <p:cNvSpPr/>
          <p:nvPr/>
        </p:nvSpPr>
        <p:spPr>
          <a:xfrm>
            <a:off x="3310128" y="1755648"/>
            <a:ext cx="320040" cy="320040"/>
          </a:xfrm>
          <a:prstGeom prst="ellipse">
            <a:avLst/>
          </a:prstGeom>
          <a:solidFill>
            <a:srgbClr val="5391D5">
              <a:alpha val="20000"/>
            </a:srgbClr>
          </a:solidFill>
          <a:ln w="9525">
            <a:solidFill>
              <a:srgbClr val="5391D5"/>
            </a:solidFill>
            <a:prstDash val="solid"/>
          </a:ln>
        </p:spPr>
      </p:sp>
      <p:pic>
        <p:nvPicPr>
          <p:cNvPr id="17" name="Image 2" descr="C:\Users\AimanSadeq\OneDrive - Virginia Institute of Finance\VIFM eLearning Portal\vifm-elearning\scripts\lesson-generator\assets\icons\brain.png">    </p:cNvPr>
          <p:cNvPicPr>
            <a:picLocks noChangeAspect="1"/>
          </p:cNvPicPr>
          <p:nvPr/>
        </p:nvPicPr>
        <p:blipFill>
          <a:blip r:embed="rId3"/>
          <a:stretch>
            <a:fillRect/>
          </a:stretch>
        </p:blipFill>
        <p:spPr>
          <a:xfrm>
            <a:off x="3380537" y="1826057"/>
            <a:ext cx="179222" cy="179222"/>
          </a:xfrm>
          <a:prstGeom prst="rect">
            <a:avLst/>
          </a:prstGeom>
        </p:spPr>
      </p:pic>
      <p:sp>
        <p:nvSpPr>
          <p:cNvPr id="18" name="Text 13"/>
          <p:cNvSpPr/>
          <p:nvPr/>
        </p:nvSpPr>
        <p:spPr>
          <a:xfrm>
            <a:off x="3703320" y="1737360"/>
            <a:ext cx="4846320" cy="731520"/>
          </a:xfrm>
          <a:prstGeom prst="rect">
            <a:avLst/>
          </a:prstGeom>
          <a:noFill/>
          <a:ln/>
        </p:spPr>
        <p:txBody>
          <a:bodyPr wrap="square" lIns="0" tIns="0" rIns="0" bIns="0" rtlCol="0" anchor="ctr"/>
          <a:lstStyle/>
          <a:p>
            <a:pPr indent="0" marL="0">
              <a:buNone/>
            </a:pPr>
            <a:r>
              <a:rPr lang="en-US" sz="1000" dirty="0">
                <a:solidFill>
                  <a:srgbClr val="F5F0E8"/>
                </a:solidFill>
                <a:latin typeface="Arial" pitchFamily="34" charset="0"/>
                <a:ea typeface="Arial" pitchFamily="34" charset="-122"/>
                <a:cs typeface="Arial" pitchFamily="34" charset="-120"/>
              </a:rPr>
              <a:t>AI-powered tools automate reporting with NLG narratives, smart charts, and anomaly detection</a:t>
            </a:r>
            <a:endParaRPr lang="en-US" sz="1000" dirty="0"/>
          </a:p>
        </p:txBody>
      </p:sp>
      <p:sp>
        <p:nvSpPr>
          <p:cNvPr id="19" name="Shape 14"/>
          <p:cNvSpPr/>
          <p:nvPr/>
        </p:nvSpPr>
        <p:spPr>
          <a:xfrm>
            <a:off x="3200400" y="2651760"/>
            <a:ext cx="5486400" cy="914400"/>
          </a:xfrm>
          <a:prstGeom prst="rect">
            <a:avLst>
              <a:gd name="adj" fmla="val 6000"/>
            </a:avLst>
          </a:prstGeom>
          <a:solidFill>
            <a:srgbClr val="111D2E"/>
          </a:solidFill>
          <a:ln w="6350">
            <a:solidFill>
              <a:srgbClr val="0A1525"/>
            </a:solidFill>
            <a:prstDash val="solid"/>
          </a:ln>
        </p:spPr>
      </p:sp>
      <p:sp>
        <p:nvSpPr>
          <p:cNvPr id="20" name="Shape 15"/>
          <p:cNvSpPr/>
          <p:nvPr/>
        </p:nvSpPr>
        <p:spPr>
          <a:xfrm>
            <a:off x="3310128" y="2761488"/>
            <a:ext cx="320040" cy="320040"/>
          </a:xfrm>
          <a:prstGeom prst="ellipse">
            <a:avLst/>
          </a:prstGeom>
          <a:solidFill>
            <a:srgbClr val="5391D5">
              <a:alpha val="20000"/>
            </a:srgbClr>
          </a:solidFill>
          <a:ln w="9525">
            <a:solidFill>
              <a:srgbClr val="5391D5"/>
            </a:solidFill>
            <a:prstDash val="solid"/>
          </a:ln>
        </p:spPr>
      </p:sp>
      <p:pic>
        <p:nvPicPr>
          <p:cNvPr id="21" name="Image 3" descr="C:\Users\AimanSadeq\OneDrive - Virginia Institute of Finance\VIFM eLearning Portal\vifm-elearning\scripts\lesson-generator\assets\icons\building.png">    </p:cNvPr>
          <p:cNvPicPr>
            <a:picLocks noChangeAspect="1"/>
          </p:cNvPicPr>
          <p:nvPr/>
        </p:nvPicPr>
        <p:blipFill>
          <a:blip r:embed="rId4"/>
          <a:stretch>
            <a:fillRect/>
          </a:stretch>
        </p:blipFill>
        <p:spPr>
          <a:xfrm>
            <a:off x="3380537" y="2831897"/>
            <a:ext cx="179222" cy="179222"/>
          </a:xfrm>
          <a:prstGeom prst="rect">
            <a:avLst/>
          </a:prstGeom>
        </p:spPr>
      </p:pic>
      <p:sp>
        <p:nvSpPr>
          <p:cNvPr id="22" name="Text 16"/>
          <p:cNvSpPr/>
          <p:nvPr/>
        </p:nvSpPr>
        <p:spPr>
          <a:xfrm>
            <a:off x="3703320" y="2743200"/>
            <a:ext cx="4846320" cy="731520"/>
          </a:xfrm>
          <a:prstGeom prst="rect">
            <a:avLst/>
          </a:prstGeom>
          <a:noFill/>
          <a:ln/>
        </p:spPr>
        <p:txBody>
          <a:bodyPr wrap="square" lIns="0" tIns="0" rIns="0" bIns="0" rtlCol="0" anchor="ctr"/>
          <a:lstStyle/>
          <a:p>
            <a:pPr indent="0" marL="0">
              <a:buNone/>
            </a:pPr>
            <a:r>
              <a:rPr lang="en-US" sz="1000" dirty="0">
                <a:solidFill>
                  <a:srgbClr val="F5F0E8"/>
                </a:solidFill>
                <a:latin typeface="Arial" pitchFamily="34" charset="0"/>
                <a:ea typeface="Arial" pitchFamily="34" charset="-122"/>
                <a:cs typeface="Arial" pitchFamily="34" charset="-120"/>
              </a:rPr>
              <a:t>The Dashboard Design Pyramid prioritizes strategic KPIs at the top with progressive detail below</a:t>
            </a:r>
            <a:endParaRPr lang="en-US" sz="1000" dirty="0"/>
          </a:p>
        </p:txBody>
      </p:sp>
      <p:sp>
        <p:nvSpPr>
          <p:cNvPr id="23" name="Shape 17"/>
          <p:cNvSpPr/>
          <p:nvPr/>
        </p:nvSpPr>
        <p:spPr>
          <a:xfrm>
            <a:off x="3200400" y="3657600"/>
            <a:ext cx="5486400" cy="914400"/>
          </a:xfrm>
          <a:prstGeom prst="rect">
            <a:avLst>
              <a:gd name="adj" fmla="val 6000"/>
            </a:avLst>
          </a:prstGeom>
          <a:solidFill>
            <a:srgbClr val="111D2E"/>
          </a:solidFill>
          <a:ln w="6350">
            <a:solidFill>
              <a:srgbClr val="0A1525"/>
            </a:solidFill>
            <a:prstDash val="solid"/>
          </a:ln>
        </p:spPr>
      </p:sp>
      <p:sp>
        <p:nvSpPr>
          <p:cNvPr id="24" name="Shape 18"/>
          <p:cNvSpPr/>
          <p:nvPr/>
        </p:nvSpPr>
        <p:spPr>
          <a:xfrm>
            <a:off x="3310128" y="3767328"/>
            <a:ext cx="320040" cy="320040"/>
          </a:xfrm>
          <a:prstGeom prst="ellipse">
            <a:avLst/>
          </a:prstGeom>
          <a:solidFill>
            <a:srgbClr val="5391D5">
              <a:alpha val="20000"/>
            </a:srgbClr>
          </a:solidFill>
          <a:ln w="9525">
            <a:solidFill>
              <a:srgbClr val="5391D5"/>
            </a:solidFill>
            <a:prstDash val="solid"/>
          </a:ln>
        </p:spPr>
      </p:sp>
      <p:pic>
        <p:nvPicPr>
          <p:cNvPr id="25" name="Image 4" descr="C:\Users\AimanSadeq\OneDrive - Virginia Institute of Finance\VIFM eLearning Portal\vifm-elearning\scripts\lesson-generator\assets\icons\document.png">    </p:cNvPr>
          <p:cNvPicPr>
            <a:picLocks noChangeAspect="1"/>
          </p:cNvPicPr>
          <p:nvPr/>
        </p:nvPicPr>
        <p:blipFill>
          <a:blip r:embed="rId5"/>
          <a:stretch>
            <a:fillRect/>
          </a:stretch>
        </p:blipFill>
        <p:spPr>
          <a:xfrm>
            <a:off x="3380537" y="3837737"/>
            <a:ext cx="179222" cy="179222"/>
          </a:xfrm>
          <a:prstGeom prst="rect">
            <a:avLst/>
          </a:prstGeom>
        </p:spPr>
      </p:pic>
      <p:sp>
        <p:nvSpPr>
          <p:cNvPr id="26" name="Text 19"/>
          <p:cNvSpPr/>
          <p:nvPr/>
        </p:nvSpPr>
        <p:spPr>
          <a:xfrm>
            <a:off x="3703320" y="3749040"/>
            <a:ext cx="4846320" cy="731520"/>
          </a:xfrm>
          <a:prstGeom prst="rect">
            <a:avLst/>
          </a:prstGeom>
          <a:noFill/>
          <a:ln/>
        </p:spPr>
        <p:txBody>
          <a:bodyPr wrap="square" lIns="0" tIns="0" rIns="0" bIns="0" rtlCol="0" anchor="ctr"/>
          <a:lstStyle/>
          <a:p>
            <a:pPr indent="0" marL="0">
              <a:buNone/>
            </a:pPr>
            <a:r>
              <a:rPr lang="en-US" sz="1000" dirty="0">
                <a:solidFill>
                  <a:srgbClr val="F5F0E8"/>
                </a:solidFill>
                <a:latin typeface="Arial" pitchFamily="34" charset="0"/>
                <a:ea typeface="Arial" pitchFamily="34" charset="-122"/>
                <a:cs typeface="Arial" pitchFamily="34" charset="-120"/>
              </a:rPr>
              <a:t>Effective data storytelling starts with a headline, provides context, explains causality, and ends with action</a:t>
            </a:r>
            <a:endParaRPr lang="en-US" sz="1000" dirty="0"/>
          </a:p>
        </p:txBody>
      </p:sp>
      <p:pic>
        <p:nvPicPr>
          <p:cNvPr id="8" name="Media 0">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10058400" y="6057900"/>
            <a:ext cx="9144" cy="9144"/>
          </a:xfrm>
          <a:prstGeom prst="rect">
            <a:avLst/>
          </a:prstGeom>
        </p:spPr>
      </p:pic>
      <p:sp>
        <p:nvSpPr>
          <p:cNvPr id="29" name="Text 20"/>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9 / 10</a:t>
            </a:r>
            <a:endParaRPr lang="en-US" sz="800" dirty="0"/>
          </a:p>
        </p:txBody>
      </p:sp>
    </p:spTree>
  </p:cSld>
  <p:clrMapOvr>
    <a:masterClrMapping/>
  </p:clrMapOvr>
  <p:transition spd="fast" advClick="0" advTm="56589">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lIns="0" tIns="0" rIns="0" bIns="0" rtlCol="0" anchor="ctr"/>
          <a:lstStyle/>
          <a:p>
            <a:pPr algn="ctr" indent="0" marL="0">
              <a:buNone/>
            </a:pPr>
            <a:r>
              <a:rPr lang="en-US" sz="3000" b="1" dirty="0">
                <a:solidFill>
                  <a:srgbClr val="F5F0E8"/>
                </a:solidFill>
                <a:latin typeface="Arial" pitchFamily="34" charset="0"/>
                <a:ea typeface="Arial" pitchFamily="34" charset="-122"/>
                <a:cs typeface="Arial" pitchFamily="34" charset="-120"/>
              </a:rPr>
              <a:t>Lesson Complete</a:t>
            </a:r>
            <a:endParaRPr lang="en-US" sz="3000" dirty="0"/>
          </a:p>
        </p:txBody>
      </p:sp>
      <p:sp>
        <p:nvSpPr>
          <p:cNvPr id="3" name="Shape 1"/>
          <p:cNvSpPr/>
          <p:nvPr/>
        </p:nvSpPr>
        <p:spPr>
          <a:xfrm>
            <a:off x="3200400" y="2286000"/>
            <a:ext cx="2743200" cy="0"/>
          </a:xfrm>
          <a:prstGeom prst="line">
            <a:avLst/>
          </a:prstGeom>
          <a:noFill/>
          <a:ln w="12700">
            <a:solidFill>
              <a:srgbClr val="5391D5"/>
            </a:solidFill>
            <a:prstDash val="solid"/>
          </a:ln>
        </p:spPr>
      </p:sp>
      <p:sp>
        <p:nvSpPr>
          <p:cNvPr id="4" name="Text 2"/>
          <p:cNvSpPr/>
          <p:nvPr/>
        </p:nvSpPr>
        <p:spPr>
          <a:xfrm>
            <a:off x="914400" y="2560320"/>
            <a:ext cx="7315200" cy="274320"/>
          </a:xfrm>
          <a:prstGeom prst="rect">
            <a:avLst/>
          </a:prstGeom>
          <a:noFill/>
          <a:ln/>
        </p:spPr>
        <p:txBody>
          <a:bodyPr wrap="square" lIns="0" tIns="0" rIns="0" bIns="0" rtlCol="0" anchor="ctr"/>
          <a:lstStyle/>
          <a:p>
            <a:pPr algn="ctr" indent="0" marL="0">
              <a:buNone/>
            </a:pPr>
            <a:r>
              <a:rPr lang="en-US" sz="1000" spc="300" kern="0" dirty="0">
                <a:solidFill>
                  <a:srgbClr val="5391D5"/>
                </a:solidFill>
                <a:latin typeface="Arial" pitchFamily="34" charset="0"/>
                <a:ea typeface="Arial" pitchFamily="34" charset="-122"/>
                <a:cs typeface="Arial" pitchFamily="34" charset="-120"/>
              </a:rPr>
              <a:t>UP NEXT</a:t>
            </a:r>
            <a:endParaRPr lang="en-US" sz="1000" dirty="0"/>
          </a:p>
        </p:txBody>
      </p:sp>
      <p:sp>
        <p:nvSpPr>
          <p:cNvPr id="5" name="Text 3"/>
          <p:cNvSpPr/>
          <p:nvPr/>
        </p:nvSpPr>
        <p:spPr>
          <a:xfrm>
            <a:off x="914400" y="2926080"/>
            <a:ext cx="7315200" cy="457200"/>
          </a:xfrm>
          <a:prstGeom prst="rect">
            <a:avLst/>
          </a:prstGeom>
          <a:noFill/>
          <a:ln/>
        </p:spPr>
        <p:txBody>
          <a:bodyPr wrap="square" lIns="0" tIns="0" rIns="0" bIns="0" rtlCol="0" anchor="ctr"/>
          <a:lstStyle/>
          <a:p>
            <a:pPr algn="ctr" indent="0" marL="0">
              <a:buNone/>
            </a:pPr>
            <a:r>
              <a:rPr lang="en-US" sz="1600" dirty="0">
                <a:solidFill>
                  <a:srgbClr val="8A9BB5"/>
                </a:solidFill>
                <a:latin typeface="Arial" pitchFamily="34" charset="0"/>
                <a:ea typeface="Arial" pitchFamily="34" charset="-122"/>
                <a:cs typeface="Arial" pitchFamily="34" charset="-120"/>
              </a:rPr>
              <a:t>Descriptive Analytics for Historical Performance</a:t>
            </a:r>
            <a:endParaRPr lang="en-US" sz="1600" dirty="0"/>
          </a:p>
        </p:txBody>
      </p:sp>
      <p:pic>
        <p:nvPicPr>
          <p:cNvPr id="6" name="Image 0" descr="C:\Users\AimanSadeq\OneDrive - Virginia Institute of Finance\VIFM eLearning Portal\vifm-elearning\scripts\lesson-generator\assets\vifm-logo-white.png">    </p:cNvPr>
          <p:cNvPicPr>
            <a:picLocks noChangeAspect="1"/>
          </p:cNvPicPr>
          <p:nvPr/>
        </p:nvPicPr>
        <p:blipFill>
          <a:blip r:embed="rId1"/>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sp>
      <p:pic>
        <p:nvPicPr>
          <p:cNvPr id="4" name="Media 0">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0058400" y="6057900"/>
            <a:ext cx="9144" cy="9144"/>
          </a:xfrm>
          <a:prstGeom prst="rect">
            <a:avLst/>
          </a:prstGeom>
        </p:spPr>
      </p:pic>
      <p:sp>
        <p:nvSpPr>
          <p:cNvPr id="10" name="Text 5"/>
          <p:cNvSpPr/>
          <p:nvPr/>
        </p:nvSpPr>
        <p:spPr>
          <a:xfrm>
            <a:off x="7955280" y="4732020"/>
            <a:ext cx="731520" cy="228600"/>
          </a:xfrm>
          <a:prstGeom prst="rect">
            <a:avLst/>
          </a:prstGeom>
          <a:noFill/>
          <a:ln/>
        </p:spPr>
        <p:txBody>
          <a:bodyPr wrap="square" lIns="0" tIns="0" rIns="0" bIns="0" rtlCol="0" anchor="ctr"/>
          <a:lstStyle/>
          <a:p>
            <a:pPr algn="r" indent="0" marL="0">
              <a:buNone/>
            </a:pPr>
            <a:r>
              <a:rPr lang="en-US" sz="800" dirty="0">
                <a:solidFill>
                  <a:srgbClr val="8A9BB5"/>
                </a:solidFill>
                <a:latin typeface="Arial" pitchFamily="34" charset="0"/>
                <a:ea typeface="Arial" pitchFamily="34" charset="-122"/>
                <a:cs typeface="Arial" pitchFamily="34" charset="-120"/>
              </a:rPr>
              <a:t>10 / 10</a:t>
            </a:r>
            <a:endParaRPr lang="en-US" sz="800" dirty="0"/>
          </a:p>
        </p:txBody>
      </p:sp>
    </p:spTree>
  </p:cSld>
  <p:clrMapOvr>
    <a:masterClrMapping/>
  </p:clrMapOvr>
  <p:transition spd="fast" advClick="0" advTm="27880">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
                                      <p:cBhvr>
                                        <p:cTn id="6" dur="indefinite"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Certified AI Finance Leader</dc:title>
  <dc:subject>PptxGenJS Presentation</dc:subject>
  <dc:creator>Virginia Institute of Finance and Management</dc:creator>
  <cp:lastModifiedBy>Virginia Institute of Finance and Management</cp:lastModifiedBy>
  <cp:revision>1</cp:revision>
  <dcterms:created xsi:type="dcterms:W3CDTF">2026-03-04T22:27:17Z</dcterms:created>
  <dcterms:modified xsi:type="dcterms:W3CDTF">2026-03-04T22:27:17Z</dcterms:modified>
</cp:coreProperties>
</file>