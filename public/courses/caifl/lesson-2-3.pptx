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mp3" ContentType="audio/mp3"/>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Lesson Three of Module Two. This is where we transition from looking backward to looking forward. Predictive analytics represents one of the highest-value applications of AI in finance: the ability to anticipate what will happen before it happens. In this lesson, we will cover the distinction between descriptive and predictive analytics, dive into regression models for financial forecasting, explore time series techniques including ARIMA and Prophet, examine classification models used in credit risk assessment, and conclude with the essential practices of model validation. By the end, you will understand how to select, build, and evaluate predictive models for key financial KPIs.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Three: Predictive Models for Financial KPIs. We will structure this lesson around five key topics. First, understanding the conceptual shift from descriptive to predictive thinking. Second, regression models and when to apply them. Third, time series forecasting methods. Fourth, classification models for credit risk. And fifth, how to validate your models so that you can trust their outputs. Let us begin.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start by clarifying the conceptual difference between descriptive and predictive analytics. Descriptive analytics looks backward and asks what happened, using techniques like aggregation, ratios, and trend analysis to produce reports and dashboards. Predictive analytics looks forward and asks what will happen, using regression, time series, and classification models to produce forecasts, probability estimates, and risk scores. The key value shift is from understanding to anticipation. But here is the critical point: predictive analytics does not replace descriptive analytics. It builds directly on top of it. The quality of your predictions is fundamentally limited by the quality of your historical understanding. That is why we spent all of Lesson Two ensuring your descriptive foundation is solid.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most common questions in predictive analytics is: which model should I use? This decision tree simplifies the selection. Start by asking: what am I predicting? If the answer is a continuous value, like revenue, expense, or cash flow, ask the follow-up question: is the prediction time-dependent? If yes, meaning you are forecasting a metric across sequential time periods, use time series models like ARIMA, Prophet, or LSTM neural networks. If the value is continuous but not inherently time-dependent, such as predicting loan default amounts, use regression models. If you are predicting a category rather than a number, ask whether it is binary or multi-class. For binary outcomes like default versus no default, logistic regression, random forests, and XGBoost are your primary tools. For multi-class outcomes like credit rating categories, use multinomial approaches. Regardless of the model chosen, the final step is always validation and deployment, which we will cover later in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explore regression models in detail. Simple linear regression is the starting point, fitting a straight line to model the relationship between a driver and a KPI. For example, modeling revenue as a function of marketing spend. The key assumption is that the relationship is linear, which you must verify with residual plots. Multiple regression extends this to include several predictors simultaneously. You might predict operating expenses using headcount, facility square footage, and inflation rate as inputs. The challenge with multiple regression is multicollinearity, where your predictors are correlated with each other, making individual coefficient estimates unstable. Always check for this using Variance Inflation Factor analysis. When you have many candidate predictors, regularized regression techniques like Ridge and Lasso become essential. Ridge shrinks all coefficients toward zero to prevent overfitting, while Lasso can actually eliminate variables by shrinking their coefficients to exactly zero. In finance, Lasso is especially powerful when you have dozens of potential drivers and need the model to tell you which ones actually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time-dependent financial metrics, two methods dominate the landscape. ARIMA, which stands for Autoregressive Integrated Moving Average, is the classic statistical approach. It has a strong theoretical foundation and works well for short-to-medium term forecasts where patterns are stable. The trade-off is that it requires stationary data, careful parameter selection using autocorrelation and partial autocorrelation plots, and statistical expertise to use effectively. Prophet, developed by Meta, was designed specifically for business time series that exhibit strong seasonal effects. It decomposes the series into trend, seasonality, holidays, and external regressors. It handles missing data and outliers gracefully, supports multiple seasonal patterns simultaneously, and produces intuitive uncertainty intervals that are easy to communicate to business stakeholders. Prophet is also far more accessible to analysts who may not have deep statistical training. In practice, many finance teams use both: ARIMA for metrics with simple, stable patterns and Prophet for metrics with complex seasonality or when they need quick, robust results without extensive tuning.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Classification models are the backbone of credit risk assessment. Think of the process as a funnel. At the top, you have raw application data: borrower demographics, financial statements, payment history, credit bureau scores, and increasingly, alternative data like transaction patterns. This raw data passes through feature engineering, where you create derived variables such as debt-to-income ratio, payment velocity, credit utilization trends, and financial stability indices. This step typically produces fifty to eighty engineered features. Next, you train multiple candidate models: logistic regression as a baseline, random forest for its ability to capture non-linear relationships, gradient boosting methods like XGBoost for their predictive power, and potentially neural networks for complex patterns. Model selection then identifies the champion model based on metrics like AUC-ROC, Gini coefficient, and the Kolmogorov-Smirnov statistic. The final output is a risk score: a probability of default that is mapped to risk grades from AAA to D, each with an associated loss-given-default estimate. This is how modern lenders make credit decisions at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model is only as good as its validation. Here are six best practices you must follow. First, always maintain a train/test split, reserving twenty to thirty percent of your data as a holdout that the model never touches during training. For time series, this must be a temporal split, not random. Second, use cross-validation, typically k-fold with five or ten folds, to assess stability. For time series, use walk-forward validation where you train on expanding windows. Third, track the right error metrics: RMSE, MAE, and MAPE for regression models, and AUC-ROC, precision, recall, and F1-score for classification models. Always report these on out-of-sample data. Fourth, perform residual analysis. Plot your residuals and look for patterns. Random scatter means a good fit; any visible structure means something is missing. Fifth, monitor the bias-variance trade-off. If training error is low but test error is high, you are overfitting. If both are high, you are underfitting. Sixth, and this is the gold standard in finance, backtest your model by running it on historical periods it was not trained on and comparing the predictions to what actually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question I frequently hear from finance professionals is: how often should we retrain our predictive models? The answer depends on the use case, but here are practical guidelines. For most financial KPI models, quarterly retraining is a good cadence. This captures seasonal shifts and evolving business dynamics. Credit risk models have regulatory expectations: semi-annual retraining with full annual revalidation is standard in most jurisdictions. During economic disruptions, like a recession or pandemic, you may need emergency retraining because the historical relationships your model learned may no longer apply. The most mature organizations do not wait for a scheduled date. They implement model monitoring frameworks that continuously track prediction errors and automatically trigger retraining when performance drifts beyond a predefined threshold. Think of it like a check engine light for your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concludes Lesson Three on Predictive Models for Financial KPIs. You now understand the major modeling techniques, from regression and time series to classification for credit risk, and you know how to validate those models rigorously. In our final lesson, we will bring everything together by exploring how to integrate both descriptive and predictive analytics into financial dashboards that drive organizational action. We will cover dashboard architecture, KPI selection, real-time versus batch processing, and the change management required for successful adoption. See you in Lesson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VIFM_CONTENT">
    <p:bg>
      <p:bgPr>
        <a:solidFill>
          <a:srgbClr val="060A10"/>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VIFM_TITLE">
    <p:bg>
      <p:bgPr>
        <a:solidFill>
          <a:srgbClr val="060A10"/>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audio" Target="../media/media-1-2.mp3"/><Relationship Id="rId3" Type="http://schemas.microsoft.com/office/2007/relationships/media" Target="../media/media-1-2.mp3"/><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audio" Target="../media/media-2-2.mp3"/><Relationship Id="rId3" Type="http://schemas.microsoft.com/office/2007/relationships/media" Target="../media/media-2-2.mp3"/><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audio" Target="../media/media-3-2.mp3"/><Relationship Id="rId3" Type="http://schemas.microsoft.com/office/2007/relationships/media" Target="../media/media-3-2.mp3"/><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audio" Target="../media/media-4-2.mp3"/><Relationship Id="rId3" Type="http://schemas.microsoft.com/office/2007/relationships/media" Target="../media/media-4-2.mp3"/><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audio" Target="../media/media-5-2.mp3"/><Relationship Id="rId3" Type="http://schemas.microsoft.com/office/2007/relationships/media" Target="../media/media-5-2.mp3"/><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audio" Target="../media/media-6-2.mp3"/><Relationship Id="rId3" Type="http://schemas.microsoft.com/office/2007/relationships/media" Target="../media/media-6-2.mp3"/><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audio" Target="../media/media-7-2.mp3"/><Relationship Id="rId3" Type="http://schemas.microsoft.com/office/2007/relationships/media" Target="../media/media-7-2.mp3"/><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audio" Target="../media/media-8-8.mp3"/><Relationship Id="rId9" Type="http://schemas.microsoft.com/office/2007/relationships/media" Target="../media/media-8-8.mp3"/><Relationship Id="rId10" Type="http://schemas.openxmlformats.org/officeDocument/2006/relationships/image" Target="../media/image-8-10.png"/><Relationship Id="rId11" Type="http://schemas.openxmlformats.org/officeDocument/2006/relationships/slideLayout" Target="../slideLayouts/slideLayout2.xml"/><Relationship Id="rId1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audio" Target="../media/media-9-2.mp3"/><Relationship Id="rId3" Type="http://schemas.microsoft.com/office/2007/relationships/media" Target="../media/media-9-2.mp3"/><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audio" Target="../media/media-10-2.mp3"/><Relationship Id="rId3" Type="http://schemas.microsoft.com/office/2007/relationships/media" Target="../media/media-10-2.mp3"/><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914400"/>
            <a:ext cx="8229600" cy="365760"/>
          </a:xfrm>
          <a:prstGeom prst="rect">
            <a:avLst/>
          </a:prstGeom>
          <a:noFill/>
          <a:ln/>
        </p:spPr>
        <p:txBody>
          <a:bodyPr wrap="square" lIns="0" tIns="0" rIns="0" bIns="0" rtlCol="0" anchor="ctr"/>
          <a:lstStyle/>
          <a:p>
            <a:pPr algn="ctr" indent="0" marL="0">
              <a:buNone/>
            </a:pPr>
            <a:r>
              <a:rPr lang="en-US" sz="1400" spc="400" kern="0" dirty="0">
                <a:solidFill>
                  <a:srgbClr val="5391D5"/>
                </a:solidFill>
                <a:latin typeface="Arial" pitchFamily="34" charset="0"/>
                <a:ea typeface="Arial" pitchFamily="34" charset="-122"/>
                <a:cs typeface="Arial" pitchFamily="34" charset="-120"/>
              </a:rPr>
              <a:t>CAIFL</a:t>
            </a:r>
            <a:endParaRPr lang="en-US" sz="1400" dirty="0"/>
          </a:p>
        </p:txBody>
      </p:sp>
      <p:sp>
        <p:nvSpPr>
          <p:cNvPr id="3" name="Text 1"/>
          <p:cNvSpPr/>
          <p:nvPr/>
        </p:nvSpPr>
        <p:spPr>
          <a:xfrm>
            <a:off x="457200" y="1371600"/>
            <a:ext cx="8229600" cy="914400"/>
          </a:xfrm>
          <a:prstGeom prst="rect">
            <a:avLst/>
          </a:prstGeom>
          <a:noFill/>
          <a:ln/>
        </p:spPr>
        <p:txBody>
          <a:bodyPr wrap="square" lIns="0" tIns="0" rIns="0" bIns="0" rtlCol="0" anchor="ctr"/>
          <a:lstStyle/>
          <a:p>
            <a:pPr algn="ctr" indent="0" marL="0">
              <a:buNone/>
            </a:pPr>
            <a:r>
              <a:rPr lang="en-US" sz="3200" b="1" dirty="0">
                <a:solidFill>
                  <a:srgbClr val="F5F0E8"/>
                </a:solidFill>
                <a:latin typeface="Arial" pitchFamily="34" charset="0"/>
                <a:ea typeface="Arial" pitchFamily="34" charset="-122"/>
                <a:cs typeface="Arial" pitchFamily="34" charset="-120"/>
              </a:rPr>
              <a:t>Certified AI Finance Leader</a:t>
            </a:r>
            <a:endParaRPr lang="en-US" sz="3200" dirty="0"/>
          </a:p>
        </p:txBody>
      </p:sp>
      <p:sp>
        <p:nvSpPr>
          <p:cNvPr id="4" name="Text 2"/>
          <p:cNvSpPr/>
          <p:nvPr/>
        </p:nvSpPr>
        <p:spPr>
          <a:xfrm>
            <a:off x="914400" y="2377440"/>
            <a:ext cx="7315200" cy="548640"/>
          </a:xfrm>
          <a:prstGeom prst="rect">
            <a:avLst/>
          </a:prstGeom>
          <a:noFill/>
          <a:ln/>
        </p:spPr>
        <p:txBody>
          <a:bodyPr wrap="square" lIns="0" tIns="0" rIns="0" bIns="0" rtlCol="0" anchor="ctr"/>
          <a:lstStyle/>
          <a:p>
            <a:pPr algn="ctr" indent="0" marL="0">
              <a:buNone/>
            </a:pPr>
            <a:r>
              <a:rPr lang="en-US" sz="1400" dirty="0">
                <a:solidFill>
                  <a:srgbClr val="8A9BB5"/>
                </a:solidFill>
                <a:latin typeface="Arial" pitchFamily="34" charset="0"/>
                <a:ea typeface="Arial" pitchFamily="34" charset="-122"/>
                <a:cs typeface="Arial" pitchFamily="34" charset="-120"/>
              </a:rPr>
              <a:t>Descriptive &amp; Predictive Analytics for Finance</a:t>
            </a:r>
            <a:endParaRPr lang="en-US" sz="1400" dirty="0"/>
          </a:p>
        </p:txBody>
      </p:sp>
      <p:sp>
        <p:nvSpPr>
          <p:cNvPr id="5" name="Text 3"/>
          <p:cNvSpPr/>
          <p:nvPr/>
        </p:nvSpPr>
        <p:spPr>
          <a:xfrm>
            <a:off x="914400" y="3108960"/>
            <a:ext cx="7315200" cy="365760"/>
          </a:xfrm>
          <a:prstGeom prst="rect">
            <a:avLst/>
          </a:prstGeom>
          <a:noFill/>
          <a:ln/>
        </p:spPr>
        <p:txBody>
          <a:bodyPr wrap="square" lIns="0" tIns="0" rIns="0" bIns="0" rtlCol="0" anchor="ctr"/>
          <a:lstStyle/>
          <a:p>
            <a:pPr algn="ctr" indent="0" marL="0">
              <a:buNone/>
            </a:pPr>
            <a:r>
              <a:rPr lang="en-US" sz="1200" dirty="0">
                <a:solidFill>
                  <a:srgbClr val="5391D5"/>
                </a:solidFill>
                <a:latin typeface="Arial" pitchFamily="34" charset="0"/>
                <a:ea typeface="Arial" pitchFamily="34" charset="-122"/>
                <a:cs typeface="Arial" pitchFamily="34" charset="-120"/>
              </a:rPr>
              <a:t>Lesson 03</a:t>
            </a:r>
            <a:endParaRPr lang="en-US" sz="1200" dirty="0"/>
          </a:p>
        </p:txBody>
      </p:sp>
      <p:sp>
        <p:nvSpPr>
          <p:cNvPr id="6" name="Shape 4"/>
          <p:cNvSpPr/>
          <p:nvPr/>
        </p:nvSpPr>
        <p:spPr>
          <a:xfrm>
            <a:off x="3200400" y="2926080"/>
            <a:ext cx="2743200" cy="0"/>
          </a:xfrm>
          <a:prstGeom prst="line">
            <a:avLst/>
          </a:prstGeom>
          <a:noFill/>
          <a:ln w="12700">
            <a:solidFill>
              <a:srgbClr val="5391D5"/>
            </a:solidFill>
            <a:prstDash val="solid"/>
          </a:ln>
        </p:spPr>
      </p:sp>
      <p:pic>
        <p:nvPicPr>
          <p:cNvPr id="7" name="Image 0" descr="C:\Users\AimanSadeq\OneDrive - Virginia Institute of Finance\VIFM eLearning Portal\vifm-elearning\scripts\lesson-generator\assets\vifm-logo-white.png">    </p:cNvPr>
          <p:cNvPicPr>
            <a:picLocks noChangeAspect="1"/>
          </p:cNvPicPr>
          <p:nvPr/>
        </p:nvPicPr>
        <p:blipFill>
          <a:blip r:embed="rId1"/>
          <a:stretch>
            <a:fillRect/>
          </a:stretch>
        </p:blipFill>
        <p:spPr>
          <a:xfrm>
            <a:off x="457200" y="4686300"/>
            <a:ext cx="810491" cy="182880"/>
          </a:xfrm>
          <a:prstGeom prst="rect">
            <a:avLst/>
          </a:prstGeom>
        </p:spPr>
      </p:pic>
      <p:sp>
        <p:nvSpPr>
          <p:cNvPr id="8" name="Shape 5"/>
          <p:cNvSpPr/>
          <p:nvPr/>
        </p:nvSpPr>
        <p:spPr>
          <a:xfrm>
            <a:off x="0" y="5106924"/>
            <a:ext cx="9144000" cy="36576"/>
          </a:xfrm>
          <a:prstGeom prst="rect">
            <a:avLst/>
          </a:prstGeom>
          <a:solidFill>
            <a:srgbClr val="5391D5"/>
          </a:solidFill>
          <a:ln/>
        </p:spPr>
      </p:sp>
      <p:pic>
        <p:nvPicPr>
          <p:cNvPr id="4" name="Media 0">
            <a:hlinkClick r:id="" action="ppaction://media"/>
          </p:cNvPr>
          <p:cNvPicPr>
            <a:picLocks noChangeAspect="1"/>
          </p:cNvPicPr>
          <p:nvPr>
            <a:audioFile r:link="rId2"/>
            <p:extLst>
              <p:ext uri="{DAA4B4D4-6D71-4841-9C94-3DE7FCFB9230}">
                <p14:media xmlns:p14="http://schemas.microsoft.com/office/powerpoint/2010/main" r:embed="rId3"/>
              </p:ext>
            </p:extLst>
          </p:nvPr>
        </p:nvPicPr>
        <p:blipFill>
          <a:blip r:embed="rId4"/>
          <a:stretch>
            <a:fillRect/>
          </a:stretch>
        </p:blipFill>
        <p:spPr>
          <a:xfrm>
            <a:off x="10058400" y="6057900"/>
            <a:ext cx="9144" cy="9144"/>
          </a:xfrm>
          <a:prstGeom prst="rect">
            <a:avLst/>
          </a:prstGeom>
        </p:spPr>
      </p:pic>
      <p:sp>
        <p:nvSpPr>
          <p:cNvPr id="11" name="Text 6"/>
          <p:cNvSpPr/>
          <p:nvPr/>
        </p:nvSpPr>
        <p:spPr>
          <a:xfrm>
            <a:off x="7955280" y="4732020"/>
            <a:ext cx="731520" cy="228600"/>
          </a:xfrm>
          <a:prstGeom prst="rect">
            <a:avLst/>
          </a:prstGeom>
          <a:noFill/>
          <a:ln/>
        </p:spPr>
        <p:txBody>
          <a:bodyPr wrap="square" lIns="0" tIns="0" rIns="0" bIns="0" rtlCol="0" anchor="ctr"/>
          <a:lstStyle/>
          <a:p>
            <a:pPr algn="r" indent="0" marL="0">
              <a:buNone/>
            </a:pPr>
            <a:r>
              <a:rPr lang="en-US" sz="800" dirty="0">
                <a:solidFill>
                  <a:srgbClr val="8A9BB5"/>
                </a:solidFill>
                <a:latin typeface="Arial" pitchFamily="34" charset="0"/>
                <a:ea typeface="Arial" pitchFamily="34" charset="-122"/>
                <a:cs typeface="Arial" pitchFamily="34" charset="-120"/>
              </a:rPr>
              <a:t>1 / 10</a:t>
            </a:r>
            <a:endParaRPr lang="en-US" sz="800" dirty="0"/>
          </a:p>
        </p:txBody>
      </p:sp>
    </p:spTree>
  </p:cSld>
  <p:clrMapOvr>
    <a:masterClrMapping/>
  </p:clrMapOvr>
  <p:transition spd="fast" advClick="0" advTm="43945">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 presetClass="mediacall" presetSubtype="0" fill="hold" nodeType="withEffect">
                                  <p:stCondLst>
                                    <p:cond delay="0"/>
                                  </p:stCondLst>
                                  <p:childTnLst>
                                    <p:cmd type="call" cmd="playFrom(0)">
                                      <p:cBhvr>
                                        <p:cTn id="6" dur="indefinite"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1097280"/>
            <a:ext cx="8229600" cy="365760"/>
          </a:xfrm>
          <a:prstGeom prst="rect">
            <a:avLst/>
          </a:prstGeom>
          <a:noFill/>
          <a:ln/>
        </p:spPr>
        <p:txBody>
          <a:bodyPr wrap="square" lIns="0" tIns="0" rIns="0" bIns="0" rtlCol="0" anchor="ctr"/>
          <a:lstStyle/>
          <a:p>
            <a:pPr algn="ctr" indent="0" marL="0">
              <a:buNone/>
            </a:pPr>
            <a:r>
              <a:rPr lang="en-US" sz="1200" spc="400" kern="0" dirty="0">
                <a:solidFill>
                  <a:srgbClr val="5391D5"/>
                </a:solidFill>
                <a:latin typeface="Arial" pitchFamily="34" charset="0"/>
                <a:ea typeface="Arial" pitchFamily="34" charset="-122"/>
                <a:cs typeface="Arial" pitchFamily="34" charset="-120"/>
              </a:rPr>
              <a:t>MODULE 02</a:t>
            </a:r>
            <a:endParaRPr lang="en-US" sz="1200" dirty="0"/>
          </a:p>
        </p:txBody>
      </p:sp>
      <p:sp>
        <p:nvSpPr>
          <p:cNvPr id="3" name="Text 1"/>
          <p:cNvSpPr/>
          <p:nvPr/>
        </p:nvSpPr>
        <p:spPr>
          <a:xfrm>
            <a:off x="457200" y="1554480"/>
            <a:ext cx="8229600" cy="822960"/>
          </a:xfrm>
          <a:prstGeom prst="rect">
            <a:avLst/>
          </a:prstGeom>
          <a:noFill/>
          <a:ln/>
        </p:spPr>
        <p:txBody>
          <a:bodyPr wrap="square" lIns="0" tIns="0" rIns="0" bIns="0" rtlCol="0" anchor="ctr"/>
          <a:lstStyle/>
          <a:p>
            <a:pPr algn="ctr" indent="0" marL="0">
              <a:buNone/>
            </a:pPr>
            <a:r>
              <a:rPr lang="en-US" sz="2800" b="1" dirty="0">
                <a:solidFill>
                  <a:srgbClr val="F5F0E8"/>
                </a:solidFill>
                <a:latin typeface="Arial" pitchFamily="34" charset="0"/>
                <a:ea typeface="Arial" pitchFamily="34" charset="-122"/>
                <a:cs typeface="Arial" pitchFamily="34" charset="-120"/>
              </a:rPr>
              <a:t>Descriptive &amp; Predictive Analytics for Finance</a:t>
            </a:r>
            <a:endParaRPr lang="en-US" sz="2800" dirty="0"/>
          </a:p>
        </p:txBody>
      </p:sp>
      <p:sp>
        <p:nvSpPr>
          <p:cNvPr id="4" name="Shape 2"/>
          <p:cNvSpPr/>
          <p:nvPr/>
        </p:nvSpPr>
        <p:spPr>
          <a:xfrm>
            <a:off x="3200400" y="2560320"/>
            <a:ext cx="2743200" cy="0"/>
          </a:xfrm>
          <a:prstGeom prst="line">
            <a:avLst/>
          </a:prstGeom>
          <a:noFill/>
          <a:ln w="12700">
            <a:solidFill>
              <a:srgbClr val="5391D5"/>
            </a:solidFill>
            <a:prstDash val="solid"/>
          </a:ln>
        </p:spPr>
      </p:sp>
      <p:sp>
        <p:nvSpPr>
          <p:cNvPr id="5" name="Text 3"/>
          <p:cNvSpPr/>
          <p:nvPr/>
        </p:nvSpPr>
        <p:spPr>
          <a:xfrm>
            <a:off x="914400" y="2743200"/>
            <a:ext cx="7315200" cy="548640"/>
          </a:xfrm>
          <a:prstGeom prst="rect">
            <a:avLst/>
          </a:prstGeom>
          <a:noFill/>
          <a:ln/>
        </p:spPr>
        <p:txBody>
          <a:bodyPr wrap="square" lIns="0" tIns="0" rIns="0" bIns="0" rtlCol="0" anchor="ctr"/>
          <a:lstStyle/>
          <a:p>
            <a:pPr algn="ctr" indent="0" marL="0">
              <a:buNone/>
            </a:pPr>
            <a:r>
              <a:rPr lang="en-US" sz="1600" dirty="0">
                <a:solidFill>
                  <a:srgbClr val="8A9BB5"/>
                </a:solidFill>
                <a:latin typeface="Arial" pitchFamily="34" charset="0"/>
                <a:ea typeface="Arial" pitchFamily="34" charset="-122"/>
                <a:cs typeface="Arial" pitchFamily="34" charset="-120"/>
              </a:rPr>
              <a:t>Predictive Models for Financial KPIs</a:t>
            </a:r>
            <a:endParaRPr lang="en-US" sz="1600" dirty="0"/>
          </a:p>
        </p:txBody>
      </p:sp>
      <p:pic>
        <p:nvPicPr>
          <p:cNvPr id="6" name="Image 0" descr="C:\Users\AimanSadeq\OneDrive - Virginia Institute of Finance\VIFM eLearning Portal\vifm-elearning\scripts\lesson-generator\assets\vifm-logo-white.png">    </p:cNvPr>
          <p:cNvPicPr>
            <a:picLocks noChangeAspect="1"/>
          </p:cNvPicPr>
          <p:nvPr/>
        </p:nvPicPr>
        <p:blipFill>
          <a:blip r:embed="rId1"/>
          <a:stretch>
            <a:fillRect/>
          </a:stretch>
        </p:blipFill>
        <p:spPr>
          <a:xfrm>
            <a:off x="457200" y="4686300"/>
            <a:ext cx="810491" cy="182880"/>
          </a:xfrm>
          <a:prstGeom prst="rect">
            <a:avLst/>
          </a:prstGeom>
        </p:spPr>
      </p:pic>
      <p:sp>
        <p:nvSpPr>
          <p:cNvPr id="7" name="Shape 4"/>
          <p:cNvSpPr/>
          <p:nvPr/>
        </p:nvSpPr>
        <p:spPr>
          <a:xfrm>
            <a:off x="0" y="5106924"/>
            <a:ext cx="9144000" cy="36576"/>
          </a:xfrm>
          <a:prstGeom prst="rect">
            <a:avLst/>
          </a:prstGeom>
          <a:solidFill>
            <a:srgbClr val="5391D5"/>
          </a:solidFill>
          <a:ln/>
        </p:spPr>
      </p:sp>
      <p:pic>
        <p:nvPicPr>
          <p:cNvPr id="4" name="Media 0">
            <a:hlinkClick r:id="" action="ppaction://media"/>
          </p:cNvPr>
          <p:cNvPicPr>
            <a:picLocks noChangeAspect="1"/>
          </p:cNvPicPr>
          <p:nvPr>
            <a:audioFile r:link="rId2"/>
            <p:extLst>
              <p:ext uri="{DAA4B4D4-6D71-4841-9C94-3DE7FCFB9230}">
                <p14:media xmlns:p14="http://schemas.microsoft.com/office/powerpoint/2010/main" r:embed="rId3"/>
              </p:ext>
            </p:extLst>
          </p:nvPr>
        </p:nvPicPr>
        <p:blipFill>
          <a:blip r:embed="rId4"/>
          <a:stretch>
            <a:fillRect/>
          </a:stretch>
        </p:blipFill>
        <p:spPr>
          <a:xfrm>
            <a:off x="10058400" y="6057900"/>
            <a:ext cx="9144" cy="9144"/>
          </a:xfrm>
          <a:prstGeom prst="rect">
            <a:avLst/>
          </a:prstGeom>
        </p:spPr>
      </p:pic>
      <p:sp>
        <p:nvSpPr>
          <p:cNvPr id="10" name="Text 5"/>
          <p:cNvSpPr/>
          <p:nvPr/>
        </p:nvSpPr>
        <p:spPr>
          <a:xfrm>
            <a:off x="7955280" y="4732020"/>
            <a:ext cx="731520" cy="228600"/>
          </a:xfrm>
          <a:prstGeom prst="rect">
            <a:avLst/>
          </a:prstGeom>
          <a:noFill/>
          <a:ln/>
        </p:spPr>
        <p:txBody>
          <a:bodyPr wrap="square" lIns="0" tIns="0" rIns="0" bIns="0" rtlCol="0" anchor="ctr"/>
          <a:lstStyle/>
          <a:p>
            <a:pPr algn="r" indent="0" marL="0">
              <a:buNone/>
            </a:pPr>
            <a:r>
              <a:rPr lang="en-US" sz="800" dirty="0">
                <a:solidFill>
                  <a:srgbClr val="8A9BB5"/>
                </a:solidFill>
                <a:latin typeface="Arial" pitchFamily="34" charset="0"/>
                <a:ea typeface="Arial" pitchFamily="34" charset="-122"/>
                <a:cs typeface="Arial" pitchFamily="34" charset="-120"/>
              </a:rPr>
              <a:t>2 / 10</a:t>
            </a:r>
            <a:endParaRPr lang="en-US" sz="800" dirty="0"/>
          </a:p>
        </p:txBody>
      </p:sp>
    </p:spTree>
  </p:cSld>
  <p:clrMapOvr>
    <a:masterClrMapping/>
  </p:clrMapOvr>
  <p:transition spd="fast" advClick="0" advTm="25973">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 presetClass="mediacall" presetSubtype="0" fill="hold" nodeType="withEffect">
                                  <p:stCondLst>
                                    <p:cond delay="0"/>
                                  </p:stCondLst>
                                  <p:childTnLst>
                                    <p:cmd type="call" cmd="playFrom(0)">
                                      <p:cBhvr>
                                        <p:cTn id="6" dur="indefinite"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137160"/>
            <a:ext cx="6400800" cy="228600"/>
          </a:xfrm>
          <a:prstGeom prst="rect">
            <a:avLst/>
          </a:prstGeom>
          <a:noFill/>
          <a:ln/>
        </p:spPr>
        <p:txBody>
          <a:bodyPr wrap="square" lIns="0" tIns="0" rIns="0" bIns="0" rtlCol="0" anchor="ctr"/>
          <a:lstStyle/>
          <a:p>
            <a:pPr indent="0" marL="0">
              <a:buNone/>
            </a:pPr>
            <a:r>
              <a:rPr lang="en-US" sz="700" dirty="0">
                <a:solidFill>
                  <a:srgbClr val="8A9BB5"/>
                </a:solidFill>
                <a:latin typeface="Arial" pitchFamily="34" charset="0"/>
                <a:ea typeface="Arial" pitchFamily="34" charset="-122"/>
                <a:cs typeface="Arial" pitchFamily="34" charset="-120"/>
              </a:rPr>
              <a:t>CAIFL &gt; Module 02 &gt; Predictive Models for Financial KPIs</a:t>
            </a:r>
            <a:endParaRPr lang="en-US" sz="700" dirty="0"/>
          </a:p>
        </p:txBody>
      </p:sp>
      <p:sp>
        <p:nvSpPr>
          <p:cNvPr id="3" name="Shape 1"/>
          <p:cNvSpPr/>
          <p:nvPr/>
        </p:nvSpPr>
        <p:spPr>
          <a:xfrm>
            <a:off x="8174736" y="164592"/>
            <a:ext cx="73152" cy="73152"/>
          </a:xfrm>
          <a:prstGeom prst="ellipse">
            <a:avLst/>
          </a:prstGeom>
          <a:solidFill>
            <a:srgbClr val="5391D5"/>
          </a:solidFill>
          <a:ln w="6350">
            <a:solidFill>
              <a:srgbClr val="8A9BB5"/>
            </a:solidFill>
            <a:prstDash val="solid"/>
          </a:ln>
        </p:spPr>
      </p:sp>
      <p:sp>
        <p:nvSpPr>
          <p:cNvPr id="4" name="Shape 2"/>
          <p:cNvSpPr/>
          <p:nvPr/>
        </p:nvSpPr>
        <p:spPr>
          <a:xfrm>
            <a:off x="8302752" y="164592"/>
            <a:ext cx="73152" cy="73152"/>
          </a:xfrm>
          <a:prstGeom prst="ellipse">
            <a:avLst/>
          </a:prstGeom>
          <a:solidFill>
            <a:srgbClr val="5391D5"/>
          </a:solidFill>
          <a:ln w="6350">
            <a:solidFill>
              <a:srgbClr val="8A9BB5"/>
            </a:solidFill>
            <a:prstDash val="solid"/>
          </a:ln>
        </p:spPr>
      </p:sp>
      <p:sp>
        <p:nvSpPr>
          <p:cNvPr id="5" name="Shape 3"/>
          <p:cNvSpPr/>
          <p:nvPr/>
        </p:nvSpPr>
        <p:spPr>
          <a:xfrm>
            <a:off x="8430768" y="164592"/>
            <a:ext cx="73152" cy="73152"/>
          </a:xfrm>
          <a:prstGeom prst="ellipse">
            <a:avLst/>
          </a:prstGeom>
          <a:solidFill>
            <a:srgbClr val="0A1525"/>
          </a:solidFill>
          <a:ln w="6350">
            <a:solidFill>
              <a:srgbClr val="8A9BB5"/>
            </a:solidFill>
            <a:prstDash val="solid"/>
          </a:ln>
        </p:spPr>
      </p:sp>
      <p:sp>
        <p:nvSpPr>
          <p:cNvPr id="6" name="Shape 4"/>
          <p:cNvSpPr/>
          <p:nvPr/>
        </p:nvSpPr>
        <p:spPr>
          <a:xfrm>
            <a:off x="8558784" y="164592"/>
            <a:ext cx="73152" cy="73152"/>
          </a:xfrm>
          <a:prstGeom prst="ellipse">
            <a:avLst/>
          </a:prstGeom>
          <a:solidFill>
            <a:srgbClr val="0A1525"/>
          </a:solidFill>
          <a:ln w="6350">
            <a:solidFill>
              <a:srgbClr val="8A9BB5"/>
            </a:solidFill>
            <a:prstDash val="solid"/>
          </a:ln>
        </p:spPr>
      </p:sp>
      <p:pic>
        <p:nvPicPr>
          <p:cNvPr id="7" name="Image 0" descr="C:\Users\AimanSadeq\OneDrive - Virginia Institute of Finance\VIFM eLearning Portal\vifm-elearning\scripts\lesson-generator\assets\vifm-logo-white.png">    </p:cNvPr>
          <p:cNvPicPr>
            <a:picLocks noChangeAspect="1"/>
          </p:cNvPicPr>
          <p:nvPr/>
        </p:nvPicPr>
        <p:blipFill>
          <a:blip r:embed="rId1"/>
          <a:stretch>
            <a:fillRect/>
          </a:stretch>
        </p:blipFill>
        <p:spPr>
          <a:xfrm>
            <a:off x="457200" y="4686300"/>
            <a:ext cx="810491" cy="182880"/>
          </a:xfrm>
          <a:prstGeom prst="rect">
            <a:avLst/>
          </a:prstGeom>
        </p:spPr>
      </p:pic>
      <p:sp>
        <p:nvSpPr>
          <p:cNvPr id="8" name="Shape 5"/>
          <p:cNvSpPr/>
          <p:nvPr/>
        </p:nvSpPr>
        <p:spPr>
          <a:xfrm>
            <a:off x="0" y="5106924"/>
            <a:ext cx="9144000" cy="36576"/>
          </a:xfrm>
          <a:prstGeom prst="rect">
            <a:avLst/>
          </a:prstGeom>
          <a:solidFill>
            <a:srgbClr val="5391D5"/>
          </a:solidFill>
          <a:ln/>
        </p:spPr>
      </p:sp>
      <p:sp>
        <p:nvSpPr>
          <p:cNvPr id="9" name="Text 6"/>
          <p:cNvSpPr/>
          <p:nvPr/>
        </p:nvSpPr>
        <p:spPr>
          <a:xfrm>
            <a:off x="457200" y="640080"/>
            <a:ext cx="2560320" cy="228600"/>
          </a:xfrm>
          <a:prstGeom prst="rect">
            <a:avLst/>
          </a:prstGeom>
          <a:noFill/>
          <a:ln/>
        </p:spPr>
        <p:txBody>
          <a:bodyPr wrap="square" lIns="0" tIns="0" rIns="0" bIns="0" rtlCol="0" anchor="ctr"/>
          <a:lstStyle/>
          <a:p>
            <a:pPr indent="0" marL="0">
              <a:buNone/>
            </a:pPr>
            <a:r>
              <a:rPr lang="en-US" sz="800" spc="200" kern="0" dirty="0">
                <a:solidFill>
                  <a:srgbClr val="5391D5"/>
                </a:solidFill>
                <a:latin typeface="Arial" pitchFamily="34" charset="0"/>
                <a:ea typeface="Arial" pitchFamily="34" charset="-122"/>
                <a:cs typeface="Arial" pitchFamily="34" charset="-120"/>
              </a:rPr>
              <a:t>CONCEPTUAL SHIFT</a:t>
            </a:r>
            <a:endParaRPr lang="en-US" sz="800" dirty="0"/>
          </a:p>
        </p:txBody>
      </p:sp>
      <p:sp>
        <p:nvSpPr>
          <p:cNvPr id="10" name="Text 7"/>
          <p:cNvSpPr/>
          <p:nvPr/>
        </p:nvSpPr>
        <p:spPr>
          <a:xfrm>
            <a:off x="457200" y="868680"/>
            <a:ext cx="2560320" cy="1097280"/>
          </a:xfrm>
          <a:prstGeom prst="rect">
            <a:avLst/>
          </a:prstGeom>
          <a:noFill/>
          <a:ln/>
        </p:spPr>
        <p:txBody>
          <a:bodyPr wrap="square" lIns="0" tIns="0" rIns="0" bIns="0" rtlCol="0" anchor="t"/>
          <a:lstStyle/>
          <a:p>
            <a:pPr indent="0" marL="0">
              <a:buNone/>
            </a:pPr>
            <a:r>
              <a:rPr lang="en-US" sz="2200" b="1" dirty="0">
                <a:solidFill>
                  <a:srgbClr val="F5F0E8"/>
                </a:solidFill>
                <a:latin typeface="Arial" pitchFamily="34" charset="0"/>
                <a:ea typeface="Arial" pitchFamily="34" charset="-122"/>
                <a:cs typeface="Arial" pitchFamily="34" charset="-120"/>
              </a:rPr>
              <a:t>Descriptive vs. </a:t>
            </a:r>
            <a:pPr indent="0" marL="0">
              <a:buNone/>
            </a:pPr>
            <a:r>
              <a:rPr lang="en-US" sz="2200" b="1" dirty="0">
                <a:solidFill>
                  <a:srgbClr val="5391D5"/>
                </a:solidFill>
                <a:latin typeface="Arial" pitchFamily="34" charset="0"/>
                <a:ea typeface="Arial" pitchFamily="34" charset="-122"/>
                <a:cs typeface="Arial" pitchFamily="34" charset="-120"/>
              </a:rPr>
              <a:t>Predictive</a:t>
            </a:r>
            <a:pPr indent="0" marL="0">
              <a:buNone/>
            </a:pPr>
            <a:r>
              <a:rPr lang="en-US" sz="2200" b="1" dirty="0">
                <a:solidFill>
                  <a:srgbClr val="F5F0E8"/>
                </a:solidFill>
                <a:latin typeface="Arial" pitchFamily="34" charset="0"/>
                <a:ea typeface="Arial" pitchFamily="34" charset="-122"/>
                <a:cs typeface="Arial" pitchFamily="34" charset="-120"/>
              </a:rPr>
              <a:t> Analytics</a:t>
            </a:r>
            <a:endParaRPr lang="en-US" sz="2200" dirty="0"/>
          </a:p>
        </p:txBody>
      </p:sp>
      <p:sp>
        <p:nvSpPr>
          <p:cNvPr id="11" name="Shape 8"/>
          <p:cNvSpPr/>
          <p:nvPr/>
        </p:nvSpPr>
        <p:spPr>
          <a:xfrm>
            <a:off x="3200400" y="640080"/>
            <a:ext cx="5486400" cy="320040"/>
          </a:xfrm>
          <a:prstGeom prst="rect">
            <a:avLst>
              <a:gd name="adj" fmla="val 17143"/>
            </a:avLst>
          </a:prstGeom>
          <a:solidFill>
            <a:srgbClr val="111D2E"/>
          </a:solidFill>
          <a:ln w="6350">
            <a:solidFill>
              <a:srgbClr val="0A1525"/>
            </a:solidFill>
            <a:prstDash val="solid"/>
          </a:ln>
        </p:spPr>
      </p:sp>
      <p:sp>
        <p:nvSpPr>
          <p:cNvPr id="12" name="Text 9"/>
          <p:cNvSpPr/>
          <p:nvPr/>
        </p:nvSpPr>
        <p:spPr>
          <a:xfrm>
            <a:off x="3291840" y="685800"/>
            <a:ext cx="1353312" cy="228600"/>
          </a:xfrm>
          <a:prstGeom prst="rect">
            <a:avLst/>
          </a:prstGeom>
          <a:noFill/>
          <a:ln/>
        </p:spPr>
        <p:txBody>
          <a:bodyPr wrap="square" lIns="0" tIns="0" rIns="0" bIns="0" rtlCol="0" anchor="ctr"/>
          <a:lstStyle/>
          <a:p>
            <a:pPr indent="0" marL="0">
              <a:buNone/>
            </a:pPr>
            <a:endParaRPr lang="en-US" sz="900" dirty="0"/>
          </a:p>
        </p:txBody>
      </p:sp>
      <p:sp>
        <p:nvSpPr>
          <p:cNvPr id="13" name="Text 10"/>
          <p:cNvSpPr/>
          <p:nvPr/>
        </p:nvSpPr>
        <p:spPr>
          <a:xfrm>
            <a:off x="4736592" y="685800"/>
            <a:ext cx="1975104" cy="228600"/>
          </a:xfrm>
          <a:prstGeom prst="rect">
            <a:avLst/>
          </a:prstGeom>
          <a:noFill/>
          <a:ln/>
        </p:spPr>
        <p:txBody>
          <a:bodyPr wrap="square" lIns="0" tIns="0" rIns="0" bIns="0" rtlCol="0" anchor="ctr"/>
          <a:lstStyle/>
          <a:p>
            <a:pPr algn="ctr" indent="0" marL="0">
              <a:buNone/>
            </a:pPr>
            <a:r>
              <a:rPr lang="en-US" sz="900" b="1" dirty="0">
                <a:solidFill>
                  <a:srgbClr val="5391D5"/>
                </a:solidFill>
                <a:latin typeface="Arial" pitchFamily="34" charset="0"/>
                <a:ea typeface="Arial" pitchFamily="34" charset="-122"/>
                <a:cs typeface="Arial" pitchFamily="34" charset="-120"/>
              </a:rPr>
              <a:t>Descriptive</a:t>
            </a:r>
            <a:endParaRPr lang="en-US" sz="900" dirty="0"/>
          </a:p>
        </p:txBody>
      </p:sp>
      <p:sp>
        <p:nvSpPr>
          <p:cNvPr id="14" name="Text 11"/>
          <p:cNvSpPr/>
          <p:nvPr/>
        </p:nvSpPr>
        <p:spPr>
          <a:xfrm>
            <a:off x="6711696" y="685800"/>
            <a:ext cx="1975104" cy="228600"/>
          </a:xfrm>
          <a:prstGeom prst="rect">
            <a:avLst/>
          </a:prstGeom>
          <a:noFill/>
          <a:ln/>
        </p:spPr>
        <p:txBody>
          <a:bodyPr wrap="square" lIns="0" tIns="0" rIns="0" bIns="0" rtlCol="0" anchor="ctr"/>
          <a:lstStyle/>
          <a:p>
            <a:pPr algn="ctr" indent="0" marL="0">
              <a:buNone/>
            </a:pPr>
            <a:r>
              <a:rPr lang="en-US" sz="900" b="1" dirty="0">
                <a:solidFill>
                  <a:srgbClr val="5391D5"/>
                </a:solidFill>
                <a:latin typeface="Arial" pitchFamily="34" charset="0"/>
                <a:ea typeface="Arial" pitchFamily="34" charset="-122"/>
                <a:cs typeface="Arial" pitchFamily="34" charset="-120"/>
              </a:rPr>
              <a:t>Predictive</a:t>
            </a:r>
            <a:endParaRPr lang="en-US" sz="900" dirty="0"/>
          </a:p>
        </p:txBody>
      </p:sp>
      <p:sp>
        <p:nvSpPr>
          <p:cNvPr id="15" name="Shape 12"/>
          <p:cNvSpPr/>
          <p:nvPr/>
        </p:nvSpPr>
        <p:spPr>
          <a:xfrm>
            <a:off x="3200400" y="1051560"/>
            <a:ext cx="5486400" cy="502920"/>
          </a:xfrm>
          <a:prstGeom prst="rect">
            <a:avLst>
              <a:gd name="adj" fmla="val 10909"/>
            </a:avLst>
          </a:prstGeom>
          <a:solidFill>
            <a:srgbClr val="111D2E"/>
          </a:solidFill>
          <a:ln w="6350">
            <a:solidFill>
              <a:srgbClr val="0A1525"/>
            </a:solidFill>
            <a:prstDash val="solid"/>
          </a:ln>
        </p:spPr>
      </p:sp>
      <p:sp>
        <p:nvSpPr>
          <p:cNvPr id="16" name="Text 13"/>
          <p:cNvSpPr/>
          <p:nvPr/>
        </p:nvSpPr>
        <p:spPr>
          <a:xfrm>
            <a:off x="3291840" y="1097280"/>
            <a:ext cx="1353312" cy="411480"/>
          </a:xfrm>
          <a:prstGeom prst="rect">
            <a:avLst/>
          </a:prstGeom>
          <a:noFill/>
          <a:ln/>
        </p:spPr>
        <p:txBody>
          <a:bodyPr wrap="square" lIns="0" tIns="0" rIns="0" bIns="0" rtlCol="0" anchor="ctr"/>
          <a:lstStyle/>
          <a:p>
            <a:pPr indent="0" marL="0">
              <a:buNone/>
            </a:pPr>
            <a:r>
              <a:rPr lang="en-US" sz="900" b="1" dirty="0">
                <a:solidFill>
                  <a:srgbClr val="F5F0E8"/>
                </a:solidFill>
                <a:latin typeface="Arial" pitchFamily="34" charset="0"/>
                <a:ea typeface="Arial" pitchFamily="34" charset="-122"/>
                <a:cs typeface="Arial" pitchFamily="34" charset="-120"/>
              </a:rPr>
              <a:t>Core Question</a:t>
            </a:r>
            <a:endParaRPr lang="en-US" sz="900" dirty="0"/>
          </a:p>
        </p:txBody>
      </p:sp>
      <p:sp>
        <p:nvSpPr>
          <p:cNvPr id="17" name="Text 14"/>
          <p:cNvSpPr/>
          <p:nvPr/>
        </p:nvSpPr>
        <p:spPr>
          <a:xfrm>
            <a:off x="4782312" y="1097280"/>
            <a:ext cx="1883664" cy="411480"/>
          </a:xfrm>
          <a:prstGeom prst="rect">
            <a:avLst/>
          </a:prstGeom>
          <a:noFill/>
          <a:ln/>
        </p:spPr>
        <p:txBody>
          <a:bodyPr wrap="square" lIns="0" tIns="0" rIns="0" bIns="0" rtlCol="0" anchor="ctr"/>
          <a:lstStyle/>
          <a:p>
            <a:pPr indent="0" marL="0">
              <a:buNone/>
            </a:pPr>
            <a:r>
              <a:rPr lang="en-US" sz="800" dirty="0">
                <a:solidFill>
                  <a:srgbClr val="8A9BB5"/>
                </a:solidFill>
                <a:latin typeface="Arial" pitchFamily="34" charset="0"/>
                <a:ea typeface="Arial" pitchFamily="34" charset="-122"/>
                <a:cs typeface="Arial" pitchFamily="34" charset="-120"/>
              </a:rPr>
              <a:t>What happened?</a:t>
            </a:r>
            <a:endParaRPr lang="en-US" sz="800" dirty="0"/>
          </a:p>
        </p:txBody>
      </p:sp>
      <p:sp>
        <p:nvSpPr>
          <p:cNvPr id="18" name="Text 15"/>
          <p:cNvSpPr/>
          <p:nvPr/>
        </p:nvSpPr>
        <p:spPr>
          <a:xfrm>
            <a:off x="6757416" y="1097280"/>
            <a:ext cx="1883664" cy="411480"/>
          </a:xfrm>
          <a:prstGeom prst="rect">
            <a:avLst/>
          </a:prstGeom>
          <a:noFill/>
          <a:ln/>
        </p:spPr>
        <p:txBody>
          <a:bodyPr wrap="square" lIns="0" tIns="0" rIns="0" bIns="0" rtlCol="0" anchor="ctr"/>
          <a:lstStyle/>
          <a:p>
            <a:pPr indent="0" marL="0">
              <a:buNone/>
            </a:pPr>
            <a:r>
              <a:rPr lang="en-US" sz="800" dirty="0">
                <a:solidFill>
                  <a:srgbClr val="8A9BB5"/>
                </a:solidFill>
                <a:latin typeface="Arial" pitchFamily="34" charset="0"/>
                <a:ea typeface="Arial" pitchFamily="34" charset="-122"/>
                <a:cs typeface="Arial" pitchFamily="34" charset="-120"/>
              </a:rPr>
              <a:t>What will happen?</a:t>
            </a:r>
            <a:endParaRPr lang="en-US" sz="800" dirty="0"/>
          </a:p>
        </p:txBody>
      </p:sp>
      <p:sp>
        <p:nvSpPr>
          <p:cNvPr id="19" name="Shape 16"/>
          <p:cNvSpPr/>
          <p:nvPr/>
        </p:nvSpPr>
        <p:spPr>
          <a:xfrm>
            <a:off x="3200400" y="1609344"/>
            <a:ext cx="5486400" cy="502920"/>
          </a:xfrm>
          <a:prstGeom prst="rect">
            <a:avLst>
              <a:gd name="adj" fmla="val 10909"/>
            </a:avLst>
          </a:prstGeom>
          <a:solidFill>
            <a:srgbClr val="111D2E"/>
          </a:solidFill>
          <a:ln w="6350">
            <a:solidFill>
              <a:srgbClr val="0A1525"/>
            </a:solidFill>
            <a:prstDash val="solid"/>
          </a:ln>
        </p:spPr>
      </p:sp>
      <p:sp>
        <p:nvSpPr>
          <p:cNvPr id="20" name="Text 17"/>
          <p:cNvSpPr/>
          <p:nvPr/>
        </p:nvSpPr>
        <p:spPr>
          <a:xfrm>
            <a:off x="3291840" y="1655064"/>
            <a:ext cx="1353312" cy="411480"/>
          </a:xfrm>
          <a:prstGeom prst="rect">
            <a:avLst/>
          </a:prstGeom>
          <a:noFill/>
          <a:ln/>
        </p:spPr>
        <p:txBody>
          <a:bodyPr wrap="square" lIns="0" tIns="0" rIns="0" bIns="0" rtlCol="0" anchor="ctr"/>
          <a:lstStyle/>
          <a:p>
            <a:pPr indent="0" marL="0">
              <a:buNone/>
            </a:pPr>
            <a:r>
              <a:rPr lang="en-US" sz="900" b="1" dirty="0">
                <a:solidFill>
                  <a:srgbClr val="F5F0E8"/>
                </a:solidFill>
                <a:latin typeface="Arial" pitchFamily="34" charset="0"/>
                <a:ea typeface="Arial" pitchFamily="34" charset="-122"/>
                <a:cs typeface="Arial" pitchFamily="34" charset="-120"/>
              </a:rPr>
              <a:t>Time Orientation</a:t>
            </a:r>
            <a:endParaRPr lang="en-US" sz="900" dirty="0"/>
          </a:p>
        </p:txBody>
      </p:sp>
      <p:sp>
        <p:nvSpPr>
          <p:cNvPr id="21" name="Text 18"/>
          <p:cNvSpPr/>
          <p:nvPr/>
        </p:nvSpPr>
        <p:spPr>
          <a:xfrm>
            <a:off x="4782312" y="1655064"/>
            <a:ext cx="1883664" cy="411480"/>
          </a:xfrm>
          <a:prstGeom prst="rect">
            <a:avLst/>
          </a:prstGeom>
          <a:noFill/>
          <a:ln/>
        </p:spPr>
        <p:txBody>
          <a:bodyPr wrap="square" lIns="0" tIns="0" rIns="0" bIns="0" rtlCol="0" anchor="ctr"/>
          <a:lstStyle/>
          <a:p>
            <a:pPr indent="0" marL="0">
              <a:buNone/>
            </a:pPr>
            <a:r>
              <a:rPr lang="en-US" sz="800" dirty="0">
                <a:solidFill>
                  <a:srgbClr val="8A9BB5"/>
                </a:solidFill>
                <a:latin typeface="Arial" pitchFamily="34" charset="0"/>
                <a:ea typeface="Arial" pitchFamily="34" charset="-122"/>
                <a:cs typeface="Arial" pitchFamily="34" charset="-120"/>
              </a:rPr>
              <a:t>Backward-looking (historical)</a:t>
            </a:r>
            <a:endParaRPr lang="en-US" sz="800" dirty="0"/>
          </a:p>
        </p:txBody>
      </p:sp>
      <p:sp>
        <p:nvSpPr>
          <p:cNvPr id="22" name="Text 19"/>
          <p:cNvSpPr/>
          <p:nvPr/>
        </p:nvSpPr>
        <p:spPr>
          <a:xfrm>
            <a:off x="6757416" y="1655064"/>
            <a:ext cx="1883664" cy="411480"/>
          </a:xfrm>
          <a:prstGeom prst="rect">
            <a:avLst/>
          </a:prstGeom>
          <a:noFill/>
          <a:ln/>
        </p:spPr>
        <p:txBody>
          <a:bodyPr wrap="square" lIns="0" tIns="0" rIns="0" bIns="0" rtlCol="0" anchor="ctr"/>
          <a:lstStyle/>
          <a:p>
            <a:pPr indent="0" marL="0">
              <a:buNone/>
            </a:pPr>
            <a:r>
              <a:rPr lang="en-US" sz="800" dirty="0">
                <a:solidFill>
                  <a:srgbClr val="8A9BB5"/>
                </a:solidFill>
                <a:latin typeface="Arial" pitchFamily="34" charset="0"/>
                <a:ea typeface="Arial" pitchFamily="34" charset="-122"/>
                <a:cs typeface="Arial" pitchFamily="34" charset="-120"/>
              </a:rPr>
              <a:t>Forward-looking (probabilistic)</a:t>
            </a:r>
            <a:endParaRPr lang="en-US" sz="800" dirty="0"/>
          </a:p>
        </p:txBody>
      </p:sp>
      <p:sp>
        <p:nvSpPr>
          <p:cNvPr id="23" name="Shape 20"/>
          <p:cNvSpPr/>
          <p:nvPr/>
        </p:nvSpPr>
        <p:spPr>
          <a:xfrm>
            <a:off x="3200400" y="2167128"/>
            <a:ext cx="5486400" cy="502920"/>
          </a:xfrm>
          <a:prstGeom prst="rect">
            <a:avLst>
              <a:gd name="adj" fmla="val 10909"/>
            </a:avLst>
          </a:prstGeom>
          <a:solidFill>
            <a:srgbClr val="111D2E"/>
          </a:solidFill>
          <a:ln w="6350">
            <a:solidFill>
              <a:srgbClr val="0A1525"/>
            </a:solidFill>
            <a:prstDash val="solid"/>
          </a:ln>
        </p:spPr>
      </p:sp>
      <p:sp>
        <p:nvSpPr>
          <p:cNvPr id="24" name="Text 21"/>
          <p:cNvSpPr/>
          <p:nvPr/>
        </p:nvSpPr>
        <p:spPr>
          <a:xfrm>
            <a:off x="3291840" y="2212848"/>
            <a:ext cx="1353312" cy="411480"/>
          </a:xfrm>
          <a:prstGeom prst="rect">
            <a:avLst/>
          </a:prstGeom>
          <a:noFill/>
          <a:ln/>
        </p:spPr>
        <p:txBody>
          <a:bodyPr wrap="square" lIns="0" tIns="0" rIns="0" bIns="0" rtlCol="0" anchor="ctr"/>
          <a:lstStyle/>
          <a:p>
            <a:pPr indent="0" marL="0">
              <a:buNone/>
            </a:pPr>
            <a:r>
              <a:rPr lang="en-US" sz="900" b="1" dirty="0">
                <a:solidFill>
                  <a:srgbClr val="F5F0E8"/>
                </a:solidFill>
                <a:latin typeface="Arial" pitchFamily="34" charset="0"/>
                <a:ea typeface="Arial" pitchFamily="34" charset="-122"/>
                <a:cs typeface="Arial" pitchFamily="34" charset="-120"/>
              </a:rPr>
              <a:t>Techniques</a:t>
            </a:r>
            <a:endParaRPr lang="en-US" sz="900" dirty="0"/>
          </a:p>
        </p:txBody>
      </p:sp>
      <p:sp>
        <p:nvSpPr>
          <p:cNvPr id="25" name="Text 22"/>
          <p:cNvSpPr/>
          <p:nvPr/>
        </p:nvSpPr>
        <p:spPr>
          <a:xfrm>
            <a:off x="4782312" y="2212848"/>
            <a:ext cx="1883664" cy="411480"/>
          </a:xfrm>
          <a:prstGeom prst="rect">
            <a:avLst/>
          </a:prstGeom>
          <a:noFill/>
          <a:ln/>
        </p:spPr>
        <p:txBody>
          <a:bodyPr wrap="square" lIns="0" tIns="0" rIns="0" bIns="0" rtlCol="0" anchor="ctr"/>
          <a:lstStyle/>
          <a:p>
            <a:pPr indent="0" marL="0">
              <a:buNone/>
            </a:pPr>
            <a:r>
              <a:rPr lang="en-US" sz="800" dirty="0">
                <a:solidFill>
                  <a:srgbClr val="8A9BB5"/>
                </a:solidFill>
                <a:latin typeface="Arial" pitchFamily="34" charset="0"/>
                <a:ea typeface="Arial" pitchFamily="34" charset="-122"/>
                <a:cs typeface="Arial" pitchFamily="34" charset="-120"/>
              </a:rPr>
              <a:t>Aggregation, ratios, trend analysis</a:t>
            </a:r>
            <a:endParaRPr lang="en-US" sz="800" dirty="0"/>
          </a:p>
        </p:txBody>
      </p:sp>
      <p:sp>
        <p:nvSpPr>
          <p:cNvPr id="26" name="Text 23"/>
          <p:cNvSpPr/>
          <p:nvPr/>
        </p:nvSpPr>
        <p:spPr>
          <a:xfrm>
            <a:off x="6757416" y="2212848"/>
            <a:ext cx="1883664" cy="411480"/>
          </a:xfrm>
          <a:prstGeom prst="rect">
            <a:avLst/>
          </a:prstGeom>
          <a:noFill/>
          <a:ln/>
        </p:spPr>
        <p:txBody>
          <a:bodyPr wrap="square" lIns="0" tIns="0" rIns="0" bIns="0" rtlCol="0" anchor="ctr"/>
          <a:lstStyle/>
          <a:p>
            <a:pPr indent="0" marL="0">
              <a:buNone/>
            </a:pPr>
            <a:r>
              <a:rPr lang="en-US" sz="800" dirty="0">
                <a:solidFill>
                  <a:srgbClr val="8A9BB5"/>
                </a:solidFill>
                <a:latin typeface="Arial" pitchFamily="34" charset="0"/>
                <a:ea typeface="Arial" pitchFamily="34" charset="-122"/>
                <a:cs typeface="Arial" pitchFamily="34" charset="-120"/>
              </a:rPr>
              <a:t>Regression, time series, classification</a:t>
            </a:r>
            <a:endParaRPr lang="en-US" sz="800" dirty="0"/>
          </a:p>
        </p:txBody>
      </p:sp>
      <p:sp>
        <p:nvSpPr>
          <p:cNvPr id="27" name="Shape 24"/>
          <p:cNvSpPr/>
          <p:nvPr/>
        </p:nvSpPr>
        <p:spPr>
          <a:xfrm>
            <a:off x="3200400" y="2724912"/>
            <a:ext cx="5486400" cy="502920"/>
          </a:xfrm>
          <a:prstGeom prst="rect">
            <a:avLst>
              <a:gd name="adj" fmla="val 10909"/>
            </a:avLst>
          </a:prstGeom>
          <a:solidFill>
            <a:srgbClr val="111D2E"/>
          </a:solidFill>
          <a:ln w="6350">
            <a:solidFill>
              <a:srgbClr val="0A1525"/>
            </a:solidFill>
            <a:prstDash val="solid"/>
          </a:ln>
        </p:spPr>
      </p:sp>
      <p:sp>
        <p:nvSpPr>
          <p:cNvPr id="28" name="Text 25"/>
          <p:cNvSpPr/>
          <p:nvPr/>
        </p:nvSpPr>
        <p:spPr>
          <a:xfrm>
            <a:off x="3291840" y="2770632"/>
            <a:ext cx="1353312" cy="411480"/>
          </a:xfrm>
          <a:prstGeom prst="rect">
            <a:avLst/>
          </a:prstGeom>
          <a:noFill/>
          <a:ln/>
        </p:spPr>
        <p:txBody>
          <a:bodyPr wrap="square" lIns="0" tIns="0" rIns="0" bIns="0" rtlCol="0" anchor="ctr"/>
          <a:lstStyle/>
          <a:p>
            <a:pPr indent="0" marL="0">
              <a:buNone/>
            </a:pPr>
            <a:r>
              <a:rPr lang="en-US" sz="900" b="1" dirty="0">
                <a:solidFill>
                  <a:srgbClr val="F5F0E8"/>
                </a:solidFill>
                <a:latin typeface="Arial" pitchFamily="34" charset="0"/>
                <a:ea typeface="Arial" pitchFamily="34" charset="-122"/>
                <a:cs typeface="Arial" pitchFamily="34" charset="-120"/>
              </a:rPr>
              <a:t>Output</a:t>
            </a:r>
            <a:endParaRPr lang="en-US" sz="900" dirty="0"/>
          </a:p>
        </p:txBody>
      </p:sp>
      <p:sp>
        <p:nvSpPr>
          <p:cNvPr id="29" name="Text 26"/>
          <p:cNvSpPr/>
          <p:nvPr/>
        </p:nvSpPr>
        <p:spPr>
          <a:xfrm>
            <a:off x="4782312" y="2770632"/>
            <a:ext cx="1883664" cy="411480"/>
          </a:xfrm>
          <a:prstGeom prst="rect">
            <a:avLst/>
          </a:prstGeom>
          <a:noFill/>
          <a:ln/>
        </p:spPr>
        <p:txBody>
          <a:bodyPr wrap="square" lIns="0" tIns="0" rIns="0" bIns="0" rtlCol="0" anchor="ctr"/>
          <a:lstStyle/>
          <a:p>
            <a:pPr indent="0" marL="0">
              <a:buNone/>
            </a:pPr>
            <a:r>
              <a:rPr lang="en-US" sz="800" dirty="0">
                <a:solidFill>
                  <a:srgbClr val="8A9BB5"/>
                </a:solidFill>
                <a:latin typeface="Arial" pitchFamily="34" charset="0"/>
                <a:ea typeface="Arial" pitchFamily="34" charset="-122"/>
                <a:cs typeface="Arial" pitchFamily="34" charset="-120"/>
              </a:rPr>
              <a:t>Reports, dashboards, baselines</a:t>
            </a:r>
            <a:endParaRPr lang="en-US" sz="800" dirty="0"/>
          </a:p>
        </p:txBody>
      </p:sp>
      <p:sp>
        <p:nvSpPr>
          <p:cNvPr id="30" name="Text 27"/>
          <p:cNvSpPr/>
          <p:nvPr/>
        </p:nvSpPr>
        <p:spPr>
          <a:xfrm>
            <a:off x="6757416" y="2770632"/>
            <a:ext cx="1883664" cy="411480"/>
          </a:xfrm>
          <a:prstGeom prst="rect">
            <a:avLst/>
          </a:prstGeom>
          <a:noFill/>
          <a:ln/>
        </p:spPr>
        <p:txBody>
          <a:bodyPr wrap="square" lIns="0" tIns="0" rIns="0" bIns="0" rtlCol="0" anchor="ctr"/>
          <a:lstStyle/>
          <a:p>
            <a:pPr indent="0" marL="0">
              <a:buNone/>
            </a:pPr>
            <a:r>
              <a:rPr lang="en-US" sz="800" dirty="0">
                <a:solidFill>
                  <a:srgbClr val="8A9BB5"/>
                </a:solidFill>
                <a:latin typeface="Arial" pitchFamily="34" charset="0"/>
                <a:ea typeface="Arial" pitchFamily="34" charset="-122"/>
                <a:cs typeface="Arial" pitchFamily="34" charset="-120"/>
              </a:rPr>
              <a:t>Forecasts, probabilities, risk scores</a:t>
            </a:r>
            <a:endParaRPr lang="en-US" sz="800" dirty="0"/>
          </a:p>
        </p:txBody>
      </p:sp>
      <p:sp>
        <p:nvSpPr>
          <p:cNvPr id="31" name="Shape 28"/>
          <p:cNvSpPr/>
          <p:nvPr/>
        </p:nvSpPr>
        <p:spPr>
          <a:xfrm>
            <a:off x="3200400" y="3282696"/>
            <a:ext cx="5486400" cy="502920"/>
          </a:xfrm>
          <a:prstGeom prst="rect">
            <a:avLst>
              <a:gd name="adj" fmla="val 10909"/>
            </a:avLst>
          </a:prstGeom>
          <a:solidFill>
            <a:srgbClr val="111D2E"/>
          </a:solidFill>
          <a:ln w="6350">
            <a:solidFill>
              <a:srgbClr val="0A1525"/>
            </a:solidFill>
            <a:prstDash val="solid"/>
          </a:ln>
        </p:spPr>
      </p:sp>
      <p:sp>
        <p:nvSpPr>
          <p:cNvPr id="32" name="Text 29"/>
          <p:cNvSpPr/>
          <p:nvPr/>
        </p:nvSpPr>
        <p:spPr>
          <a:xfrm>
            <a:off x="3291840" y="3328416"/>
            <a:ext cx="1353312" cy="411480"/>
          </a:xfrm>
          <a:prstGeom prst="rect">
            <a:avLst/>
          </a:prstGeom>
          <a:noFill/>
          <a:ln/>
        </p:spPr>
        <p:txBody>
          <a:bodyPr wrap="square" lIns="0" tIns="0" rIns="0" bIns="0" rtlCol="0" anchor="ctr"/>
          <a:lstStyle/>
          <a:p>
            <a:pPr indent="0" marL="0">
              <a:buNone/>
            </a:pPr>
            <a:r>
              <a:rPr lang="en-US" sz="900" b="1" dirty="0">
                <a:solidFill>
                  <a:srgbClr val="F5F0E8"/>
                </a:solidFill>
                <a:latin typeface="Arial" pitchFamily="34" charset="0"/>
                <a:ea typeface="Arial" pitchFamily="34" charset="-122"/>
                <a:cs typeface="Arial" pitchFamily="34" charset="-120"/>
              </a:rPr>
              <a:t>Value Driver</a:t>
            </a:r>
            <a:endParaRPr lang="en-US" sz="900" dirty="0"/>
          </a:p>
        </p:txBody>
      </p:sp>
      <p:sp>
        <p:nvSpPr>
          <p:cNvPr id="33" name="Text 30"/>
          <p:cNvSpPr/>
          <p:nvPr/>
        </p:nvSpPr>
        <p:spPr>
          <a:xfrm>
            <a:off x="4782312" y="3328416"/>
            <a:ext cx="1883664" cy="411480"/>
          </a:xfrm>
          <a:prstGeom prst="rect">
            <a:avLst/>
          </a:prstGeom>
          <a:noFill/>
          <a:ln/>
        </p:spPr>
        <p:txBody>
          <a:bodyPr wrap="square" lIns="0" tIns="0" rIns="0" bIns="0" rtlCol="0" anchor="ctr"/>
          <a:lstStyle/>
          <a:p>
            <a:pPr indent="0" marL="0">
              <a:buNone/>
            </a:pPr>
            <a:r>
              <a:rPr lang="en-US" sz="800" dirty="0">
                <a:solidFill>
                  <a:srgbClr val="8A9BB5"/>
                </a:solidFill>
                <a:latin typeface="Arial" pitchFamily="34" charset="0"/>
                <a:ea typeface="Arial" pitchFamily="34" charset="-122"/>
                <a:cs typeface="Arial" pitchFamily="34" charset="-120"/>
              </a:rPr>
              <a:t>Understanding and transparency</a:t>
            </a:r>
            <a:endParaRPr lang="en-US" sz="800" dirty="0"/>
          </a:p>
        </p:txBody>
      </p:sp>
      <p:sp>
        <p:nvSpPr>
          <p:cNvPr id="34" name="Text 31"/>
          <p:cNvSpPr/>
          <p:nvPr/>
        </p:nvSpPr>
        <p:spPr>
          <a:xfrm>
            <a:off x="6757416" y="3328416"/>
            <a:ext cx="1883664" cy="411480"/>
          </a:xfrm>
          <a:prstGeom prst="rect">
            <a:avLst/>
          </a:prstGeom>
          <a:noFill/>
          <a:ln/>
        </p:spPr>
        <p:txBody>
          <a:bodyPr wrap="square" lIns="0" tIns="0" rIns="0" bIns="0" rtlCol="0" anchor="ctr"/>
          <a:lstStyle/>
          <a:p>
            <a:pPr indent="0" marL="0">
              <a:buNone/>
            </a:pPr>
            <a:r>
              <a:rPr lang="en-US" sz="800" dirty="0">
                <a:solidFill>
                  <a:srgbClr val="8A9BB5"/>
                </a:solidFill>
                <a:latin typeface="Arial" pitchFamily="34" charset="0"/>
                <a:ea typeface="Arial" pitchFamily="34" charset="-122"/>
                <a:cs typeface="Arial" pitchFamily="34" charset="-120"/>
              </a:rPr>
              <a:t>Anticipation and proactive action</a:t>
            </a:r>
            <a:endParaRPr lang="en-US" sz="800" dirty="0"/>
          </a:p>
        </p:txBody>
      </p:sp>
      <p:sp>
        <p:nvSpPr>
          <p:cNvPr id="35" name="Text 32"/>
          <p:cNvSpPr/>
          <p:nvPr/>
        </p:nvSpPr>
        <p:spPr>
          <a:xfrm>
            <a:off x="3200400" y="4549140"/>
            <a:ext cx="5486400" cy="274320"/>
          </a:xfrm>
          <a:prstGeom prst="rect">
            <a:avLst/>
          </a:prstGeom>
          <a:noFill/>
          <a:ln/>
        </p:spPr>
        <p:txBody>
          <a:bodyPr wrap="square" lIns="0" tIns="0" rIns="0" bIns="0" rtlCol="0" anchor="ctr"/>
          <a:lstStyle/>
          <a:p>
            <a:pPr algn="ctr" indent="0" marL="0">
              <a:buNone/>
            </a:pPr>
            <a:r>
              <a:rPr lang="en-US" sz="900" dirty="0">
                <a:solidFill>
                  <a:srgbClr val="5391D5"/>
                </a:solidFill>
                <a:latin typeface="Arial" pitchFamily="34" charset="0"/>
                <a:ea typeface="Arial" pitchFamily="34" charset="-122"/>
                <a:cs typeface="Arial" pitchFamily="34" charset="-120"/>
              </a:rPr>
              <a:t>Predictive analytics builds directly on descriptive foundations. You cannot forecast well without first understanding your historical patterns.</a:t>
            </a:r>
            <a:endParaRPr lang="en-US" sz="900" dirty="0"/>
          </a:p>
        </p:txBody>
      </p:sp>
      <p:pic>
        <p:nvPicPr>
          <p:cNvPr id="4" name="Media 0">
            <a:hlinkClick r:id="" action="ppaction://media"/>
          </p:cNvPr>
          <p:cNvPicPr>
            <a:picLocks noChangeAspect="1"/>
          </p:cNvPicPr>
          <p:nvPr>
            <a:audioFile r:link="rId2"/>
            <p:extLst>
              <p:ext uri="{DAA4B4D4-6D71-4841-9C94-3DE7FCFB9230}">
                <p14:media xmlns:p14="http://schemas.microsoft.com/office/powerpoint/2010/main" r:embed="rId3"/>
              </p:ext>
            </p:extLst>
          </p:nvPr>
        </p:nvPicPr>
        <p:blipFill>
          <a:blip r:embed="rId4"/>
          <a:stretch>
            <a:fillRect/>
          </a:stretch>
        </p:blipFill>
        <p:spPr>
          <a:xfrm>
            <a:off x="10058400" y="6057900"/>
            <a:ext cx="9144" cy="9144"/>
          </a:xfrm>
          <a:prstGeom prst="rect">
            <a:avLst/>
          </a:prstGeom>
        </p:spPr>
      </p:pic>
      <p:sp>
        <p:nvSpPr>
          <p:cNvPr id="38" name="Text 33"/>
          <p:cNvSpPr/>
          <p:nvPr/>
        </p:nvSpPr>
        <p:spPr>
          <a:xfrm>
            <a:off x="7955280" y="4732020"/>
            <a:ext cx="731520" cy="228600"/>
          </a:xfrm>
          <a:prstGeom prst="rect">
            <a:avLst/>
          </a:prstGeom>
          <a:noFill/>
          <a:ln/>
        </p:spPr>
        <p:txBody>
          <a:bodyPr wrap="square" lIns="0" tIns="0" rIns="0" bIns="0" rtlCol="0" anchor="ctr"/>
          <a:lstStyle/>
          <a:p>
            <a:pPr algn="r" indent="0" marL="0">
              <a:buNone/>
            </a:pPr>
            <a:r>
              <a:rPr lang="en-US" sz="800" dirty="0">
                <a:solidFill>
                  <a:srgbClr val="8A9BB5"/>
                </a:solidFill>
                <a:latin typeface="Arial" pitchFamily="34" charset="0"/>
                <a:ea typeface="Arial" pitchFamily="34" charset="-122"/>
                <a:cs typeface="Arial" pitchFamily="34" charset="-120"/>
              </a:rPr>
              <a:t>3 / 10</a:t>
            </a:r>
            <a:endParaRPr lang="en-US" sz="800" dirty="0"/>
          </a:p>
        </p:txBody>
      </p:sp>
    </p:spTree>
  </p:cSld>
  <p:clrMapOvr>
    <a:masterClrMapping/>
  </p:clrMapOvr>
  <p:transition spd="fast" advClick="0" advTm="49744">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 presetClass="mediacall" presetSubtype="0" fill="hold" nodeType="withEffect">
                                  <p:stCondLst>
                                    <p:cond delay="0"/>
                                  </p:stCondLst>
                                  <p:childTnLst>
                                    <p:cmd type="call" cmd="playFrom(0)">
                                      <p:cBhvr>
                                        <p:cTn id="6" dur="indefinite"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137160"/>
            <a:ext cx="6400800" cy="228600"/>
          </a:xfrm>
          <a:prstGeom prst="rect">
            <a:avLst/>
          </a:prstGeom>
          <a:noFill/>
          <a:ln/>
        </p:spPr>
        <p:txBody>
          <a:bodyPr wrap="square" lIns="0" tIns="0" rIns="0" bIns="0" rtlCol="0" anchor="ctr"/>
          <a:lstStyle/>
          <a:p>
            <a:pPr indent="0" marL="0">
              <a:buNone/>
            </a:pPr>
            <a:r>
              <a:rPr lang="en-US" sz="700" dirty="0">
                <a:solidFill>
                  <a:srgbClr val="8A9BB5"/>
                </a:solidFill>
                <a:latin typeface="Arial" pitchFamily="34" charset="0"/>
                <a:ea typeface="Arial" pitchFamily="34" charset="-122"/>
                <a:cs typeface="Arial" pitchFamily="34" charset="-120"/>
              </a:rPr>
              <a:t>CAIFL &gt; Module 02 &gt; Predictive Models for Financial KPIs</a:t>
            </a:r>
            <a:endParaRPr lang="en-US" sz="700" dirty="0"/>
          </a:p>
        </p:txBody>
      </p:sp>
      <p:sp>
        <p:nvSpPr>
          <p:cNvPr id="3" name="Shape 1"/>
          <p:cNvSpPr/>
          <p:nvPr/>
        </p:nvSpPr>
        <p:spPr>
          <a:xfrm>
            <a:off x="8174736" y="164592"/>
            <a:ext cx="73152" cy="73152"/>
          </a:xfrm>
          <a:prstGeom prst="ellipse">
            <a:avLst/>
          </a:prstGeom>
          <a:solidFill>
            <a:srgbClr val="5391D5"/>
          </a:solidFill>
          <a:ln w="6350">
            <a:solidFill>
              <a:srgbClr val="8A9BB5"/>
            </a:solidFill>
            <a:prstDash val="solid"/>
          </a:ln>
        </p:spPr>
      </p:sp>
      <p:sp>
        <p:nvSpPr>
          <p:cNvPr id="4" name="Shape 2"/>
          <p:cNvSpPr/>
          <p:nvPr/>
        </p:nvSpPr>
        <p:spPr>
          <a:xfrm>
            <a:off x="8302752" y="164592"/>
            <a:ext cx="73152" cy="73152"/>
          </a:xfrm>
          <a:prstGeom prst="ellipse">
            <a:avLst/>
          </a:prstGeom>
          <a:solidFill>
            <a:srgbClr val="5391D5"/>
          </a:solidFill>
          <a:ln w="6350">
            <a:solidFill>
              <a:srgbClr val="8A9BB5"/>
            </a:solidFill>
            <a:prstDash val="solid"/>
          </a:ln>
        </p:spPr>
      </p:sp>
      <p:sp>
        <p:nvSpPr>
          <p:cNvPr id="5" name="Shape 3"/>
          <p:cNvSpPr/>
          <p:nvPr/>
        </p:nvSpPr>
        <p:spPr>
          <a:xfrm>
            <a:off x="8430768" y="164592"/>
            <a:ext cx="73152" cy="73152"/>
          </a:xfrm>
          <a:prstGeom prst="ellipse">
            <a:avLst/>
          </a:prstGeom>
          <a:solidFill>
            <a:srgbClr val="0A1525"/>
          </a:solidFill>
          <a:ln w="6350">
            <a:solidFill>
              <a:srgbClr val="8A9BB5"/>
            </a:solidFill>
            <a:prstDash val="solid"/>
          </a:ln>
        </p:spPr>
      </p:sp>
      <p:sp>
        <p:nvSpPr>
          <p:cNvPr id="6" name="Shape 4"/>
          <p:cNvSpPr/>
          <p:nvPr/>
        </p:nvSpPr>
        <p:spPr>
          <a:xfrm>
            <a:off x="8558784" y="164592"/>
            <a:ext cx="73152" cy="73152"/>
          </a:xfrm>
          <a:prstGeom prst="ellipse">
            <a:avLst/>
          </a:prstGeom>
          <a:solidFill>
            <a:srgbClr val="0A1525"/>
          </a:solidFill>
          <a:ln w="6350">
            <a:solidFill>
              <a:srgbClr val="8A9BB5"/>
            </a:solidFill>
            <a:prstDash val="solid"/>
          </a:ln>
        </p:spPr>
      </p:sp>
      <p:pic>
        <p:nvPicPr>
          <p:cNvPr id="7" name="Image 0" descr="C:\Users\AimanSadeq\OneDrive - Virginia Institute of Finance\VIFM eLearning Portal\vifm-elearning\scripts\lesson-generator\assets\vifm-logo-white.png">    </p:cNvPr>
          <p:cNvPicPr>
            <a:picLocks noChangeAspect="1"/>
          </p:cNvPicPr>
          <p:nvPr/>
        </p:nvPicPr>
        <p:blipFill>
          <a:blip r:embed="rId1"/>
          <a:stretch>
            <a:fillRect/>
          </a:stretch>
        </p:blipFill>
        <p:spPr>
          <a:xfrm>
            <a:off x="457200" y="4686300"/>
            <a:ext cx="810491" cy="182880"/>
          </a:xfrm>
          <a:prstGeom prst="rect">
            <a:avLst/>
          </a:prstGeom>
        </p:spPr>
      </p:pic>
      <p:sp>
        <p:nvSpPr>
          <p:cNvPr id="8" name="Shape 5"/>
          <p:cNvSpPr/>
          <p:nvPr/>
        </p:nvSpPr>
        <p:spPr>
          <a:xfrm>
            <a:off x="0" y="5106924"/>
            <a:ext cx="9144000" cy="36576"/>
          </a:xfrm>
          <a:prstGeom prst="rect">
            <a:avLst/>
          </a:prstGeom>
          <a:solidFill>
            <a:srgbClr val="5391D5"/>
          </a:solidFill>
          <a:ln/>
        </p:spPr>
      </p:sp>
      <p:sp>
        <p:nvSpPr>
          <p:cNvPr id="9" name="Text 6"/>
          <p:cNvSpPr/>
          <p:nvPr/>
        </p:nvSpPr>
        <p:spPr>
          <a:xfrm>
            <a:off x="457200" y="640080"/>
            <a:ext cx="2560320" cy="228600"/>
          </a:xfrm>
          <a:prstGeom prst="rect">
            <a:avLst/>
          </a:prstGeom>
          <a:noFill/>
          <a:ln/>
        </p:spPr>
        <p:txBody>
          <a:bodyPr wrap="square" lIns="0" tIns="0" rIns="0" bIns="0" rtlCol="0" anchor="ctr"/>
          <a:lstStyle/>
          <a:p>
            <a:pPr indent="0" marL="0">
              <a:buNone/>
            </a:pPr>
            <a:r>
              <a:rPr lang="en-US" sz="800" spc="200" kern="0" dirty="0">
                <a:solidFill>
                  <a:srgbClr val="5391D5"/>
                </a:solidFill>
                <a:latin typeface="Arial" pitchFamily="34" charset="0"/>
                <a:ea typeface="Arial" pitchFamily="34" charset="-122"/>
                <a:cs typeface="Arial" pitchFamily="34" charset="-120"/>
              </a:rPr>
              <a:t>MODEL SELECTION</a:t>
            </a:r>
            <a:endParaRPr lang="en-US" sz="800" dirty="0"/>
          </a:p>
        </p:txBody>
      </p:sp>
      <p:sp>
        <p:nvSpPr>
          <p:cNvPr id="10" name="Text 7"/>
          <p:cNvSpPr/>
          <p:nvPr/>
        </p:nvSpPr>
        <p:spPr>
          <a:xfrm>
            <a:off x="457200" y="868680"/>
            <a:ext cx="2560320" cy="1097280"/>
          </a:xfrm>
          <a:prstGeom prst="rect">
            <a:avLst/>
          </a:prstGeom>
          <a:noFill/>
          <a:ln/>
        </p:spPr>
        <p:txBody>
          <a:bodyPr wrap="square" lIns="0" tIns="0" rIns="0" bIns="0" rtlCol="0" anchor="t"/>
          <a:lstStyle/>
          <a:p>
            <a:pPr indent="0" marL="0">
              <a:buNone/>
            </a:pPr>
            <a:r>
              <a:rPr lang="en-US" sz="2200" b="1" dirty="0">
                <a:solidFill>
                  <a:srgbClr val="F5F0E8"/>
                </a:solidFill>
                <a:latin typeface="Arial" pitchFamily="34" charset="0"/>
                <a:ea typeface="Arial" pitchFamily="34" charset="-122"/>
                <a:cs typeface="Arial" pitchFamily="34" charset="-120"/>
              </a:rPr>
              <a:t>Choosing the Right Predictive Model</a:t>
            </a:r>
            <a:endParaRPr lang="en-US" sz="2200" dirty="0"/>
          </a:p>
        </p:txBody>
      </p:sp>
      <p:sp>
        <p:nvSpPr>
          <p:cNvPr id="11" name="Shape 8"/>
          <p:cNvSpPr/>
          <p:nvPr/>
        </p:nvSpPr>
        <p:spPr>
          <a:xfrm>
            <a:off x="5943600" y="1051560"/>
            <a:ext cx="0" cy="228600"/>
          </a:xfrm>
          <a:prstGeom prst="line">
            <a:avLst/>
          </a:prstGeom>
          <a:noFill/>
          <a:ln w="19050">
            <a:solidFill>
              <a:srgbClr val="8A9BB5"/>
            </a:solidFill>
            <a:prstDash val="solid"/>
          </a:ln>
        </p:spPr>
      </p:sp>
      <p:sp>
        <p:nvSpPr>
          <p:cNvPr id="12" name="Shape 9"/>
          <p:cNvSpPr/>
          <p:nvPr/>
        </p:nvSpPr>
        <p:spPr>
          <a:xfrm>
            <a:off x="5943600" y="1691640"/>
            <a:ext cx="0" cy="228600"/>
          </a:xfrm>
          <a:prstGeom prst="line">
            <a:avLst/>
          </a:prstGeom>
          <a:noFill/>
          <a:ln w="19050">
            <a:solidFill>
              <a:srgbClr val="8A9BB5"/>
            </a:solidFill>
            <a:prstDash val="solid"/>
          </a:ln>
        </p:spPr>
      </p:sp>
      <p:sp>
        <p:nvSpPr>
          <p:cNvPr id="13" name="Text 10"/>
          <p:cNvSpPr/>
          <p:nvPr/>
        </p:nvSpPr>
        <p:spPr>
          <a:xfrm>
            <a:off x="6080760" y="1714500"/>
            <a:ext cx="1097280" cy="182880"/>
          </a:xfrm>
          <a:prstGeom prst="rect">
            <a:avLst/>
          </a:prstGeom>
          <a:noFill/>
          <a:ln/>
        </p:spPr>
        <p:txBody>
          <a:bodyPr wrap="square" lIns="0" tIns="0" rIns="0" bIns="0" rtlCol="0" anchor="ctr"/>
          <a:lstStyle/>
          <a:p>
            <a:pPr indent="0" marL="0">
              <a:buNone/>
            </a:pPr>
            <a:r>
              <a:rPr lang="en-US" sz="700" dirty="0">
                <a:solidFill>
                  <a:srgbClr val="8A9BB5"/>
                </a:solidFill>
                <a:latin typeface="Arial" pitchFamily="34" charset="0"/>
                <a:ea typeface="Arial" pitchFamily="34" charset="-122"/>
                <a:cs typeface="Arial" pitchFamily="34" charset="-120"/>
              </a:rPr>
              <a:t>Continuous</a:t>
            </a:r>
            <a:endParaRPr lang="en-US" sz="700" dirty="0"/>
          </a:p>
        </p:txBody>
      </p:sp>
      <p:sp>
        <p:nvSpPr>
          <p:cNvPr id="14" name="Shape 11"/>
          <p:cNvSpPr/>
          <p:nvPr/>
        </p:nvSpPr>
        <p:spPr>
          <a:xfrm>
            <a:off x="5943600" y="1691640"/>
            <a:ext cx="0" cy="2148840"/>
          </a:xfrm>
          <a:prstGeom prst="line">
            <a:avLst/>
          </a:prstGeom>
          <a:noFill/>
          <a:ln w="19050">
            <a:solidFill>
              <a:srgbClr val="8A9BB5"/>
            </a:solidFill>
            <a:prstDash val="solid"/>
          </a:ln>
        </p:spPr>
      </p:sp>
      <p:sp>
        <p:nvSpPr>
          <p:cNvPr id="15" name="Text 12"/>
          <p:cNvSpPr/>
          <p:nvPr/>
        </p:nvSpPr>
        <p:spPr>
          <a:xfrm>
            <a:off x="6080760" y="2674620"/>
            <a:ext cx="1097280" cy="182880"/>
          </a:xfrm>
          <a:prstGeom prst="rect">
            <a:avLst/>
          </a:prstGeom>
          <a:noFill/>
          <a:ln/>
        </p:spPr>
        <p:txBody>
          <a:bodyPr wrap="square" lIns="0" tIns="0" rIns="0" bIns="0" rtlCol="0" anchor="ctr"/>
          <a:lstStyle/>
          <a:p>
            <a:pPr indent="0" marL="0">
              <a:buNone/>
            </a:pPr>
            <a:r>
              <a:rPr lang="en-US" sz="700" dirty="0">
                <a:solidFill>
                  <a:srgbClr val="8A9BB5"/>
                </a:solidFill>
                <a:latin typeface="Arial" pitchFamily="34" charset="0"/>
                <a:ea typeface="Arial" pitchFamily="34" charset="-122"/>
                <a:cs typeface="Arial" pitchFamily="34" charset="-120"/>
              </a:rPr>
              <a:t>Category</a:t>
            </a:r>
            <a:endParaRPr lang="en-US" sz="700" dirty="0"/>
          </a:p>
        </p:txBody>
      </p:sp>
      <p:sp>
        <p:nvSpPr>
          <p:cNvPr id="16" name="Shape 13"/>
          <p:cNvSpPr/>
          <p:nvPr/>
        </p:nvSpPr>
        <p:spPr>
          <a:xfrm>
            <a:off x="5943600" y="2331720"/>
            <a:ext cx="0" cy="228600"/>
          </a:xfrm>
          <a:prstGeom prst="line">
            <a:avLst/>
          </a:prstGeom>
          <a:noFill/>
          <a:ln w="19050">
            <a:solidFill>
              <a:srgbClr val="8A9BB5"/>
            </a:solidFill>
            <a:prstDash val="solid"/>
          </a:ln>
        </p:spPr>
      </p:sp>
      <p:sp>
        <p:nvSpPr>
          <p:cNvPr id="17" name="Text 14"/>
          <p:cNvSpPr/>
          <p:nvPr/>
        </p:nvSpPr>
        <p:spPr>
          <a:xfrm>
            <a:off x="6080760" y="2354580"/>
            <a:ext cx="1097280" cy="182880"/>
          </a:xfrm>
          <a:prstGeom prst="rect">
            <a:avLst/>
          </a:prstGeom>
          <a:noFill/>
          <a:ln/>
        </p:spPr>
        <p:txBody>
          <a:bodyPr wrap="square" lIns="0" tIns="0" rIns="0" bIns="0" rtlCol="0" anchor="ctr"/>
          <a:lstStyle/>
          <a:p>
            <a:pPr indent="0" marL="0">
              <a:buNone/>
            </a:pPr>
            <a:r>
              <a:rPr lang="en-US" sz="700" dirty="0">
                <a:solidFill>
                  <a:srgbClr val="8A9BB5"/>
                </a:solidFill>
                <a:latin typeface="Arial" pitchFamily="34" charset="0"/>
                <a:ea typeface="Arial" pitchFamily="34" charset="-122"/>
                <a:cs typeface="Arial" pitchFamily="34" charset="-120"/>
              </a:rPr>
              <a:t>Yes</a:t>
            </a:r>
            <a:endParaRPr lang="en-US" sz="700" dirty="0"/>
          </a:p>
        </p:txBody>
      </p:sp>
      <p:sp>
        <p:nvSpPr>
          <p:cNvPr id="18" name="Shape 15"/>
          <p:cNvSpPr/>
          <p:nvPr/>
        </p:nvSpPr>
        <p:spPr>
          <a:xfrm>
            <a:off x="5943600" y="2331720"/>
            <a:ext cx="0" cy="868680"/>
          </a:xfrm>
          <a:prstGeom prst="line">
            <a:avLst/>
          </a:prstGeom>
          <a:noFill/>
          <a:ln w="19050">
            <a:solidFill>
              <a:srgbClr val="8A9BB5"/>
            </a:solidFill>
            <a:prstDash val="solid"/>
          </a:ln>
        </p:spPr>
      </p:sp>
      <p:sp>
        <p:nvSpPr>
          <p:cNvPr id="19" name="Text 16"/>
          <p:cNvSpPr/>
          <p:nvPr/>
        </p:nvSpPr>
        <p:spPr>
          <a:xfrm>
            <a:off x="6080760" y="2674620"/>
            <a:ext cx="1097280" cy="182880"/>
          </a:xfrm>
          <a:prstGeom prst="rect">
            <a:avLst/>
          </a:prstGeom>
          <a:noFill/>
          <a:ln/>
        </p:spPr>
        <p:txBody>
          <a:bodyPr wrap="square" lIns="0" tIns="0" rIns="0" bIns="0" rtlCol="0" anchor="ctr"/>
          <a:lstStyle/>
          <a:p>
            <a:pPr indent="0" marL="0">
              <a:buNone/>
            </a:pPr>
            <a:r>
              <a:rPr lang="en-US" sz="700" dirty="0">
                <a:solidFill>
                  <a:srgbClr val="8A9BB5"/>
                </a:solidFill>
                <a:latin typeface="Arial" pitchFamily="34" charset="0"/>
                <a:ea typeface="Arial" pitchFamily="34" charset="-122"/>
                <a:cs typeface="Arial" pitchFamily="34" charset="-120"/>
              </a:rPr>
              <a:t>No</a:t>
            </a:r>
            <a:endParaRPr lang="en-US" sz="700" dirty="0"/>
          </a:p>
        </p:txBody>
      </p:sp>
      <p:sp>
        <p:nvSpPr>
          <p:cNvPr id="20" name="Shape 17"/>
          <p:cNvSpPr/>
          <p:nvPr/>
        </p:nvSpPr>
        <p:spPr>
          <a:xfrm>
            <a:off x="5943600" y="4251960"/>
            <a:ext cx="0" cy="228600"/>
          </a:xfrm>
          <a:prstGeom prst="line">
            <a:avLst/>
          </a:prstGeom>
          <a:noFill/>
          <a:ln w="19050">
            <a:solidFill>
              <a:srgbClr val="8A9BB5"/>
            </a:solidFill>
            <a:prstDash val="solid"/>
          </a:ln>
        </p:spPr>
      </p:sp>
      <p:sp>
        <p:nvSpPr>
          <p:cNvPr id="21" name="Text 18"/>
          <p:cNvSpPr/>
          <p:nvPr/>
        </p:nvSpPr>
        <p:spPr>
          <a:xfrm>
            <a:off x="6080760" y="4274820"/>
            <a:ext cx="1097280" cy="182880"/>
          </a:xfrm>
          <a:prstGeom prst="rect">
            <a:avLst/>
          </a:prstGeom>
          <a:noFill/>
          <a:ln/>
        </p:spPr>
        <p:txBody>
          <a:bodyPr wrap="square" lIns="0" tIns="0" rIns="0" bIns="0" rtlCol="0" anchor="ctr"/>
          <a:lstStyle/>
          <a:p>
            <a:pPr indent="0" marL="0">
              <a:buNone/>
            </a:pPr>
            <a:r>
              <a:rPr lang="en-US" sz="700" dirty="0">
                <a:solidFill>
                  <a:srgbClr val="8A9BB5"/>
                </a:solidFill>
                <a:latin typeface="Arial" pitchFamily="34" charset="0"/>
                <a:ea typeface="Arial" pitchFamily="34" charset="-122"/>
                <a:cs typeface="Arial" pitchFamily="34" charset="-120"/>
              </a:rPr>
              <a:t>Binary</a:t>
            </a:r>
            <a:endParaRPr lang="en-US" sz="700" dirty="0"/>
          </a:p>
        </p:txBody>
      </p:sp>
      <p:sp>
        <p:nvSpPr>
          <p:cNvPr id="22" name="Shape 19"/>
          <p:cNvSpPr/>
          <p:nvPr/>
        </p:nvSpPr>
        <p:spPr>
          <a:xfrm>
            <a:off x="5943600" y="4251960"/>
            <a:ext cx="0" cy="868680"/>
          </a:xfrm>
          <a:prstGeom prst="line">
            <a:avLst/>
          </a:prstGeom>
          <a:noFill/>
          <a:ln w="19050">
            <a:solidFill>
              <a:srgbClr val="8A9BB5"/>
            </a:solidFill>
            <a:prstDash val="solid"/>
          </a:ln>
        </p:spPr>
      </p:sp>
      <p:sp>
        <p:nvSpPr>
          <p:cNvPr id="23" name="Text 20"/>
          <p:cNvSpPr/>
          <p:nvPr/>
        </p:nvSpPr>
        <p:spPr>
          <a:xfrm>
            <a:off x="6080760" y="4594860"/>
            <a:ext cx="1097280" cy="182880"/>
          </a:xfrm>
          <a:prstGeom prst="rect">
            <a:avLst/>
          </a:prstGeom>
          <a:noFill/>
          <a:ln/>
        </p:spPr>
        <p:txBody>
          <a:bodyPr wrap="square" lIns="0" tIns="0" rIns="0" bIns="0" rtlCol="0" anchor="ctr"/>
          <a:lstStyle/>
          <a:p>
            <a:pPr indent="0" marL="0">
              <a:buNone/>
            </a:pPr>
            <a:r>
              <a:rPr lang="en-US" sz="700" dirty="0">
                <a:solidFill>
                  <a:srgbClr val="8A9BB5"/>
                </a:solidFill>
                <a:latin typeface="Arial" pitchFamily="34" charset="0"/>
                <a:ea typeface="Arial" pitchFamily="34" charset="-122"/>
                <a:cs typeface="Arial" pitchFamily="34" charset="-120"/>
              </a:rPr>
              <a:t>Multi-class</a:t>
            </a:r>
            <a:endParaRPr lang="en-US" sz="700" dirty="0"/>
          </a:p>
        </p:txBody>
      </p:sp>
      <p:sp>
        <p:nvSpPr>
          <p:cNvPr id="24" name="Shape 21"/>
          <p:cNvSpPr/>
          <p:nvPr/>
        </p:nvSpPr>
        <p:spPr>
          <a:xfrm>
            <a:off x="5943600" y="2971800"/>
            <a:ext cx="0" cy="2788920"/>
          </a:xfrm>
          <a:prstGeom prst="line">
            <a:avLst/>
          </a:prstGeom>
          <a:noFill/>
          <a:ln w="19050">
            <a:solidFill>
              <a:srgbClr val="8A9BB5"/>
            </a:solidFill>
            <a:prstDash val="solid"/>
          </a:ln>
        </p:spPr>
      </p:sp>
      <p:sp>
        <p:nvSpPr>
          <p:cNvPr id="25" name="Shape 22"/>
          <p:cNvSpPr/>
          <p:nvPr/>
        </p:nvSpPr>
        <p:spPr>
          <a:xfrm>
            <a:off x="5943600" y="3611880"/>
            <a:ext cx="0" cy="2148840"/>
          </a:xfrm>
          <a:prstGeom prst="line">
            <a:avLst/>
          </a:prstGeom>
          <a:noFill/>
          <a:ln w="19050">
            <a:solidFill>
              <a:srgbClr val="8A9BB5"/>
            </a:solidFill>
            <a:prstDash val="solid"/>
          </a:ln>
        </p:spPr>
      </p:sp>
      <p:sp>
        <p:nvSpPr>
          <p:cNvPr id="26" name="Shape 23"/>
          <p:cNvSpPr/>
          <p:nvPr/>
        </p:nvSpPr>
        <p:spPr>
          <a:xfrm>
            <a:off x="5943600" y="4892040"/>
            <a:ext cx="0" cy="868680"/>
          </a:xfrm>
          <a:prstGeom prst="line">
            <a:avLst/>
          </a:prstGeom>
          <a:noFill/>
          <a:ln w="19050">
            <a:solidFill>
              <a:srgbClr val="8A9BB5"/>
            </a:solidFill>
            <a:prstDash val="solid"/>
          </a:ln>
        </p:spPr>
      </p:sp>
      <p:sp>
        <p:nvSpPr>
          <p:cNvPr id="27" name="Shape 24"/>
          <p:cNvSpPr/>
          <p:nvPr/>
        </p:nvSpPr>
        <p:spPr>
          <a:xfrm>
            <a:off x="5943600" y="5532120"/>
            <a:ext cx="0" cy="228600"/>
          </a:xfrm>
          <a:prstGeom prst="line">
            <a:avLst/>
          </a:prstGeom>
          <a:noFill/>
          <a:ln w="19050">
            <a:solidFill>
              <a:srgbClr val="8A9BB5"/>
            </a:solidFill>
            <a:prstDash val="solid"/>
          </a:ln>
        </p:spPr>
      </p:sp>
      <p:sp>
        <p:nvSpPr>
          <p:cNvPr id="28" name="Shape 25"/>
          <p:cNvSpPr/>
          <p:nvPr/>
        </p:nvSpPr>
        <p:spPr>
          <a:xfrm>
            <a:off x="4800600" y="640080"/>
            <a:ext cx="2286000" cy="411480"/>
          </a:xfrm>
          <a:prstGeom prst="roundRect">
            <a:avLst>
              <a:gd name="adj" fmla="val 33333"/>
            </a:avLst>
          </a:prstGeom>
          <a:solidFill>
            <a:srgbClr val="5391D5"/>
          </a:solidFill>
          <a:ln w="12700">
            <a:solidFill>
              <a:srgbClr val="5391D5"/>
            </a:solidFill>
            <a:prstDash val="solid"/>
          </a:ln>
        </p:spPr>
      </p:sp>
      <p:sp>
        <p:nvSpPr>
          <p:cNvPr id="29" name="Text 26"/>
          <p:cNvSpPr/>
          <p:nvPr/>
        </p:nvSpPr>
        <p:spPr>
          <a:xfrm>
            <a:off x="4800600" y="640080"/>
            <a:ext cx="2286000" cy="411480"/>
          </a:xfrm>
          <a:prstGeom prst="rect">
            <a:avLst/>
          </a:prstGeom>
          <a:noFill/>
          <a:ln/>
        </p:spPr>
        <p:txBody>
          <a:bodyPr wrap="square" lIns="0" tIns="0" rIns="0" bIns="0" rtlCol="0" anchor="ctr"/>
          <a:lstStyle/>
          <a:p>
            <a:pPr algn="ctr" indent="0" marL="0">
              <a:buNone/>
            </a:pPr>
            <a:r>
              <a:rPr lang="en-US" sz="900" b="1" dirty="0">
                <a:solidFill>
                  <a:srgbClr val="F5F0E8"/>
                </a:solidFill>
                <a:latin typeface="Arial" pitchFamily="34" charset="0"/>
                <a:ea typeface="Arial" pitchFamily="34" charset="-122"/>
                <a:cs typeface="Arial" pitchFamily="34" charset="-120"/>
              </a:rPr>
              <a:t>What are you predicting?</a:t>
            </a:r>
            <a:endParaRPr lang="en-US" sz="900" dirty="0"/>
          </a:p>
        </p:txBody>
      </p:sp>
      <p:sp>
        <p:nvSpPr>
          <p:cNvPr id="30" name="Shape 27"/>
          <p:cNvSpPr/>
          <p:nvPr/>
        </p:nvSpPr>
        <p:spPr>
          <a:xfrm>
            <a:off x="4983480" y="1280160"/>
            <a:ext cx="1920240" cy="411480"/>
          </a:xfrm>
          <a:prstGeom prst="ellipse">
            <a:avLst/>
          </a:prstGeom>
          <a:solidFill>
            <a:srgbClr val="0A1525"/>
          </a:solidFill>
          <a:ln w="12700">
            <a:solidFill>
              <a:srgbClr val="5391D5"/>
            </a:solidFill>
            <a:prstDash val="solid"/>
          </a:ln>
        </p:spPr>
      </p:sp>
      <p:sp>
        <p:nvSpPr>
          <p:cNvPr id="31" name="Text 28"/>
          <p:cNvSpPr/>
          <p:nvPr/>
        </p:nvSpPr>
        <p:spPr>
          <a:xfrm>
            <a:off x="4800600" y="1280160"/>
            <a:ext cx="2286000" cy="411480"/>
          </a:xfrm>
          <a:prstGeom prst="rect">
            <a:avLst/>
          </a:prstGeom>
          <a:noFill/>
          <a:ln/>
        </p:spPr>
        <p:txBody>
          <a:bodyPr wrap="square" lIns="0" tIns="0" rIns="0" bIns="0" rtlCol="0" anchor="ctr"/>
          <a:lstStyle/>
          <a:p>
            <a:pPr algn="ctr" indent="0" marL="0">
              <a:buNone/>
            </a:pPr>
            <a:r>
              <a:rPr lang="en-US" sz="900" dirty="0">
                <a:solidFill>
                  <a:srgbClr val="F5F0E8"/>
                </a:solidFill>
                <a:latin typeface="Arial" pitchFamily="34" charset="0"/>
                <a:ea typeface="Arial" pitchFamily="34" charset="-122"/>
                <a:cs typeface="Arial" pitchFamily="34" charset="-120"/>
              </a:rPr>
              <a:t>Continuous value or category?</a:t>
            </a:r>
            <a:endParaRPr lang="en-US" sz="900" dirty="0"/>
          </a:p>
        </p:txBody>
      </p:sp>
      <p:sp>
        <p:nvSpPr>
          <p:cNvPr id="32" name="Shape 29"/>
          <p:cNvSpPr/>
          <p:nvPr/>
        </p:nvSpPr>
        <p:spPr>
          <a:xfrm>
            <a:off x="4983480" y="1920240"/>
            <a:ext cx="1920240" cy="411480"/>
          </a:xfrm>
          <a:prstGeom prst="ellipse">
            <a:avLst/>
          </a:prstGeom>
          <a:solidFill>
            <a:srgbClr val="0A1525"/>
          </a:solidFill>
          <a:ln w="12700">
            <a:solidFill>
              <a:srgbClr val="5391D5"/>
            </a:solidFill>
            <a:prstDash val="solid"/>
          </a:ln>
        </p:spPr>
      </p:sp>
      <p:sp>
        <p:nvSpPr>
          <p:cNvPr id="33" name="Text 30"/>
          <p:cNvSpPr/>
          <p:nvPr/>
        </p:nvSpPr>
        <p:spPr>
          <a:xfrm>
            <a:off x="4800600" y="1920240"/>
            <a:ext cx="2286000" cy="411480"/>
          </a:xfrm>
          <a:prstGeom prst="rect">
            <a:avLst/>
          </a:prstGeom>
          <a:noFill/>
          <a:ln/>
        </p:spPr>
        <p:txBody>
          <a:bodyPr wrap="square" lIns="0" tIns="0" rIns="0" bIns="0" rtlCol="0" anchor="ctr"/>
          <a:lstStyle/>
          <a:p>
            <a:pPr algn="ctr" indent="0" marL="0">
              <a:buNone/>
            </a:pPr>
            <a:r>
              <a:rPr lang="en-US" sz="900" dirty="0">
                <a:solidFill>
                  <a:srgbClr val="F5F0E8"/>
                </a:solidFill>
                <a:latin typeface="Arial" pitchFamily="34" charset="0"/>
                <a:ea typeface="Arial" pitchFamily="34" charset="-122"/>
                <a:cs typeface="Arial" pitchFamily="34" charset="-120"/>
              </a:rPr>
              <a:t>Time-dependent?</a:t>
            </a:r>
            <a:endParaRPr lang="en-US" sz="900" dirty="0"/>
          </a:p>
        </p:txBody>
      </p:sp>
      <p:sp>
        <p:nvSpPr>
          <p:cNvPr id="34" name="Shape 31"/>
          <p:cNvSpPr/>
          <p:nvPr/>
        </p:nvSpPr>
        <p:spPr>
          <a:xfrm>
            <a:off x="4800600" y="2560320"/>
            <a:ext cx="2286000" cy="411480"/>
          </a:xfrm>
          <a:prstGeom prst="rect">
            <a:avLst/>
          </a:prstGeom>
          <a:solidFill>
            <a:srgbClr val="0A1525"/>
          </a:solidFill>
          <a:ln w="12700">
            <a:solidFill>
              <a:srgbClr val="5391D5"/>
            </a:solidFill>
            <a:prstDash val="solid"/>
          </a:ln>
        </p:spPr>
      </p:sp>
      <p:sp>
        <p:nvSpPr>
          <p:cNvPr id="35" name="Text 32"/>
          <p:cNvSpPr/>
          <p:nvPr/>
        </p:nvSpPr>
        <p:spPr>
          <a:xfrm>
            <a:off x="4800600" y="2560320"/>
            <a:ext cx="2286000" cy="411480"/>
          </a:xfrm>
          <a:prstGeom prst="rect">
            <a:avLst/>
          </a:prstGeom>
          <a:noFill/>
          <a:ln/>
        </p:spPr>
        <p:txBody>
          <a:bodyPr wrap="square" lIns="0" tIns="0" rIns="0" bIns="0" rtlCol="0" anchor="ctr"/>
          <a:lstStyle/>
          <a:p>
            <a:pPr algn="ctr" indent="0" marL="0">
              <a:buNone/>
            </a:pPr>
            <a:r>
              <a:rPr lang="en-US" sz="900" dirty="0">
                <a:solidFill>
                  <a:srgbClr val="F5F0E8"/>
                </a:solidFill>
                <a:latin typeface="Arial" pitchFamily="34" charset="0"/>
                <a:ea typeface="Arial" pitchFamily="34" charset="-122"/>
                <a:cs typeface="Arial" pitchFamily="34" charset="-120"/>
              </a:rPr>
              <a:t>Time Series Models (ARIMA, Prophet, LSTM)</a:t>
            </a:r>
            <a:endParaRPr lang="en-US" sz="900" dirty="0"/>
          </a:p>
        </p:txBody>
      </p:sp>
      <p:sp>
        <p:nvSpPr>
          <p:cNvPr id="36" name="Shape 33"/>
          <p:cNvSpPr/>
          <p:nvPr/>
        </p:nvSpPr>
        <p:spPr>
          <a:xfrm>
            <a:off x="4800600" y="3200400"/>
            <a:ext cx="2286000" cy="411480"/>
          </a:xfrm>
          <a:prstGeom prst="rect">
            <a:avLst/>
          </a:prstGeom>
          <a:solidFill>
            <a:srgbClr val="0A1525"/>
          </a:solidFill>
          <a:ln w="12700">
            <a:solidFill>
              <a:srgbClr val="5391D5"/>
            </a:solidFill>
            <a:prstDash val="solid"/>
          </a:ln>
        </p:spPr>
      </p:sp>
      <p:sp>
        <p:nvSpPr>
          <p:cNvPr id="37" name="Text 34"/>
          <p:cNvSpPr/>
          <p:nvPr/>
        </p:nvSpPr>
        <p:spPr>
          <a:xfrm>
            <a:off x="4800600" y="3200400"/>
            <a:ext cx="2286000" cy="411480"/>
          </a:xfrm>
          <a:prstGeom prst="rect">
            <a:avLst/>
          </a:prstGeom>
          <a:noFill/>
          <a:ln/>
        </p:spPr>
        <p:txBody>
          <a:bodyPr wrap="square" lIns="0" tIns="0" rIns="0" bIns="0" rtlCol="0" anchor="ctr"/>
          <a:lstStyle/>
          <a:p>
            <a:pPr algn="ctr" indent="0" marL="0">
              <a:buNone/>
            </a:pPr>
            <a:r>
              <a:rPr lang="en-US" sz="900" dirty="0">
                <a:solidFill>
                  <a:srgbClr val="F5F0E8"/>
                </a:solidFill>
                <a:latin typeface="Arial" pitchFamily="34" charset="0"/>
                <a:ea typeface="Arial" pitchFamily="34" charset="-122"/>
                <a:cs typeface="Arial" pitchFamily="34" charset="-120"/>
              </a:rPr>
              <a:t>Regression Models (Linear, Polynomial, Ridge)</a:t>
            </a:r>
            <a:endParaRPr lang="en-US" sz="900" dirty="0"/>
          </a:p>
        </p:txBody>
      </p:sp>
      <p:sp>
        <p:nvSpPr>
          <p:cNvPr id="38" name="Shape 35"/>
          <p:cNvSpPr/>
          <p:nvPr/>
        </p:nvSpPr>
        <p:spPr>
          <a:xfrm>
            <a:off x="4983480" y="3840480"/>
            <a:ext cx="1920240" cy="411480"/>
          </a:xfrm>
          <a:prstGeom prst="ellipse">
            <a:avLst/>
          </a:prstGeom>
          <a:solidFill>
            <a:srgbClr val="0A1525"/>
          </a:solidFill>
          <a:ln w="12700">
            <a:solidFill>
              <a:srgbClr val="5391D5"/>
            </a:solidFill>
            <a:prstDash val="solid"/>
          </a:ln>
        </p:spPr>
      </p:sp>
      <p:sp>
        <p:nvSpPr>
          <p:cNvPr id="39" name="Text 36"/>
          <p:cNvSpPr/>
          <p:nvPr/>
        </p:nvSpPr>
        <p:spPr>
          <a:xfrm>
            <a:off x="4800600" y="3840480"/>
            <a:ext cx="2286000" cy="411480"/>
          </a:xfrm>
          <a:prstGeom prst="rect">
            <a:avLst/>
          </a:prstGeom>
          <a:noFill/>
          <a:ln/>
        </p:spPr>
        <p:txBody>
          <a:bodyPr wrap="square" lIns="0" tIns="0" rIns="0" bIns="0" rtlCol="0" anchor="ctr"/>
          <a:lstStyle/>
          <a:p>
            <a:pPr algn="ctr" indent="0" marL="0">
              <a:buNone/>
            </a:pPr>
            <a:r>
              <a:rPr lang="en-US" sz="900" dirty="0">
                <a:solidFill>
                  <a:srgbClr val="F5F0E8"/>
                </a:solidFill>
                <a:latin typeface="Arial" pitchFamily="34" charset="0"/>
                <a:ea typeface="Arial" pitchFamily="34" charset="-122"/>
                <a:cs typeface="Arial" pitchFamily="34" charset="-120"/>
              </a:rPr>
              <a:t>Binary or multi-class?</a:t>
            </a:r>
            <a:endParaRPr lang="en-US" sz="900" dirty="0"/>
          </a:p>
        </p:txBody>
      </p:sp>
      <p:sp>
        <p:nvSpPr>
          <p:cNvPr id="40" name="Shape 37"/>
          <p:cNvSpPr/>
          <p:nvPr/>
        </p:nvSpPr>
        <p:spPr>
          <a:xfrm>
            <a:off x="4800600" y="4480560"/>
            <a:ext cx="2286000" cy="411480"/>
          </a:xfrm>
          <a:prstGeom prst="rect">
            <a:avLst/>
          </a:prstGeom>
          <a:solidFill>
            <a:srgbClr val="0A1525"/>
          </a:solidFill>
          <a:ln w="12700">
            <a:solidFill>
              <a:srgbClr val="5391D5"/>
            </a:solidFill>
            <a:prstDash val="solid"/>
          </a:ln>
        </p:spPr>
      </p:sp>
      <p:sp>
        <p:nvSpPr>
          <p:cNvPr id="41" name="Text 38"/>
          <p:cNvSpPr/>
          <p:nvPr/>
        </p:nvSpPr>
        <p:spPr>
          <a:xfrm>
            <a:off x="4800600" y="4480560"/>
            <a:ext cx="2286000" cy="411480"/>
          </a:xfrm>
          <a:prstGeom prst="rect">
            <a:avLst/>
          </a:prstGeom>
          <a:noFill/>
          <a:ln/>
        </p:spPr>
        <p:txBody>
          <a:bodyPr wrap="square" lIns="0" tIns="0" rIns="0" bIns="0" rtlCol="0" anchor="ctr"/>
          <a:lstStyle/>
          <a:p>
            <a:pPr algn="ctr" indent="0" marL="0">
              <a:buNone/>
            </a:pPr>
            <a:r>
              <a:rPr lang="en-US" sz="900" dirty="0">
                <a:solidFill>
                  <a:srgbClr val="F5F0E8"/>
                </a:solidFill>
                <a:latin typeface="Arial" pitchFamily="34" charset="0"/>
                <a:ea typeface="Arial" pitchFamily="34" charset="-122"/>
                <a:cs typeface="Arial" pitchFamily="34" charset="-120"/>
              </a:rPr>
              <a:t>Logistic Regression, Random Forest, XGBoost</a:t>
            </a:r>
            <a:endParaRPr lang="en-US" sz="900" dirty="0"/>
          </a:p>
        </p:txBody>
      </p:sp>
      <p:sp>
        <p:nvSpPr>
          <p:cNvPr id="42" name="Shape 39"/>
          <p:cNvSpPr/>
          <p:nvPr/>
        </p:nvSpPr>
        <p:spPr>
          <a:xfrm>
            <a:off x="4800600" y="5120640"/>
            <a:ext cx="2286000" cy="411480"/>
          </a:xfrm>
          <a:prstGeom prst="rect">
            <a:avLst/>
          </a:prstGeom>
          <a:solidFill>
            <a:srgbClr val="0A1525"/>
          </a:solidFill>
          <a:ln w="12700">
            <a:solidFill>
              <a:srgbClr val="5391D5"/>
            </a:solidFill>
            <a:prstDash val="solid"/>
          </a:ln>
        </p:spPr>
      </p:sp>
      <p:sp>
        <p:nvSpPr>
          <p:cNvPr id="43" name="Text 40"/>
          <p:cNvSpPr/>
          <p:nvPr/>
        </p:nvSpPr>
        <p:spPr>
          <a:xfrm>
            <a:off x="4800600" y="5120640"/>
            <a:ext cx="2286000" cy="411480"/>
          </a:xfrm>
          <a:prstGeom prst="rect">
            <a:avLst/>
          </a:prstGeom>
          <a:noFill/>
          <a:ln/>
        </p:spPr>
        <p:txBody>
          <a:bodyPr wrap="square" lIns="0" tIns="0" rIns="0" bIns="0" rtlCol="0" anchor="ctr"/>
          <a:lstStyle/>
          <a:p>
            <a:pPr algn="ctr" indent="0" marL="0">
              <a:buNone/>
            </a:pPr>
            <a:r>
              <a:rPr lang="en-US" sz="900" dirty="0">
                <a:solidFill>
                  <a:srgbClr val="F5F0E8"/>
                </a:solidFill>
                <a:latin typeface="Arial" pitchFamily="34" charset="0"/>
                <a:ea typeface="Arial" pitchFamily="34" charset="-122"/>
                <a:cs typeface="Arial" pitchFamily="34" charset="-120"/>
              </a:rPr>
              <a:t>Multinomial Logistic, Multi-class Ensemble</a:t>
            </a:r>
            <a:endParaRPr lang="en-US" sz="900" dirty="0"/>
          </a:p>
        </p:txBody>
      </p:sp>
      <p:sp>
        <p:nvSpPr>
          <p:cNvPr id="44" name="Shape 41"/>
          <p:cNvSpPr/>
          <p:nvPr/>
        </p:nvSpPr>
        <p:spPr>
          <a:xfrm>
            <a:off x="4800600" y="5760720"/>
            <a:ext cx="2286000" cy="411480"/>
          </a:xfrm>
          <a:prstGeom prst="roundRect">
            <a:avLst>
              <a:gd name="adj" fmla="val 33333"/>
            </a:avLst>
          </a:prstGeom>
          <a:solidFill>
            <a:srgbClr val="5391D5"/>
          </a:solidFill>
          <a:ln w="12700">
            <a:solidFill>
              <a:srgbClr val="5391D5"/>
            </a:solidFill>
            <a:prstDash val="solid"/>
          </a:ln>
        </p:spPr>
      </p:sp>
      <p:sp>
        <p:nvSpPr>
          <p:cNvPr id="45" name="Text 42"/>
          <p:cNvSpPr/>
          <p:nvPr/>
        </p:nvSpPr>
        <p:spPr>
          <a:xfrm>
            <a:off x="4800600" y="5760720"/>
            <a:ext cx="2286000" cy="411480"/>
          </a:xfrm>
          <a:prstGeom prst="rect">
            <a:avLst/>
          </a:prstGeom>
          <a:noFill/>
          <a:ln/>
        </p:spPr>
        <p:txBody>
          <a:bodyPr wrap="square" lIns="0" tIns="0" rIns="0" bIns="0" rtlCol="0" anchor="ctr"/>
          <a:lstStyle/>
          <a:p>
            <a:pPr algn="ctr" indent="0" marL="0">
              <a:buNone/>
            </a:pPr>
            <a:r>
              <a:rPr lang="en-US" sz="900" b="1" dirty="0">
                <a:solidFill>
                  <a:srgbClr val="F5F0E8"/>
                </a:solidFill>
                <a:latin typeface="Arial" pitchFamily="34" charset="0"/>
                <a:ea typeface="Arial" pitchFamily="34" charset="-122"/>
                <a:cs typeface="Arial" pitchFamily="34" charset="-120"/>
              </a:rPr>
              <a:t>Validate and Deploy</a:t>
            </a:r>
            <a:endParaRPr lang="en-US" sz="900" dirty="0"/>
          </a:p>
        </p:txBody>
      </p:sp>
      <p:pic>
        <p:nvPicPr>
          <p:cNvPr id="4" name="Media 0">
            <a:hlinkClick r:id="" action="ppaction://media"/>
          </p:cNvPr>
          <p:cNvPicPr>
            <a:picLocks noChangeAspect="1"/>
          </p:cNvPicPr>
          <p:nvPr>
            <a:audioFile r:link="rId2"/>
            <p:extLst>
              <p:ext uri="{DAA4B4D4-6D71-4841-9C94-3DE7FCFB9230}">
                <p14:media xmlns:p14="http://schemas.microsoft.com/office/powerpoint/2010/main" r:embed="rId3"/>
              </p:ext>
            </p:extLst>
          </p:nvPr>
        </p:nvPicPr>
        <p:blipFill>
          <a:blip r:embed="rId4"/>
          <a:stretch>
            <a:fillRect/>
          </a:stretch>
        </p:blipFill>
        <p:spPr>
          <a:xfrm>
            <a:off x="10058400" y="6057900"/>
            <a:ext cx="9144" cy="9144"/>
          </a:xfrm>
          <a:prstGeom prst="rect">
            <a:avLst/>
          </a:prstGeom>
        </p:spPr>
      </p:pic>
      <p:sp>
        <p:nvSpPr>
          <p:cNvPr id="48" name="Text 43"/>
          <p:cNvSpPr/>
          <p:nvPr/>
        </p:nvSpPr>
        <p:spPr>
          <a:xfrm>
            <a:off x="7955280" y="4732020"/>
            <a:ext cx="731520" cy="228600"/>
          </a:xfrm>
          <a:prstGeom prst="rect">
            <a:avLst/>
          </a:prstGeom>
          <a:noFill/>
          <a:ln/>
        </p:spPr>
        <p:txBody>
          <a:bodyPr wrap="square" lIns="0" tIns="0" rIns="0" bIns="0" rtlCol="0" anchor="ctr"/>
          <a:lstStyle/>
          <a:p>
            <a:pPr algn="r" indent="0" marL="0">
              <a:buNone/>
            </a:pPr>
            <a:r>
              <a:rPr lang="en-US" sz="800" dirty="0">
                <a:solidFill>
                  <a:srgbClr val="8A9BB5"/>
                </a:solidFill>
                <a:latin typeface="Arial" pitchFamily="34" charset="0"/>
                <a:ea typeface="Arial" pitchFamily="34" charset="-122"/>
                <a:cs typeface="Arial" pitchFamily="34" charset="-120"/>
              </a:rPr>
              <a:t>4 / 10</a:t>
            </a:r>
            <a:endParaRPr lang="en-US" sz="800" dirty="0"/>
          </a:p>
        </p:txBody>
      </p:sp>
    </p:spTree>
  </p:cSld>
  <p:clrMapOvr>
    <a:masterClrMapping/>
  </p:clrMapOvr>
  <p:transition spd="fast" advClick="0" advTm="66332">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 presetClass="mediacall" presetSubtype="0" fill="hold" nodeType="withEffect">
                                  <p:stCondLst>
                                    <p:cond delay="0"/>
                                  </p:stCondLst>
                                  <p:childTnLst>
                                    <p:cmd type="call" cmd="playFrom(0)">
                                      <p:cBhvr>
                                        <p:cTn id="6" dur="indefinite"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137160"/>
            <a:ext cx="6400800" cy="228600"/>
          </a:xfrm>
          <a:prstGeom prst="rect">
            <a:avLst/>
          </a:prstGeom>
          <a:noFill/>
          <a:ln/>
        </p:spPr>
        <p:txBody>
          <a:bodyPr wrap="square" lIns="0" tIns="0" rIns="0" bIns="0" rtlCol="0" anchor="ctr"/>
          <a:lstStyle/>
          <a:p>
            <a:pPr indent="0" marL="0">
              <a:buNone/>
            </a:pPr>
            <a:r>
              <a:rPr lang="en-US" sz="700" dirty="0">
                <a:solidFill>
                  <a:srgbClr val="8A9BB5"/>
                </a:solidFill>
                <a:latin typeface="Arial" pitchFamily="34" charset="0"/>
                <a:ea typeface="Arial" pitchFamily="34" charset="-122"/>
                <a:cs typeface="Arial" pitchFamily="34" charset="-120"/>
              </a:rPr>
              <a:t>CAIFL &gt; Module 02 &gt; Predictive Models for Financial KPIs</a:t>
            </a:r>
            <a:endParaRPr lang="en-US" sz="700" dirty="0"/>
          </a:p>
        </p:txBody>
      </p:sp>
      <p:sp>
        <p:nvSpPr>
          <p:cNvPr id="3" name="Shape 1"/>
          <p:cNvSpPr/>
          <p:nvPr/>
        </p:nvSpPr>
        <p:spPr>
          <a:xfrm>
            <a:off x="8174736" y="164592"/>
            <a:ext cx="73152" cy="73152"/>
          </a:xfrm>
          <a:prstGeom prst="ellipse">
            <a:avLst/>
          </a:prstGeom>
          <a:solidFill>
            <a:srgbClr val="5391D5"/>
          </a:solidFill>
          <a:ln w="6350">
            <a:solidFill>
              <a:srgbClr val="8A9BB5"/>
            </a:solidFill>
            <a:prstDash val="solid"/>
          </a:ln>
        </p:spPr>
      </p:sp>
      <p:sp>
        <p:nvSpPr>
          <p:cNvPr id="4" name="Shape 2"/>
          <p:cNvSpPr/>
          <p:nvPr/>
        </p:nvSpPr>
        <p:spPr>
          <a:xfrm>
            <a:off x="8302752" y="164592"/>
            <a:ext cx="73152" cy="73152"/>
          </a:xfrm>
          <a:prstGeom prst="ellipse">
            <a:avLst/>
          </a:prstGeom>
          <a:solidFill>
            <a:srgbClr val="5391D5"/>
          </a:solidFill>
          <a:ln w="6350">
            <a:solidFill>
              <a:srgbClr val="8A9BB5"/>
            </a:solidFill>
            <a:prstDash val="solid"/>
          </a:ln>
        </p:spPr>
      </p:sp>
      <p:sp>
        <p:nvSpPr>
          <p:cNvPr id="5" name="Shape 3"/>
          <p:cNvSpPr/>
          <p:nvPr/>
        </p:nvSpPr>
        <p:spPr>
          <a:xfrm>
            <a:off x="8430768" y="164592"/>
            <a:ext cx="73152" cy="73152"/>
          </a:xfrm>
          <a:prstGeom prst="ellipse">
            <a:avLst/>
          </a:prstGeom>
          <a:solidFill>
            <a:srgbClr val="0A1525"/>
          </a:solidFill>
          <a:ln w="6350">
            <a:solidFill>
              <a:srgbClr val="8A9BB5"/>
            </a:solidFill>
            <a:prstDash val="solid"/>
          </a:ln>
        </p:spPr>
      </p:sp>
      <p:sp>
        <p:nvSpPr>
          <p:cNvPr id="6" name="Shape 4"/>
          <p:cNvSpPr/>
          <p:nvPr/>
        </p:nvSpPr>
        <p:spPr>
          <a:xfrm>
            <a:off x="8558784" y="164592"/>
            <a:ext cx="73152" cy="73152"/>
          </a:xfrm>
          <a:prstGeom prst="ellipse">
            <a:avLst/>
          </a:prstGeom>
          <a:solidFill>
            <a:srgbClr val="0A1525"/>
          </a:solidFill>
          <a:ln w="6350">
            <a:solidFill>
              <a:srgbClr val="8A9BB5"/>
            </a:solidFill>
            <a:prstDash val="solid"/>
          </a:ln>
        </p:spPr>
      </p:sp>
      <p:pic>
        <p:nvPicPr>
          <p:cNvPr id="7" name="Image 0" descr="C:\Users\AimanSadeq\OneDrive - Virginia Institute of Finance\VIFM eLearning Portal\vifm-elearning\scripts\lesson-generator\assets\vifm-logo-white.png">    </p:cNvPr>
          <p:cNvPicPr>
            <a:picLocks noChangeAspect="1"/>
          </p:cNvPicPr>
          <p:nvPr/>
        </p:nvPicPr>
        <p:blipFill>
          <a:blip r:embed="rId1"/>
          <a:stretch>
            <a:fillRect/>
          </a:stretch>
        </p:blipFill>
        <p:spPr>
          <a:xfrm>
            <a:off x="457200" y="4686300"/>
            <a:ext cx="810491" cy="182880"/>
          </a:xfrm>
          <a:prstGeom prst="rect">
            <a:avLst/>
          </a:prstGeom>
        </p:spPr>
      </p:pic>
      <p:sp>
        <p:nvSpPr>
          <p:cNvPr id="8" name="Shape 5"/>
          <p:cNvSpPr/>
          <p:nvPr/>
        </p:nvSpPr>
        <p:spPr>
          <a:xfrm>
            <a:off x="0" y="5106924"/>
            <a:ext cx="9144000" cy="36576"/>
          </a:xfrm>
          <a:prstGeom prst="rect">
            <a:avLst/>
          </a:prstGeom>
          <a:solidFill>
            <a:srgbClr val="5391D5"/>
          </a:solidFill>
          <a:ln/>
        </p:spPr>
      </p:sp>
      <p:sp>
        <p:nvSpPr>
          <p:cNvPr id="9" name="Text 6"/>
          <p:cNvSpPr/>
          <p:nvPr/>
        </p:nvSpPr>
        <p:spPr>
          <a:xfrm>
            <a:off x="457200" y="640080"/>
            <a:ext cx="2560320" cy="228600"/>
          </a:xfrm>
          <a:prstGeom prst="rect">
            <a:avLst/>
          </a:prstGeom>
          <a:noFill/>
          <a:ln/>
        </p:spPr>
        <p:txBody>
          <a:bodyPr wrap="square" lIns="0" tIns="0" rIns="0" bIns="0" rtlCol="0" anchor="ctr"/>
          <a:lstStyle/>
          <a:p>
            <a:pPr indent="0" marL="0">
              <a:buNone/>
            </a:pPr>
            <a:r>
              <a:rPr lang="en-US" sz="800" spc="200" kern="0" dirty="0">
                <a:solidFill>
                  <a:srgbClr val="5391D5"/>
                </a:solidFill>
                <a:latin typeface="Arial" pitchFamily="34" charset="0"/>
                <a:ea typeface="Arial" pitchFamily="34" charset="-122"/>
                <a:cs typeface="Arial" pitchFamily="34" charset="-120"/>
              </a:rPr>
              <a:t>REGRESSION MODELS</a:t>
            </a:r>
            <a:endParaRPr lang="en-US" sz="800" dirty="0"/>
          </a:p>
        </p:txBody>
      </p:sp>
      <p:sp>
        <p:nvSpPr>
          <p:cNvPr id="10" name="Text 7"/>
          <p:cNvSpPr/>
          <p:nvPr/>
        </p:nvSpPr>
        <p:spPr>
          <a:xfrm>
            <a:off x="457200" y="868680"/>
            <a:ext cx="2560320" cy="1097280"/>
          </a:xfrm>
          <a:prstGeom prst="rect">
            <a:avLst/>
          </a:prstGeom>
          <a:noFill/>
          <a:ln/>
        </p:spPr>
        <p:txBody>
          <a:bodyPr wrap="square" lIns="0" tIns="0" rIns="0" bIns="0" rtlCol="0" anchor="t"/>
          <a:lstStyle/>
          <a:p>
            <a:pPr indent="0" marL="0">
              <a:buNone/>
            </a:pPr>
            <a:r>
              <a:rPr lang="en-US" sz="2200" b="1" dirty="0">
                <a:solidFill>
                  <a:srgbClr val="5391D5"/>
                </a:solidFill>
                <a:latin typeface="Arial" pitchFamily="34" charset="0"/>
                <a:ea typeface="Arial" pitchFamily="34" charset="-122"/>
                <a:cs typeface="Arial" pitchFamily="34" charset="-120"/>
              </a:rPr>
              <a:t>Regression Analysis</a:t>
            </a:r>
            <a:pPr indent="0" marL="0">
              <a:buNone/>
            </a:pPr>
            <a:r>
              <a:rPr lang="en-US" sz="2200" b="1" dirty="0">
                <a:solidFill>
                  <a:srgbClr val="F5F0E8"/>
                </a:solidFill>
                <a:latin typeface="Arial" pitchFamily="34" charset="0"/>
                <a:ea typeface="Arial" pitchFamily="34" charset="-122"/>
                <a:cs typeface="Arial" pitchFamily="34" charset="-120"/>
              </a:rPr>
              <a:t> for Financial Forecasting</a:t>
            </a:r>
            <a:endParaRPr lang="en-US" sz="2200" dirty="0"/>
          </a:p>
        </p:txBody>
      </p:sp>
      <p:sp>
        <p:nvSpPr>
          <p:cNvPr id="11" name="Text 8"/>
          <p:cNvSpPr/>
          <p:nvPr/>
        </p:nvSpPr>
        <p:spPr>
          <a:xfrm>
            <a:off x="457200" y="2011680"/>
            <a:ext cx="2560320" cy="731520"/>
          </a:xfrm>
          <a:prstGeom prst="rect">
            <a:avLst/>
          </a:prstGeom>
          <a:noFill/>
          <a:ln/>
        </p:spPr>
        <p:txBody>
          <a:bodyPr wrap="square" lIns="0" tIns="0" rIns="0" bIns="0" rtlCol="0" anchor="ctr"/>
          <a:lstStyle/>
          <a:p>
            <a:pPr indent="0" marL="0">
              <a:buNone/>
            </a:pPr>
            <a:r>
              <a:rPr lang="en-US" sz="1000" dirty="0">
                <a:solidFill>
                  <a:srgbClr val="8A9BB5"/>
                </a:solidFill>
                <a:latin typeface="Arial" pitchFamily="34" charset="0"/>
                <a:ea typeface="Arial" pitchFamily="34" charset="-122"/>
                <a:cs typeface="Arial" pitchFamily="34" charset="-120"/>
              </a:rPr>
              <a:t>From simple linear models to regularized multivariate approaches</a:t>
            </a:r>
            <a:endParaRPr lang="en-US" sz="1000" dirty="0"/>
          </a:p>
        </p:txBody>
      </p:sp>
      <p:sp>
        <p:nvSpPr>
          <p:cNvPr id="12" name="Shape 9"/>
          <p:cNvSpPr/>
          <p:nvPr/>
        </p:nvSpPr>
        <p:spPr>
          <a:xfrm>
            <a:off x="3200400" y="640080"/>
            <a:ext cx="5486400" cy="1097280"/>
          </a:xfrm>
          <a:prstGeom prst="rect">
            <a:avLst>
              <a:gd name="adj" fmla="val 5000"/>
            </a:avLst>
          </a:prstGeom>
          <a:solidFill>
            <a:srgbClr val="111D2E"/>
          </a:solidFill>
          <a:ln w="6350">
            <a:solidFill>
              <a:srgbClr val="0A1525"/>
            </a:solidFill>
            <a:prstDash val="solid"/>
          </a:ln>
        </p:spPr>
      </p:sp>
      <p:sp>
        <p:nvSpPr>
          <p:cNvPr id="13" name="Text 10"/>
          <p:cNvSpPr/>
          <p:nvPr/>
        </p:nvSpPr>
        <p:spPr>
          <a:xfrm>
            <a:off x="3337560" y="731520"/>
            <a:ext cx="5212080" cy="274320"/>
          </a:xfrm>
          <a:prstGeom prst="rect">
            <a:avLst/>
          </a:prstGeom>
          <a:noFill/>
          <a:ln/>
        </p:spPr>
        <p:txBody>
          <a:bodyPr wrap="square" lIns="0" tIns="0" rIns="0" bIns="0" rtlCol="0" anchor="ctr"/>
          <a:lstStyle/>
          <a:p>
            <a:pPr indent="0" marL="0">
              <a:buNone/>
            </a:pPr>
            <a:r>
              <a:rPr lang="en-US" sz="1100" b="1" dirty="0">
                <a:solidFill>
                  <a:srgbClr val="5391D5"/>
                </a:solidFill>
                <a:latin typeface="Arial" pitchFamily="34" charset="0"/>
                <a:ea typeface="Arial" pitchFamily="34" charset="-122"/>
                <a:cs typeface="Arial" pitchFamily="34" charset="-120"/>
              </a:rPr>
              <a:t>Linear Regression</a:t>
            </a:r>
            <a:endParaRPr lang="en-US" sz="1100" dirty="0"/>
          </a:p>
        </p:txBody>
      </p:sp>
      <p:sp>
        <p:nvSpPr>
          <p:cNvPr id="14" name="Text 11"/>
          <p:cNvSpPr/>
          <p:nvPr/>
        </p:nvSpPr>
        <p:spPr>
          <a:xfrm>
            <a:off x="3337560" y="1005840"/>
            <a:ext cx="5212080" cy="640080"/>
          </a:xfrm>
          <a:prstGeom prst="rect">
            <a:avLst/>
          </a:prstGeom>
          <a:noFill/>
          <a:ln/>
        </p:spPr>
        <p:txBody>
          <a:bodyPr wrap="square" lIns="0" tIns="0" rIns="0" bIns="0" rtlCol="0" anchor="t"/>
          <a:lstStyle/>
          <a:p>
            <a:pPr indent="0" marL="0">
              <a:buNone/>
            </a:pPr>
            <a:r>
              <a:rPr lang="en-US" sz="900" dirty="0">
                <a:solidFill>
                  <a:srgbClr val="F5F0E8"/>
                </a:solidFill>
                <a:latin typeface="Arial" pitchFamily="34" charset="0"/>
                <a:ea typeface="Arial" pitchFamily="34" charset="-122"/>
                <a:cs typeface="Arial" pitchFamily="34" charset="-120"/>
              </a:rPr>
              <a:t>The workhorse of predictive analytics. Fits a straight line through data to model the relationship between independent variables (drivers) and a dependent variable (KPI). In finance, commonly used to model revenue as a function of marketing spend, headcount, or economic indicators. The key assumption is linearity, which must be tested using residual plots.</a:t>
            </a:r>
            <a:endParaRPr lang="en-US" sz="900" dirty="0"/>
          </a:p>
        </p:txBody>
      </p:sp>
      <p:sp>
        <p:nvSpPr>
          <p:cNvPr id="15" name="Shape 12"/>
          <p:cNvSpPr/>
          <p:nvPr/>
        </p:nvSpPr>
        <p:spPr>
          <a:xfrm>
            <a:off x="3200400" y="1828800"/>
            <a:ext cx="5486400" cy="1097280"/>
          </a:xfrm>
          <a:prstGeom prst="rect">
            <a:avLst>
              <a:gd name="adj" fmla="val 5000"/>
            </a:avLst>
          </a:prstGeom>
          <a:solidFill>
            <a:srgbClr val="111D2E"/>
          </a:solidFill>
          <a:ln w="6350">
            <a:solidFill>
              <a:srgbClr val="0A1525"/>
            </a:solidFill>
            <a:prstDash val="solid"/>
          </a:ln>
        </p:spPr>
      </p:sp>
      <p:sp>
        <p:nvSpPr>
          <p:cNvPr id="16" name="Text 13"/>
          <p:cNvSpPr/>
          <p:nvPr/>
        </p:nvSpPr>
        <p:spPr>
          <a:xfrm>
            <a:off x="3337560" y="1920240"/>
            <a:ext cx="5212080" cy="274320"/>
          </a:xfrm>
          <a:prstGeom prst="rect">
            <a:avLst/>
          </a:prstGeom>
          <a:noFill/>
          <a:ln/>
        </p:spPr>
        <p:txBody>
          <a:bodyPr wrap="square" lIns="0" tIns="0" rIns="0" bIns="0" rtlCol="0" anchor="ctr"/>
          <a:lstStyle/>
          <a:p>
            <a:pPr indent="0" marL="0">
              <a:buNone/>
            </a:pPr>
            <a:r>
              <a:rPr lang="en-US" sz="1100" b="1" dirty="0">
                <a:solidFill>
                  <a:srgbClr val="5391D5"/>
                </a:solidFill>
                <a:latin typeface="Arial" pitchFamily="34" charset="0"/>
                <a:ea typeface="Arial" pitchFamily="34" charset="-122"/>
                <a:cs typeface="Arial" pitchFamily="34" charset="-120"/>
              </a:rPr>
              <a:t>Multiple Regression</a:t>
            </a:r>
            <a:endParaRPr lang="en-US" sz="1100" dirty="0"/>
          </a:p>
        </p:txBody>
      </p:sp>
      <p:sp>
        <p:nvSpPr>
          <p:cNvPr id="17" name="Text 14"/>
          <p:cNvSpPr/>
          <p:nvPr/>
        </p:nvSpPr>
        <p:spPr>
          <a:xfrm>
            <a:off x="3337560" y="2194560"/>
            <a:ext cx="5212080" cy="640080"/>
          </a:xfrm>
          <a:prstGeom prst="rect">
            <a:avLst/>
          </a:prstGeom>
          <a:noFill/>
          <a:ln/>
        </p:spPr>
        <p:txBody>
          <a:bodyPr wrap="square" lIns="0" tIns="0" rIns="0" bIns="0" rtlCol="0" anchor="t"/>
          <a:lstStyle/>
          <a:p>
            <a:pPr indent="0" marL="0">
              <a:buNone/>
            </a:pPr>
            <a:r>
              <a:rPr lang="en-US" sz="900" dirty="0">
                <a:solidFill>
                  <a:srgbClr val="F5F0E8"/>
                </a:solidFill>
                <a:latin typeface="Arial" pitchFamily="34" charset="0"/>
                <a:ea typeface="Arial" pitchFamily="34" charset="-122"/>
                <a:cs typeface="Arial" pitchFamily="34" charset="-120"/>
              </a:rPr>
              <a:t>Extends linear regression to include multiple predictor variables simultaneously. For example, predicting operating expenses as a function of headcount, facility square footage, and inflation rate. The challenge is multicollinearity, where predictors are correlated with each other, which can destabilize coefficient estimates. Use Variance Inflation Factor (VIF) analysis to detect this.</a:t>
            </a:r>
            <a:endParaRPr lang="en-US" sz="900" dirty="0"/>
          </a:p>
        </p:txBody>
      </p:sp>
      <p:sp>
        <p:nvSpPr>
          <p:cNvPr id="18" name="Shape 15"/>
          <p:cNvSpPr/>
          <p:nvPr/>
        </p:nvSpPr>
        <p:spPr>
          <a:xfrm>
            <a:off x="3200400" y="3017520"/>
            <a:ext cx="5486400" cy="1097280"/>
          </a:xfrm>
          <a:prstGeom prst="rect">
            <a:avLst>
              <a:gd name="adj" fmla="val 5000"/>
            </a:avLst>
          </a:prstGeom>
          <a:solidFill>
            <a:srgbClr val="111D2E"/>
          </a:solidFill>
          <a:ln w="6350">
            <a:solidFill>
              <a:srgbClr val="0A1525"/>
            </a:solidFill>
            <a:prstDash val="solid"/>
          </a:ln>
        </p:spPr>
      </p:sp>
      <p:sp>
        <p:nvSpPr>
          <p:cNvPr id="19" name="Text 16"/>
          <p:cNvSpPr/>
          <p:nvPr/>
        </p:nvSpPr>
        <p:spPr>
          <a:xfrm>
            <a:off x="3337560" y="3108960"/>
            <a:ext cx="5212080" cy="274320"/>
          </a:xfrm>
          <a:prstGeom prst="rect">
            <a:avLst/>
          </a:prstGeom>
          <a:noFill/>
          <a:ln/>
        </p:spPr>
        <p:txBody>
          <a:bodyPr wrap="square" lIns="0" tIns="0" rIns="0" bIns="0" rtlCol="0" anchor="ctr"/>
          <a:lstStyle/>
          <a:p>
            <a:pPr indent="0" marL="0">
              <a:buNone/>
            </a:pPr>
            <a:r>
              <a:rPr lang="en-US" sz="1100" b="1" dirty="0">
                <a:solidFill>
                  <a:srgbClr val="5391D5"/>
                </a:solidFill>
                <a:latin typeface="Arial" pitchFamily="34" charset="0"/>
                <a:ea typeface="Arial" pitchFamily="34" charset="-122"/>
                <a:cs typeface="Arial" pitchFamily="34" charset="-120"/>
              </a:rPr>
              <a:t>Regularized Regression (Ridge &amp; Lasso)</a:t>
            </a:r>
            <a:endParaRPr lang="en-US" sz="1100" dirty="0"/>
          </a:p>
        </p:txBody>
      </p:sp>
      <p:sp>
        <p:nvSpPr>
          <p:cNvPr id="20" name="Text 17"/>
          <p:cNvSpPr/>
          <p:nvPr/>
        </p:nvSpPr>
        <p:spPr>
          <a:xfrm>
            <a:off x="3337560" y="3383280"/>
            <a:ext cx="5212080" cy="640080"/>
          </a:xfrm>
          <a:prstGeom prst="rect">
            <a:avLst/>
          </a:prstGeom>
          <a:noFill/>
          <a:ln/>
        </p:spPr>
        <p:txBody>
          <a:bodyPr wrap="square" lIns="0" tIns="0" rIns="0" bIns="0" rtlCol="0" anchor="t"/>
          <a:lstStyle/>
          <a:p>
            <a:pPr indent="0" marL="0">
              <a:buNone/>
            </a:pPr>
            <a:r>
              <a:rPr lang="en-US" sz="900" dirty="0">
                <a:solidFill>
                  <a:srgbClr val="F5F0E8"/>
                </a:solidFill>
                <a:latin typeface="Arial" pitchFamily="34" charset="0"/>
                <a:ea typeface="Arial" pitchFamily="34" charset="-122"/>
                <a:cs typeface="Arial" pitchFamily="34" charset="-120"/>
              </a:rPr>
              <a:t>When you have many potential predictors, regularization prevents overfitting by penalizing large coefficients. Ridge regression shrinks coefficients toward zero but keeps all variables. Lasso regression can shrink coefficients to exactly zero, effectively performing variable selection. In finance, Lasso is particularly useful when you have dozens of potential KPI drivers and need to identify the most important ones.</a:t>
            </a:r>
            <a:endParaRPr lang="en-US" sz="900" dirty="0"/>
          </a:p>
        </p:txBody>
      </p:sp>
      <p:pic>
        <p:nvPicPr>
          <p:cNvPr id="4" name="Media 0">
            <a:hlinkClick r:id="" action="ppaction://media"/>
          </p:cNvPr>
          <p:cNvPicPr>
            <a:picLocks noChangeAspect="1"/>
          </p:cNvPicPr>
          <p:nvPr>
            <a:audioFile r:link="rId2"/>
            <p:extLst>
              <p:ext uri="{DAA4B4D4-6D71-4841-9C94-3DE7FCFB9230}">
                <p14:media xmlns:p14="http://schemas.microsoft.com/office/powerpoint/2010/main" r:embed="rId3"/>
              </p:ext>
            </p:extLst>
          </p:nvPr>
        </p:nvPicPr>
        <p:blipFill>
          <a:blip r:embed="rId4"/>
          <a:stretch>
            <a:fillRect/>
          </a:stretch>
        </p:blipFill>
        <p:spPr>
          <a:xfrm>
            <a:off x="10058400" y="6057900"/>
            <a:ext cx="9144" cy="9144"/>
          </a:xfrm>
          <a:prstGeom prst="rect">
            <a:avLst/>
          </a:prstGeom>
        </p:spPr>
      </p:pic>
      <p:sp>
        <p:nvSpPr>
          <p:cNvPr id="23" name="Text 18"/>
          <p:cNvSpPr/>
          <p:nvPr/>
        </p:nvSpPr>
        <p:spPr>
          <a:xfrm>
            <a:off x="7955280" y="4732020"/>
            <a:ext cx="731520" cy="228600"/>
          </a:xfrm>
          <a:prstGeom prst="rect">
            <a:avLst/>
          </a:prstGeom>
          <a:noFill/>
          <a:ln/>
        </p:spPr>
        <p:txBody>
          <a:bodyPr wrap="square" lIns="0" tIns="0" rIns="0" bIns="0" rtlCol="0" anchor="ctr"/>
          <a:lstStyle/>
          <a:p>
            <a:pPr algn="r" indent="0" marL="0">
              <a:buNone/>
            </a:pPr>
            <a:r>
              <a:rPr lang="en-US" sz="800" dirty="0">
                <a:solidFill>
                  <a:srgbClr val="8A9BB5"/>
                </a:solidFill>
                <a:latin typeface="Arial" pitchFamily="34" charset="0"/>
                <a:ea typeface="Arial" pitchFamily="34" charset="-122"/>
                <a:cs typeface="Arial" pitchFamily="34" charset="-120"/>
              </a:rPr>
              <a:t>5 / 10</a:t>
            </a:r>
            <a:endParaRPr lang="en-US" sz="800" dirty="0"/>
          </a:p>
        </p:txBody>
      </p:sp>
    </p:spTree>
  </p:cSld>
  <p:clrMapOvr>
    <a:masterClrMapping/>
  </p:clrMapOvr>
  <p:transition spd="fast" advClick="0" advTm="70616">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 presetClass="mediacall" presetSubtype="0" fill="hold" nodeType="withEffect">
                                  <p:stCondLst>
                                    <p:cond delay="0"/>
                                  </p:stCondLst>
                                  <p:childTnLst>
                                    <p:cmd type="call" cmd="playFrom(0)">
                                      <p:cBhvr>
                                        <p:cTn id="6" dur="indefinite"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137160"/>
            <a:ext cx="6400800" cy="228600"/>
          </a:xfrm>
          <a:prstGeom prst="rect">
            <a:avLst/>
          </a:prstGeom>
          <a:noFill/>
          <a:ln/>
        </p:spPr>
        <p:txBody>
          <a:bodyPr wrap="square" lIns="0" tIns="0" rIns="0" bIns="0" rtlCol="0" anchor="ctr"/>
          <a:lstStyle/>
          <a:p>
            <a:pPr indent="0" marL="0">
              <a:buNone/>
            </a:pPr>
            <a:r>
              <a:rPr lang="en-US" sz="700" dirty="0">
                <a:solidFill>
                  <a:srgbClr val="8A9BB5"/>
                </a:solidFill>
                <a:latin typeface="Arial" pitchFamily="34" charset="0"/>
                <a:ea typeface="Arial" pitchFamily="34" charset="-122"/>
                <a:cs typeface="Arial" pitchFamily="34" charset="-120"/>
              </a:rPr>
              <a:t>CAIFL &gt; Module 02 &gt; Predictive Models for Financial KPIs</a:t>
            </a:r>
            <a:endParaRPr lang="en-US" sz="700" dirty="0"/>
          </a:p>
        </p:txBody>
      </p:sp>
      <p:sp>
        <p:nvSpPr>
          <p:cNvPr id="3" name="Shape 1"/>
          <p:cNvSpPr/>
          <p:nvPr/>
        </p:nvSpPr>
        <p:spPr>
          <a:xfrm>
            <a:off x="8174736" y="164592"/>
            <a:ext cx="73152" cy="73152"/>
          </a:xfrm>
          <a:prstGeom prst="ellipse">
            <a:avLst/>
          </a:prstGeom>
          <a:solidFill>
            <a:srgbClr val="5391D5"/>
          </a:solidFill>
          <a:ln w="6350">
            <a:solidFill>
              <a:srgbClr val="8A9BB5"/>
            </a:solidFill>
            <a:prstDash val="solid"/>
          </a:ln>
        </p:spPr>
      </p:sp>
      <p:sp>
        <p:nvSpPr>
          <p:cNvPr id="4" name="Shape 2"/>
          <p:cNvSpPr/>
          <p:nvPr/>
        </p:nvSpPr>
        <p:spPr>
          <a:xfrm>
            <a:off x="8302752" y="164592"/>
            <a:ext cx="73152" cy="73152"/>
          </a:xfrm>
          <a:prstGeom prst="ellipse">
            <a:avLst/>
          </a:prstGeom>
          <a:solidFill>
            <a:srgbClr val="5391D5"/>
          </a:solidFill>
          <a:ln w="6350">
            <a:solidFill>
              <a:srgbClr val="8A9BB5"/>
            </a:solidFill>
            <a:prstDash val="solid"/>
          </a:ln>
        </p:spPr>
      </p:sp>
      <p:sp>
        <p:nvSpPr>
          <p:cNvPr id="5" name="Shape 3"/>
          <p:cNvSpPr/>
          <p:nvPr/>
        </p:nvSpPr>
        <p:spPr>
          <a:xfrm>
            <a:off x="8430768" y="164592"/>
            <a:ext cx="73152" cy="73152"/>
          </a:xfrm>
          <a:prstGeom prst="ellipse">
            <a:avLst/>
          </a:prstGeom>
          <a:solidFill>
            <a:srgbClr val="0A1525"/>
          </a:solidFill>
          <a:ln w="6350">
            <a:solidFill>
              <a:srgbClr val="8A9BB5"/>
            </a:solidFill>
            <a:prstDash val="solid"/>
          </a:ln>
        </p:spPr>
      </p:sp>
      <p:sp>
        <p:nvSpPr>
          <p:cNvPr id="6" name="Shape 4"/>
          <p:cNvSpPr/>
          <p:nvPr/>
        </p:nvSpPr>
        <p:spPr>
          <a:xfrm>
            <a:off x="8558784" y="164592"/>
            <a:ext cx="73152" cy="73152"/>
          </a:xfrm>
          <a:prstGeom prst="ellipse">
            <a:avLst/>
          </a:prstGeom>
          <a:solidFill>
            <a:srgbClr val="0A1525"/>
          </a:solidFill>
          <a:ln w="6350">
            <a:solidFill>
              <a:srgbClr val="8A9BB5"/>
            </a:solidFill>
            <a:prstDash val="solid"/>
          </a:ln>
        </p:spPr>
      </p:sp>
      <p:pic>
        <p:nvPicPr>
          <p:cNvPr id="7" name="Image 0" descr="C:\Users\AimanSadeq\OneDrive - Virginia Institute of Finance\VIFM eLearning Portal\vifm-elearning\scripts\lesson-generator\assets\vifm-logo-white.png">    </p:cNvPr>
          <p:cNvPicPr>
            <a:picLocks noChangeAspect="1"/>
          </p:cNvPicPr>
          <p:nvPr/>
        </p:nvPicPr>
        <p:blipFill>
          <a:blip r:embed="rId1"/>
          <a:stretch>
            <a:fillRect/>
          </a:stretch>
        </p:blipFill>
        <p:spPr>
          <a:xfrm>
            <a:off x="457200" y="4686300"/>
            <a:ext cx="810491" cy="182880"/>
          </a:xfrm>
          <a:prstGeom prst="rect">
            <a:avLst/>
          </a:prstGeom>
        </p:spPr>
      </p:pic>
      <p:sp>
        <p:nvSpPr>
          <p:cNvPr id="8" name="Shape 5"/>
          <p:cNvSpPr/>
          <p:nvPr/>
        </p:nvSpPr>
        <p:spPr>
          <a:xfrm>
            <a:off x="0" y="5106924"/>
            <a:ext cx="9144000" cy="36576"/>
          </a:xfrm>
          <a:prstGeom prst="rect">
            <a:avLst/>
          </a:prstGeom>
          <a:solidFill>
            <a:srgbClr val="5391D5"/>
          </a:solidFill>
          <a:ln/>
        </p:spPr>
      </p:sp>
      <p:sp>
        <p:nvSpPr>
          <p:cNvPr id="9" name="Text 6"/>
          <p:cNvSpPr/>
          <p:nvPr/>
        </p:nvSpPr>
        <p:spPr>
          <a:xfrm>
            <a:off x="457200" y="640080"/>
            <a:ext cx="2560320" cy="228600"/>
          </a:xfrm>
          <a:prstGeom prst="rect">
            <a:avLst/>
          </a:prstGeom>
          <a:noFill/>
          <a:ln/>
        </p:spPr>
        <p:txBody>
          <a:bodyPr wrap="square" lIns="0" tIns="0" rIns="0" bIns="0" rtlCol="0" anchor="ctr"/>
          <a:lstStyle/>
          <a:p>
            <a:pPr indent="0" marL="0">
              <a:buNone/>
            </a:pPr>
            <a:r>
              <a:rPr lang="en-US" sz="800" spc="200" kern="0" dirty="0">
                <a:solidFill>
                  <a:srgbClr val="5391D5"/>
                </a:solidFill>
                <a:latin typeface="Arial" pitchFamily="34" charset="0"/>
                <a:ea typeface="Arial" pitchFamily="34" charset="-122"/>
                <a:cs typeface="Arial" pitchFamily="34" charset="-120"/>
              </a:rPr>
              <a:t>TIME SERIES METHODS</a:t>
            </a:r>
            <a:endParaRPr lang="en-US" sz="800" dirty="0"/>
          </a:p>
        </p:txBody>
      </p:sp>
      <p:sp>
        <p:nvSpPr>
          <p:cNvPr id="10" name="Text 7"/>
          <p:cNvSpPr/>
          <p:nvPr/>
        </p:nvSpPr>
        <p:spPr>
          <a:xfrm>
            <a:off x="457200" y="868680"/>
            <a:ext cx="2560320" cy="1097280"/>
          </a:xfrm>
          <a:prstGeom prst="rect">
            <a:avLst/>
          </a:prstGeom>
          <a:noFill/>
          <a:ln/>
        </p:spPr>
        <p:txBody>
          <a:bodyPr wrap="square" lIns="0" tIns="0" rIns="0" bIns="0" rtlCol="0" anchor="t"/>
          <a:lstStyle/>
          <a:p>
            <a:pPr indent="0" marL="0">
              <a:buNone/>
            </a:pPr>
            <a:r>
              <a:rPr lang="en-US" sz="2200" b="1" dirty="0">
                <a:solidFill>
                  <a:srgbClr val="F5F0E8"/>
                </a:solidFill>
                <a:latin typeface="Arial" pitchFamily="34" charset="0"/>
                <a:ea typeface="Arial" pitchFamily="34" charset="-122"/>
                <a:cs typeface="Arial" pitchFamily="34" charset="-120"/>
              </a:rPr>
              <a:t>Time Series Forecasting: </a:t>
            </a:r>
            <a:pPr indent="0" marL="0">
              <a:buNone/>
            </a:pPr>
            <a:r>
              <a:rPr lang="en-US" sz="2200" b="1" dirty="0">
                <a:solidFill>
                  <a:srgbClr val="5391D5"/>
                </a:solidFill>
                <a:latin typeface="Arial" pitchFamily="34" charset="0"/>
                <a:ea typeface="Arial" pitchFamily="34" charset="-122"/>
                <a:cs typeface="Arial" pitchFamily="34" charset="-120"/>
              </a:rPr>
              <a:t>ARIMA vs. Prophet</a:t>
            </a:r>
            <a:endParaRPr lang="en-US" sz="2200" dirty="0"/>
          </a:p>
        </p:txBody>
      </p:sp>
      <p:sp>
        <p:nvSpPr>
          <p:cNvPr id="11" name="Shape 8"/>
          <p:cNvSpPr/>
          <p:nvPr/>
        </p:nvSpPr>
        <p:spPr>
          <a:xfrm>
            <a:off x="3200400" y="640080"/>
            <a:ext cx="2674620" cy="3474720"/>
          </a:xfrm>
          <a:prstGeom prst="rect">
            <a:avLst>
              <a:gd name="adj" fmla="val 2051"/>
            </a:avLst>
          </a:prstGeom>
          <a:solidFill>
            <a:srgbClr val="111D2E"/>
          </a:solidFill>
          <a:ln w="6350">
            <a:solidFill>
              <a:srgbClr val="0A1525"/>
            </a:solidFill>
            <a:prstDash val="solid"/>
          </a:ln>
        </p:spPr>
      </p:sp>
      <p:sp>
        <p:nvSpPr>
          <p:cNvPr id="12" name="Text 9"/>
          <p:cNvSpPr/>
          <p:nvPr/>
        </p:nvSpPr>
        <p:spPr>
          <a:xfrm>
            <a:off x="3337560" y="731520"/>
            <a:ext cx="2400300" cy="274320"/>
          </a:xfrm>
          <a:prstGeom prst="rect">
            <a:avLst/>
          </a:prstGeom>
          <a:noFill/>
          <a:ln/>
        </p:spPr>
        <p:txBody>
          <a:bodyPr wrap="square" lIns="0" tIns="0" rIns="0" bIns="0" rtlCol="0" anchor="ctr"/>
          <a:lstStyle/>
          <a:p>
            <a:pPr indent="0" marL="0">
              <a:buNone/>
            </a:pPr>
            <a:r>
              <a:rPr lang="en-US" sz="1100" b="1" dirty="0">
                <a:solidFill>
                  <a:srgbClr val="5391D5"/>
                </a:solidFill>
                <a:latin typeface="Arial" pitchFamily="34" charset="0"/>
                <a:ea typeface="Arial" pitchFamily="34" charset="-122"/>
                <a:cs typeface="Arial" pitchFamily="34" charset="-120"/>
              </a:rPr>
              <a:t>ARIMA</a:t>
            </a:r>
            <a:endParaRPr lang="en-US" sz="1100" dirty="0"/>
          </a:p>
        </p:txBody>
      </p:sp>
      <p:sp>
        <p:nvSpPr>
          <p:cNvPr id="13" name="Text 10"/>
          <p:cNvSpPr/>
          <p:nvPr/>
        </p:nvSpPr>
        <p:spPr>
          <a:xfrm>
            <a:off x="3337560" y="1051560"/>
            <a:ext cx="2400300" cy="2971800"/>
          </a:xfrm>
          <a:prstGeom prst="rect">
            <a:avLst/>
          </a:prstGeom>
          <a:noFill/>
          <a:ln/>
        </p:spPr>
        <p:txBody>
          <a:bodyPr wrap="square" lIns="0" tIns="0" rIns="0" bIns="0" rtlCol="0" anchor="t"/>
          <a:lstStyle/>
          <a:p>
            <a:pPr marL="342900" indent="-342900">
              <a:buSzPct val="100000"/>
              <a:buChar char="•"/>
            </a:pPr>
            <a:r>
              <a:rPr lang="en-US" sz="900" dirty="0">
                <a:solidFill>
                  <a:srgbClr val="F5F0E8"/>
                </a:solidFill>
                <a:latin typeface="Arial" pitchFamily="34" charset="0"/>
                <a:ea typeface="Arial" pitchFamily="34" charset="-122"/>
                <a:cs typeface="Arial" pitchFamily="34" charset="-120"/>
              </a:rPr>
              <a:t>Classic statistical approach with strong theoretical foundation</a:t>
            </a:r>
            <a:endParaRPr lang="en-US" sz="900" dirty="0"/>
          </a:p>
          <a:p>
            <a:pPr marL="342900" indent="-342900">
              <a:buSzPct val="100000"/>
              <a:buChar char="•"/>
            </a:pPr>
            <a:r>
              <a:rPr lang="en-US" sz="900" dirty="0">
                <a:solidFill>
                  <a:srgbClr val="F5F0E8"/>
                </a:solidFill>
                <a:latin typeface="Arial" pitchFamily="34" charset="0"/>
                <a:ea typeface="Arial" pitchFamily="34" charset="-122"/>
                <a:cs typeface="Arial" pitchFamily="34" charset="-120"/>
              </a:rPr>
              <a:t>Parameters: p (autoregression), d (differencing), q (moving average)</a:t>
            </a:r>
            <a:endParaRPr lang="en-US" sz="900" dirty="0"/>
          </a:p>
          <a:p>
            <a:pPr marL="342900" indent="-342900">
              <a:buSzPct val="100000"/>
              <a:buChar char="•"/>
            </a:pPr>
            <a:r>
              <a:rPr lang="en-US" sz="900" dirty="0">
                <a:solidFill>
                  <a:srgbClr val="F5F0E8"/>
                </a:solidFill>
                <a:latin typeface="Arial" pitchFamily="34" charset="0"/>
                <a:ea typeface="Arial" pitchFamily="34" charset="-122"/>
                <a:cs typeface="Arial" pitchFamily="34" charset="-120"/>
              </a:rPr>
              <a:t>Requires stationary data; use differencing to achieve stationarity</a:t>
            </a:r>
            <a:endParaRPr lang="en-US" sz="900" dirty="0"/>
          </a:p>
          <a:p>
            <a:pPr marL="342900" indent="-342900">
              <a:buSzPct val="100000"/>
              <a:buChar char="•"/>
            </a:pPr>
            <a:r>
              <a:rPr lang="en-US" sz="900" dirty="0">
                <a:solidFill>
                  <a:srgbClr val="F5F0E8"/>
                </a:solidFill>
                <a:latin typeface="Arial" pitchFamily="34" charset="0"/>
                <a:ea typeface="Arial" pitchFamily="34" charset="-122"/>
                <a:cs typeface="Arial" pitchFamily="34" charset="-120"/>
              </a:rPr>
              <a:t>Best for short-to-medium term forecasts with stable patterns</a:t>
            </a:r>
            <a:endParaRPr lang="en-US" sz="900" dirty="0"/>
          </a:p>
          <a:p>
            <a:pPr marL="342900" indent="-342900">
              <a:buSzPct val="100000"/>
              <a:buChar char="•"/>
            </a:pPr>
            <a:r>
              <a:rPr lang="en-US" sz="900" dirty="0">
                <a:solidFill>
                  <a:srgbClr val="F5F0E8"/>
                </a:solidFill>
                <a:latin typeface="Arial" pitchFamily="34" charset="0"/>
                <a:ea typeface="Arial" pitchFamily="34" charset="-122"/>
                <a:cs typeface="Arial" pitchFamily="34" charset="-120"/>
              </a:rPr>
              <a:t>Handles linear trends well but struggles with complex seasonality</a:t>
            </a:r>
            <a:endParaRPr lang="en-US" sz="900" dirty="0"/>
          </a:p>
          <a:p>
            <a:pPr marL="342900" indent="-342900">
              <a:buSzPct val="100000"/>
              <a:buChar char="•"/>
            </a:pPr>
            <a:r>
              <a:rPr lang="en-US" sz="900" dirty="0">
                <a:solidFill>
                  <a:srgbClr val="F5F0E8"/>
                </a:solidFill>
                <a:latin typeface="Arial" pitchFamily="34" charset="0"/>
                <a:ea typeface="Arial" pitchFamily="34" charset="-122"/>
                <a:cs typeface="Arial" pitchFamily="34" charset="-120"/>
              </a:rPr>
              <a:t>Requires statistical expertise for parameter selection (ACF/PACF plots)</a:t>
            </a:r>
            <a:endParaRPr lang="en-US" sz="900" dirty="0"/>
          </a:p>
        </p:txBody>
      </p:sp>
      <p:sp>
        <p:nvSpPr>
          <p:cNvPr id="14" name="Shape 11"/>
          <p:cNvSpPr/>
          <p:nvPr/>
        </p:nvSpPr>
        <p:spPr>
          <a:xfrm>
            <a:off x="6012180" y="640080"/>
            <a:ext cx="2674620" cy="3474720"/>
          </a:xfrm>
          <a:prstGeom prst="rect">
            <a:avLst>
              <a:gd name="adj" fmla="val 2051"/>
            </a:avLst>
          </a:prstGeom>
          <a:solidFill>
            <a:srgbClr val="111D2E"/>
          </a:solidFill>
          <a:ln w="6350">
            <a:solidFill>
              <a:srgbClr val="0A1525"/>
            </a:solidFill>
            <a:prstDash val="solid"/>
          </a:ln>
        </p:spPr>
      </p:sp>
      <p:sp>
        <p:nvSpPr>
          <p:cNvPr id="15" name="Text 12"/>
          <p:cNvSpPr/>
          <p:nvPr/>
        </p:nvSpPr>
        <p:spPr>
          <a:xfrm>
            <a:off x="6149340" y="731520"/>
            <a:ext cx="2400300" cy="274320"/>
          </a:xfrm>
          <a:prstGeom prst="rect">
            <a:avLst/>
          </a:prstGeom>
          <a:noFill/>
          <a:ln/>
        </p:spPr>
        <p:txBody>
          <a:bodyPr wrap="square" lIns="0" tIns="0" rIns="0" bIns="0" rtlCol="0" anchor="ctr"/>
          <a:lstStyle/>
          <a:p>
            <a:pPr indent="0" marL="0">
              <a:buNone/>
            </a:pPr>
            <a:r>
              <a:rPr lang="en-US" sz="1100" b="1" dirty="0">
                <a:solidFill>
                  <a:srgbClr val="5391D5"/>
                </a:solidFill>
                <a:latin typeface="Arial" pitchFamily="34" charset="0"/>
                <a:ea typeface="Arial" pitchFamily="34" charset="-122"/>
                <a:cs typeface="Arial" pitchFamily="34" charset="-120"/>
              </a:rPr>
              <a:t>Prophet</a:t>
            </a:r>
            <a:endParaRPr lang="en-US" sz="1100" dirty="0"/>
          </a:p>
        </p:txBody>
      </p:sp>
      <p:sp>
        <p:nvSpPr>
          <p:cNvPr id="16" name="Text 13"/>
          <p:cNvSpPr/>
          <p:nvPr/>
        </p:nvSpPr>
        <p:spPr>
          <a:xfrm>
            <a:off x="6149340" y="1051560"/>
            <a:ext cx="2400300" cy="2971800"/>
          </a:xfrm>
          <a:prstGeom prst="rect">
            <a:avLst/>
          </a:prstGeom>
          <a:noFill/>
          <a:ln/>
        </p:spPr>
        <p:txBody>
          <a:bodyPr wrap="square" lIns="0" tIns="0" rIns="0" bIns="0" rtlCol="0" anchor="t"/>
          <a:lstStyle/>
          <a:p>
            <a:pPr marL="342900" indent="-342900">
              <a:buSzPct val="100000"/>
              <a:buChar char="•"/>
            </a:pPr>
            <a:r>
              <a:rPr lang="en-US" sz="900" dirty="0">
                <a:solidFill>
                  <a:srgbClr val="F5F0E8"/>
                </a:solidFill>
                <a:latin typeface="Arial" pitchFamily="34" charset="0"/>
                <a:ea typeface="Arial" pitchFamily="34" charset="-122"/>
                <a:cs typeface="Arial" pitchFamily="34" charset="-120"/>
              </a:rPr>
              <a:t>Developed by Meta for business time series with strong seasonal effects</a:t>
            </a:r>
            <a:endParaRPr lang="en-US" sz="900" dirty="0"/>
          </a:p>
          <a:p>
            <a:pPr marL="342900" indent="-342900">
              <a:buSzPct val="100000"/>
              <a:buChar char="•"/>
            </a:pPr>
            <a:r>
              <a:rPr lang="en-US" sz="900" dirty="0">
                <a:solidFill>
                  <a:srgbClr val="F5F0E8"/>
                </a:solidFill>
                <a:latin typeface="Arial" pitchFamily="34" charset="0"/>
                <a:ea typeface="Arial" pitchFamily="34" charset="-122"/>
                <a:cs typeface="Arial" pitchFamily="34" charset="-120"/>
              </a:rPr>
              <a:t>Decomposes series into trend, seasonality, holidays, and external regressors</a:t>
            </a:r>
            <a:endParaRPr lang="en-US" sz="900" dirty="0"/>
          </a:p>
          <a:p>
            <a:pPr marL="342900" indent="-342900">
              <a:buSzPct val="100000"/>
              <a:buChar char="•"/>
            </a:pPr>
            <a:r>
              <a:rPr lang="en-US" sz="900" dirty="0">
                <a:solidFill>
                  <a:srgbClr val="F5F0E8"/>
                </a:solidFill>
                <a:latin typeface="Arial" pitchFamily="34" charset="0"/>
                <a:ea typeface="Arial" pitchFamily="34" charset="-122"/>
                <a:cs typeface="Arial" pitchFamily="34" charset="-120"/>
              </a:rPr>
              <a:t>Handles missing data and outliers gracefully without manual preprocessing</a:t>
            </a:r>
            <a:endParaRPr lang="en-US" sz="900" dirty="0"/>
          </a:p>
          <a:p>
            <a:pPr marL="342900" indent="-342900">
              <a:buSzPct val="100000"/>
              <a:buChar char="•"/>
            </a:pPr>
            <a:r>
              <a:rPr lang="en-US" sz="900" dirty="0">
                <a:solidFill>
                  <a:srgbClr val="F5F0E8"/>
                </a:solidFill>
                <a:latin typeface="Arial" pitchFamily="34" charset="0"/>
                <a:ea typeface="Arial" pitchFamily="34" charset="-122"/>
                <a:cs typeface="Arial" pitchFamily="34" charset="-120"/>
              </a:rPr>
              <a:t>Excellent for multiple seasonality patterns (daily, weekly, yearly)</a:t>
            </a:r>
            <a:endParaRPr lang="en-US" sz="900" dirty="0"/>
          </a:p>
          <a:p>
            <a:pPr marL="342900" indent="-342900">
              <a:buSzPct val="100000"/>
              <a:buChar char="•"/>
            </a:pPr>
            <a:r>
              <a:rPr lang="en-US" sz="900" dirty="0">
                <a:solidFill>
                  <a:srgbClr val="F5F0E8"/>
                </a:solidFill>
                <a:latin typeface="Arial" pitchFamily="34" charset="0"/>
                <a:ea typeface="Arial" pitchFamily="34" charset="-122"/>
                <a:cs typeface="Arial" pitchFamily="34" charset="-120"/>
              </a:rPr>
              <a:t>Produces intuitive uncertainty intervals for business communication</a:t>
            </a:r>
            <a:endParaRPr lang="en-US" sz="900" dirty="0"/>
          </a:p>
          <a:p>
            <a:pPr marL="342900" indent="-342900">
              <a:buSzPct val="100000"/>
              <a:buChar char="•"/>
            </a:pPr>
            <a:r>
              <a:rPr lang="en-US" sz="900" dirty="0">
                <a:solidFill>
                  <a:srgbClr val="F5F0E8"/>
                </a:solidFill>
                <a:latin typeface="Arial" pitchFamily="34" charset="0"/>
                <a:ea typeface="Arial" pitchFamily="34" charset="-122"/>
                <a:cs typeface="Arial" pitchFamily="34" charset="-120"/>
              </a:rPr>
              <a:t>Accessible to analysts without deep statistical training</a:t>
            </a:r>
            <a:endParaRPr lang="en-US" sz="900" dirty="0"/>
          </a:p>
        </p:txBody>
      </p:sp>
      <p:pic>
        <p:nvPicPr>
          <p:cNvPr id="4" name="Media 0">
            <a:hlinkClick r:id="" action="ppaction://media"/>
          </p:cNvPr>
          <p:cNvPicPr>
            <a:picLocks noChangeAspect="1"/>
          </p:cNvPicPr>
          <p:nvPr>
            <a:audioFile r:link="rId2"/>
            <p:extLst>
              <p:ext uri="{DAA4B4D4-6D71-4841-9C94-3DE7FCFB9230}">
                <p14:media xmlns:p14="http://schemas.microsoft.com/office/powerpoint/2010/main" r:embed="rId3"/>
              </p:ext>
            </p:extLst>
          </p:nvPr>
        </p:nvPicPr>
        <p:blipFill>
          <a:blip r:embed="rId4"/>
          <a:stretch>
            <a:fillRect/>
          </a:stretch>
        </p:blipFill>
        <p:spPr>
          <a:xfrm>
            <a:off x="10058400" y="6057900"/>
            <a:ext cx="9144" cy="9144"/>
          </a:xfrm>
          <a:prstGeom prst="rect">
            <a:avLst/>
          </a:prstGeom>
        </p:spPr>
      </p:pic>
      <p:sp>
        <p:nvSpPr>
          <p:cNvPr id="19" name="Text 14"/>
          <p:cNvSpPr/>
          <p:nvPr/>
        </p:nvSpPr>
        <p:spPr>
          <a:xfrm>
            <a:off x="7955280" y="4732020"/>
            <a:ext cx="731520" cy="228600"/>
          </a:xfrm>
          <a:prstGeom prst="rect">
            <a:avLst/>
          </a:prstGeom>
          <a:noFill/>
          <a:ln/>
        </p:spPr>
        <p:txBody>
          <a:bodyPr wrap="square" lIns="0" tIns="0" rIns="0" bIns="0" rtlCol="0" anchor="ctr"/>
          <a:lstStyle/>
          <a:p>
            <a:pPr algn="r" indent="0" marL="0">
              <a:buNone/>
            </a:pPr>
            <a:r>
              <a:rPr lang="en-US" sz="800" dirty="0">
                <a:solidFill>
                  <a:srgbClr val="8A9BB5"/>
                </a:solidFill>
                <a:latin typeface="Arial" pitchFamily="34" charset="0"/>
                <a:ea typeface="Arial" pitchFamily="34" charset="-122"/>
                <a:cs typeface="Arial" pitchFamily="34" charset="-120"/>
              </a:rPr>
              <a:t>6 / 10</a:t>
            </a:r>
            <a:endParaRPr lang="en-US" sz="800" dirty="0"/>
          </a:p>
        </p:txBody>
      </p:sp>
    </p:spTree>
  </p:cSld>
  <p:clrMapOvr>
    <a:masterClrMapping/>
  </p:clrMapOvr>
  <p:transition spd="fast" advClick="0" advTm="71452">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 presetClass="mediacall" presetSubtype="0" fill="hold" nodeType="withEffect">
                                  <p:stCondLst>
                                    <p:cond delay="0"/>
                                  </p:stCondLst>
                                  <p:childTnLst>
                                    <p:cmd type="call" cmd="playFrom(0)">
                                      <p:cBhvr>
                                        <p:cTn id="6" dur="indefinite"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137160"/>
            <a:ext cx="6400800" cy="228600"/>
          </a:xfrm>
          <a:prstGeom prst="rect">
            <a:avLst/>
          </a:prstGeom>
          <a:noFill/>
          <a:ln/>
        </p:spPr>
        <p:txBody>
          <a:bodyPr wrap="square" lIns="0" tIns="0" rIns="0" bIns="0" rtlCol="0" anchor="ctr"/>
          <a:lstStyle/>
          <a:p>
            <a:pPr indent="0" marL="0">
              <a:buNone/>
            </a:pPr>
            <a:r>
              <a:rPr lang="en-US" sz="700" dirty="0">
                <a:solidFill>
                  <a:srgbClr val="8A9BB5"/>
                </a:solidFill>
                <a:latin typeface="Arial" pitchFamily="34" charset="0"/>
                <a:ea typeface="Arial" pitchFamily="34" charset="-122"/>
                <a:cs typeface="Arial" pitchFamily="34" charset="-120"/>
              </a:rPr>
              <a:t>CAIFL &gt; Module 02 &gt; Predictive Models for Financial KPIs</a:t>
            </a:r>
            <a:endParaRPr lang="en-US" sz="700" dirty="0"/>
          </a:p>
        </p:txBody>
      </p:sp>
      <p:sp>
        <p:nvSpPr>
          <p:cNvPr id="3" name="Shape 1"/>
          <p:cNvSpPr/>
          <p:nvPr/>
        </p:nvSpPr>
        <p:spPr>
          <a:xfrm>
            <a:off x="8174736" y="164592"/>
            <a:ext cx="73152" cy="73152"/>
          </a:xfrm>
          <a:prstGeom prst="ellipse">
            <a:avLst/>
          </a:prstGeom>
          <a:solidFill>
            <a:srgbClr val="5391D5"/>
          </a:solidFill>
          <a:ln w="6350">
            <a:solidFill>
              <a:srgbClr val="8A9BB5"/>
            </a:solidFill>
            <a:prstDash val="solid"/>
          </a:ln>
        </p:spPr>
      </p:sp>
      <p:sp>
        <p:nvSpPr>
          <p:cNvPr id="4" name="Shape 2"/>
          <p:cNvSpPr/>
          <p:nvPr/>
        </p:nvSpPr>
        <p:spPr>
          <a:xfrm>
            <a:off x="8302752" y="164592"/>
            <a:ext cx="73152" cy="73152"/>
          </a:xfrm>
          <a:prstGeom prst="ellipse">
            <a:avLst/>
          </a:prstGeom>
          <a:solidFill>
            <a:srgbClr val="5391D5"/>
          </a:solidFill>
          <a:ln w="6350">
            <a:solidFill>
              <a:srgbClr val="8A9BB5"/>
            </a:solidFill>
            <a:prstDash val="solid"/>
          </a:ln>
        </p:spPr>
      </p:sp>
      <p:sp>
        <p:nvSpPr>
          <p:cNvPr id="5" name="Shape 3"/>
          <p:cNvSpPr/>
          <p:nvPr/>
        </p:nvSpPr>
        <p:spPr>
          <a:xfrm>
            <a:off x="8430768" y="164592"/>
            <a:ext cx="73152" cy="73152"/>
          </a:xfrm>
          <a:prstGeom prst="ellipse">
            <a:avLst/>
          </a:prstGeom>
          <a:solidFill>
            <a:srgbClr val="0A1525"/>
          </a:solidFill>
          <a:ln w="6350">
            <a:solidFill>
              <a:srgbClr val="8A9BB5"/>
            </a:solidFill>
            <a:prstDash val="solid"/>
          </a:ln>
        </p:spPr>
      </p:sp>
      <p:sp>
        <p:nvSpPr>
          <p:cNvPr id="6" name="Shape 4"/>
          <p:cNvSpPr/>
          <p:nvPr/>
        </p:nvSpPr>
        <p:spPr>
          <a:xfrm>
            <a:off x="8558784" y="164592"/>
            <a:ext cx="73152" cy="73152"/>
          </a:xfrm>
          <a:prstGeom prst="ellipse">
            <a:avLst/>
          </a:prstGeom>
          <a:solidFill>
            <a:srgbClr val="0A1525"/>
          </a:solidFill>
          <a:ln w="6350">
            <a:solidFill>
              <a:srgbClr val="8A9BB5"/>
            </a:solidFill>
            <a:prstDash val="solid"/>
          </a:ln>
        </p:spPr>
      </p:sp>
      <p:pic>
        <p:nvPicPr>
          <p:cNvPr id="7" name="Image 0" descr="C:\Users\AimanSadeq\OneDrive - Virginia Institute of Finance\VIFM eLearning Portal\vifm-elearning\scripts\lesson-generator\assets\vifm-logo-white.png">    </p:cNvPr>
          <p:cNvPicPr>
            <a:picLocks noChangeAspect="1"/>
          </p:cNvPicPr>
          <p:nvPr/>
        </p:nvPicPr>
        <p:blipFill>
          <a:blip r:embed="rId1"/>
          <a:stretch>
            <a:fillRect/>
          </a:stretch>
        </p:blipFill>
        <p:spPr>
          <a:xfrm>
            <a:off x="457200" y="4686300"/>
            <a:ext cx="810491" cy="182880"/>
          </a:xfrm>
          <a:prstGeom prst="rect">
            <a:avLst/>
          </a:prstGeom>
        </p:spPr>
      </p:pic>
      <p:sp>
        <p:nvSpPr>
          <p:cNvPr id="8" name="Shape 5"/>
          <p:cNvSpPr/>
          <p:nvPr/>
        </p:nvSpPr>
        <p:spPr>
          <a:xfrm>
            <a:off x="0" y="5106924"/>
            <a:ext cx="9144000" cy="36576"/>
          </a:xfrm>
          <a:prstGeom prst="rect">
            <a:avLst/>
          </a:prstGeom>
          <a:solidFill>
            <a:srgbClr val="5391D5"/>
          </a:solidFill>
          <a:ln/>
        </p:spPr>
      </p:sp>
      <p:sp>
        <p:nvSpPr>
          <p:cNvPr id="9" name="Text 6"/>
          <p:cNvSpPr/>
          <p:nvPr/>
        </p:nvSpPr>
        <p:spPr>
          <a:xfrm>
            <a:off x="457200" y="640080"/>
            <a:ext cx="2560320" cy="228600"/>
          </a:xfrm>
          <a:prstGeom prst="rect">
            <a:avLst/>
          </a:prstGeom>
          <a:noFill/>
          <a:ln/>
        </p:spPr>
        <p:txBody>
          <a:bodyPr wrap="square" lIns="0" tIns="0" rIns="0" bIns="0" rtlCol="0" anchor="ctr"/>
          <a:lstStyle/>
          <a:p>
            <a:pPr indent="0" marL="0">
              <a:buNone/>
            </a:pPr>
            <a:r>
              <a:rPr lang="en-US" sz="800" spc="200" kern="0" dirty="0">
                <a:solidFill>
                  <a:srgbClr val="5391D5"/>
                </a:solidFill>
                <a:latin typeface="Arial" pitchFamily="34" charset="0"/>
                <a:ea typeface="Arial" pitchFamily="34" charset="-122"/>
                <a:cs typeface="Arial" pitchFamily="34" charset="-120"/>
              </a:rPr>
              <a:t>CREDIT RISK PIPELINE</a:t>
            </a:r>
            <a:endParaRPr lang="en-US" sz="800" dirty="0"/>
          </a:p>
        </p:txBody>
      </p:sp>
      <p:sp>
        <p:nvSpPr>
          <p:cNvPr id="10" name="Text 7"/>
          <p:cNvSpPr/>
          <p:nvPr/>
        </p:nvSpPr>
        <p:spPr>
          <a:xfrm>
            <a:off x="457200" y="868680"/>
            <a:ext cx="2560320" cy="1097280"/>
          </a:xfrm>
          <a:prstGeom prst="rect">
            <a:avLst/>
          </a:prstGeom>
          <a:noFill/>
          <a:ln/>
        </p:spPr>
        <p:txBody>
          <a:bodyPr wrap="square" lIns="0" tIns="0" rIns="0" bIns="0" rtlCol="0" anchor="t"/>
          <a:lstStyle/>
          <a:p>
            <a:pPr indent="0" marL="0">
              <a:buNone/>
            </a:pPr>
            <a:r>
              <a:rPr lang="en-US" sz="2200" b="1" dirty="0">
                <a:solidFill>
                  <a:srgbClr val="F5F0E8"/>
                </a:solidFill>
                <a:latin typeface="Arial" pitchFamily="34" charset="0"/>
                <a:ea typeface="Arial" pitchFamily="34" charset="-122"/>
                <a:cs typeface="Arial" pitchFamily="34" charset="-120"/>
              </a:rPr>
              <a:t>Classification Models for </a:t>
            </a:r>
            <a:pPr indent="0" marL="0">
              <a:buNone/>
            </a:pPr>
            <a:r>
              <a:rPr lang="en-US" sz="2200" b="1" dirty="0">
                <a:solidFill>
                  <a:srgbClr val="5391D5"/>
                </a:solidFill>
                <a:latin typeface="Arial" pitchFamily="34" charset="0"/>
                <a:ea typeface="Arial" pitchFamily="34" charset="-122"/>
                <a:cs typeface="Arial" pitchFamily="34" charset="-120"/>
              </a:rPr>
              <a:t>Credit Risk</a:t>
            </a:r>
            <a:endParaRPr lang="en-US" sz="2200" dirty="0"/>
          </a:p>
        </p:txBody>
      </p:sp>
      <p:sp>
        <p:nvSpPr>
          <p:cNvPr id="11" name="Shape 8"/>
          <p:cNvSpPr/>
          <p:nvPr/>
        </p:nvSpPr>
        <p:spPr>
          <a:xfrm>
            <a:off x="3200400" y="731520"/>
            <a:ext cx="5486400" cy="640080"/>
          </a:xfrm>
          <a:prstGeom prst="rect">
            <a:avLst>
              <a:gd name="adj" fmla="val 8571"/>
            </a:avLst>
          </a:prstGeom>
          <a:solidFill>
            <a:srgbClr val="111D2E"/>
          </a:solidFill>
          <a:ln w="6350">
            <a:solidFill>
              <a:srgbClr val="0A1525"/>
            </a:solidFill>
            <a:prstDash val="solid"/>
          </a:ln>
        </p:spPr>
      </p:sp>
      <p:sp>
        <p:nvSpPr>
          <p:cNvPr id="12" name="Text 9"/>
          <p:cNvSpPr/>
          <p:nvPr/>
        </p:nvSpPr>
        <p:spPr>
          <a:xfrm>
            <a:off x="3337560" y="786384"/>
            <a:ext cx="1645920" cy="530352"/>
          </a:xfrm>
          <a:prstGeom prst="rect">
            <a:avLst/>
          </a:prstGeom>
          <a:noFill/>
          <a:ln/>
        </p:spPr>
        <p:txBody>
          <a:bodyPr wrap="square" lIns="0" tIns="0" rIns="0" bIns="0" rtlCol="0" anchor="ctr"/>
          <a:lstStyle/>
          <a:p>
            <a:pPr indent="0" marL="0">
              <a:buNone/>
            </a:pPr>
            <a:r>
              <a:rPr lang="en-US" sz="1000" b="1" dirty="0">
                <a:solidFill>
                  <a:srgbClr val="5391D5"/>
                </a:solidFill>
                <a:latin typeface="Arial" pitchFamily="34" charset="0"/>
                <a:ea typeface="Arial" pitchFamily="34" charset="-122"/>
                <a:cs typeface="Arial" pitchFamily="34" charset="-120"/>
              </a:rPr>
              <a:t>Raw Application Data</a:t>
            </a:r>
            <a:endParaRPr lang="en-US" sz="1000" dirty="0"/>
          </a:p>
        </p:txBody>
      </p:sp>
      <p:sp>
        <p:nvSpPr>
          <p:cNvPr id="13" name="Text 10"/>
          <p:cNvSpPr/>
          <p:nvPr/>
        </p:nvSpPr>
        <p:spPr>
          <a:xfrm>
            <a:off x="4956048" y="786384"/>
            <a:ext cx="3291840" cy="530352"/>
          </a:xfrm>
          <a:prstGeom prst="rect">
            <a:avLst/>
          </a:prstGeom>
          <a:noFill/>
          <a:ln/>
        </p:spPr>
        <p:txBody>
          <a:bodyPr wrap="square" lIns="0" tIns="0" rIns="0" bIns="0" rtlCol="0" anchor="ctr"/>
          <a:lstStyle/>
          <a:p>
            <a:pPr indent="0" marL="0">
              <a:buNone/>
            </a:pPr>
            <a:r>
              <a:rPr lang="en-US" sz="800" dirty="0">
                <a:solidFill>
                  <a:srgbClr val="8A9BB5"/>
                </a:solidFill>
                <a:latin typeface="Arial" pitchFamily="34" charset="0"/>
                <a:ea typeface="Arial" pitchFamily="34" charset="-122"/>
                <a:cs typeface="Arial" pitchFamily="34" charset="-120"/>
              </a:rPr>
              <a:t>Borrower demographics, financial statements, payment history, bureau scores, and alternative data</a:t>
            </a:r>
            <a:endParaRPr lang="en-US" sz="800" dirty="0"/>
          </a:p>
        </p:txBody>
      </p:sp>
      <p:sp>
        <p:nvSpPr>
          <p:cNvPr id="14" name="Text 11"/>
          <p:cNvSpPr/>
          <p:nvPr/>
        </p:nvSpPr>
        <p:spPr>
          <a:xfrm>
            <a:off x="8046720" y="786384"/>
            <a:ext cx="502920" cy="530352"/>
          </a:xfrm>
          <a:prstGeom prst="rect">
            <a:avLst/>
          </a:prstGeom>
          <a:noFill/>
          <a:ln/>
        </p:spPr>
        <p:txBody>
          <a:bodyPr wrap="square" lIns="0" tIns="0" rIns="0" bIns="0" rtlCol="0" anchor="ctr"/>
          <a:lstStyle/>
          <a:p>
            <a:pPr algn="r" indent="0" marL="0">
              <a:buNone/>
            </a:pPr>
            <a:r>
              <a:rPr lang="en-US" sz="1000" b="1" dirty="0">
                <a:solidFill>
                  <a:srgbClr val="F5F0E8"/>
                </a:solidFill>
                <a:latin typeface="Arial" pitchFamily="34" charset="0"/>
                <a:ea typeface="Arial" pitchFamily="34" charset="-122"/>
                <a:cs typeface="Arial" pitchFamily="34" charset="-120"/>
              </a:rPr>
              <a:t>100%</a:t>
            </a:r>
            <a:endParaRPr lang="en-US" sz="1000" dirty="0"/>
          </a:p>
        </p:txBody>
      </p:sp>
      <p:sp>
        <p:nvSpPr>
          <p:cNvPr id="15" name="Shape 12"/>
          <p:cNvSpPr/>
          <p:nvPr/>
        </p:nvSpPr>
        <p:spPr>
          <a:xfrm>
            <a:off x="3646170" y="1426464"/>
            <a:ext cx="4594860" cy="640080"/>
          </a:xfrm>
          <a:prstGeom prst="rect">
            <a:avLst>
              <a:gd name="adj" fmla="val 8571"/>
            </a:avLst>
          </a:prstGeom>
          <a:solidFill>
            <a:srgbClr val="111D2E"/>
          </a:solidFill>
          <a:ln w="6350">
            <a:solidFill>
              <a:srgbClr val="0A1525"/>
            </a:solidFill>
            <a:prstDash val="solid"/>
          </a:ln>
        </p:spPr>
      </p:sp>
      <p:sp>
        <p:nvSpPr>
          <p:cNvPr id="16" name="Text 13"/>
          <p:cNvSpPr/>
          <p:nvPr/>
        </p:nvSpPr>
        <p:spPr>
          <a:xfrm>
            <a:off x="3783330" y="1481328"/>
            <a:ext cx="1378458" cy="530352"/>
          </a:xfrm>
          <a:prstGeom prst="rect">
            <a:avLst/>
          </a:prstGeom>
          <a:noFill/>
          <a:ln/>
        </p:spPr>
        <p:txBody>
          <a:bodyPr wrap="square" lIns="0" tIns="0" rIns="0" bIns="0" rtlCol="0" anchor="ctr"/>
          <a:lstStyle/>
          <a:p>
            <a:pPr indent="0" marL="0">
              <a:buNone/>
            </a:pPr>
            <a:r>
              <a:rPr lang="en-US" sz="1000" b="1" dirty="0">
                <a:solidFill>
                  <a:srgbClr val="5391D5"/>
                </a:solidFill>
                <a:latin typeface="Arial" pitchFamily="34" charset="0"/>
                <a:ea typeface="Arial" pitchFamily="34" charset="-122"/>
                <a:cs typeface="Arial" pitchFamily="34" charset="-120"/>
              </a:rPr>
              <a:t>Feature Engineering</a:t>
            </a:r>
            <a:endParaRPr lang="en-US" sz="1000" dirty="0"/>
          </a:p>
        </p:txBody>
      </p:sp>
      <p:sp>
        <p:nvSpPr>
          <p:cNvPr id="17" name="Text 14"/>
          <p:cNvSpPr/>
          <p:nvPr/>
        </p:nvSpPr>
        <p:spPr>
          <a:xfrm>
            <a:off x="5116525" y="1481328"/>
            <a:ext cx="2756916" cy="530352"/>
          </a:xfrm>
          <a:prstGeom prst="rect">
            <a:avLst/>
          </a:prstGeom>
          <a:noFill/>
          <a:ln/>
        </p:spPr>
        <p:txBody>
          <a:bodyPr wrap="square" lIns="0" tIns="0" rIns="0" bIns="0" rtlCol="0" anchor="ctr"/>
          <a:lstStyle/>
          <a:p>
            <a:pPr indent="0" marL="0">
              <a:buNone/>
            </a:pPr>
            <a:r>
              <a:rPr lang="en-US" sz="800" dirty="0">
                <a:solidFill>
                  <a:srgbClr val="8A9BB5"/>
                </a:solidFill>
                <a:latin typeface="Arial" pitchFamily="34" charset="0"/>
                <a:ea typeface="Arial" pitchFamily="34" charset="-122"/>
                <a:cs typeface="Arial" pitchFamily="34" charset="-120"/>
              </a:rPr>
              <a:t>Derived variables: debt-to-income ratio, payment velocity, credit utilization trends, stability indices</a:t>
            </a:r>
            <a:endParaRPr lang="en-US" sz="800" dirty="0"/>
          </a:p>
        </p:txBody>
      </p:sp>
      <p:sp>
        <p:nvSpPr>
          <p:cNvPr id="18" name="Text 15"/>
          <p:cNvSpPr/>
          <p:nvPr/>
        </p:nvSpPr>
        <p:spPr>
          <a:xfrm>
            <a:off x="7600950" y="1481328"/>
            <a:ext cx="502920" cy="530352"/>
          </a:xfrm>
          <a:prstGeom prst="rect">
            <a:avLst/>
          </a:prstGeom>
          <a:noFill/>
          <a:ln/>
        </p:spPr>
        <p:txBody>
          <a:bodyPr wrap="square" lIns="0" tIns="0" rIns="0" bIns="0" rtlCol="0" anchor="ctr"/>
          <a:lstStyle/>
          <a:p>
            <a:pPr algn="r" indent="0" marL="0">
              <a:buNone/>
            </a:pPr>
            <a:r>
              <a:rPr lang="en-US" sz="1000" b="1" dirty="0">
                <a:solidFill>
                  <a:srgbClr val="F5F0E8"/>
                </a:solidFill>
                <a:latin typeface="Arial" pitchFamily="34" charset="0"/>
                <a:ea typeface="Arial" pitchFamily="34" charset="-122"/>
                <a:cs typeface="Arial" pitchFamily="34" charset="-120"/>
              </a:rPr>
              <a:t>50-80 features</a:t>
            </a:r>
            <a:endParaRPr lang="en-US" sz="1000" dirty="0"/>
          </a:p>
        </p:txBody>
      </p:sp>
      <p:sp>
        <p:nvSpPr>
          <p:cNvPr id="19" name="Shape 16"/>
          <p:cNvSpPr/>
          <p:nvPr/>
        </p:nvSpPr>
        <p:spPr>
          <a:xfrm>
            <a:off x="4091940" y="2121408"/>
            <a:ext cx="3703320" cy="640080"/>
          </a:xfrm>
          <a:prstGeom prst="rect">
            <a:avLst>
              <a:gd name="adj" fmla="val 8571"/>
            </a:avLst>
          </a:prstGeom>
          <a:solidFill>
            <a:srgbClr val="111D2E"/>
          </a:solidFill>
          <a:ln w="6350">
            <a:solidFill>
              <a:srgbClr val="0A1525"/>
            </a:solidFill>
            <a:prstDash val="solid"/>
          </a:ln>
        </p:spPr>
      </p:sp>
      <p:sp>
        <p:nvSpPr>
          <p:cNvPr id="20" name="Text 17"/>
          <p:cNvSpPr/>
          <p:nvPr/>
        </p:nvSpPr>
        <p:spPr>
          <a:xfrm>
            <a:off x="4229100" y="2176272"/>
            <a:ext cx="1110996" cy="530352"/>
          </a:xfrm>
          <a:prstGeom prst="rect">
            <a:avLst/>
          </a:prstGeom>
          <a:noFill/>
          <a:ln/>
        </p:spPr>
        <p:txBody>
          <a:bodyPr wrap="square" lIns="0" tIns="0" rIns="0" bIns="0" rtlCol="0" anchor="ctr"/>
          <a:lstStyle/>
          <a:p>
            <a:pPr indent="0" marL="0">
              <a:buNone/>
            </a:pPr>
            <a:r>
              <a:rPr lang="en-US" sz="1000" b="1" dirty="0">
                <a:solidFill>
                  <a:srgbClr val="5391D5"/>
                </a:solidFill>
                <a:latin typeface="Arial" pitchFamily="34" charset="0"/>
                <a:ea typeface="Arial" pitchFamily="34" charset="-122"/>
                <a:cs typeface="Arial" pitchFamily="34" charset="-120"/>
              </a:rPr>
              <a:t>Model Training</a:t>
            </a:r>
            <a:endParaRPr lang="en-US" sz="1000" dirty="0"/>
          </a:p>
        </p:txBody>
      </p:sp>
      <p:sp>
        <p:nvSpPr>
          <p:cNvPr id="21" name="Text 18"/>
          <p:cNvSpPr/>
          <p:nvPr/>
        </p:nvSpPr>
        <p:spPr>
          <a:xfrm>
            <a:off x="5277002" y="2176272"/>
            <a:ext cx="2221992" cy="530352"/>
          </a:xfrm>
          <a:prstGeom prst="rect">
            <a:avLst/>
          </a:prstGeom>
          <a:noFill/>
          <a:ln/>
        </p:spPr>
        <p:txBody>
          <a:bodyPr wrap="square" lIns="0" tIns="0" rIns="0" bIns="0" rtlCol="0" anchor="ctr"/>
          <a:lstStyle/>
          <a:p>
            <a:pPr indent="0" marL="0">
              <a:buNone/>
            </a:pPr>
            <a:r>
              <a:rPr lang="en-US" sz="800" dirty="0">
                <a:solidFill>
                  <a:srgbClr val="8A9BB5"/>
                </a:solidFill>
                <a:latin typeface="Arial" pitchFamily="34" charset="0"/>
                <a:ea typeface="Arial" pitchFamily="34" charset="-122"/>
                <a:cs typeface="Arial" pitchFamily="34" charset="-120"/>
              </a:rPr>
              <a:t>Logistic regression (baseline), random forest, gradient boosting (XGBoost), and neural network candidates</a:t>
            </a:r>
            <a:endParaRPr lang="en-US" sz="800" dirty="0"/>
          </a:p>
        </p:txBody>
      </p:sp>
      <p:sp>
        <p:nvSpPr>
          <p:cNvPr id="22" name="Text 19"/>
          <p:cNvSpPr/>
          <p:nvPr/>
        </p:nvSpPr>
        <p:spPr>
          <a:xfrm>
            <a:off x="7155180" y="2176272"/>
            <a:ext cx="502920" cy="530352"/>
          </a:xfrm>
          <a:prstGeom prst="rect">
            <a:avLst/>
          </a:prstGeom>
          <a:noFill/>
          <a:ln/>
        </p:spPr>
        <p:txBody>
          <a:bodyPr wrap="square" lIns="0" tIns="0" rIns="0" bIns="0" rtlCol="0" anchor="ctr"/>
          <a:lstStyle/>
          <a:p>
            <a:pPr algn="r" indent="0" marL="0">
              <a:buNone/>
            </a:pPr>
            <a:r>
              <a:rPr lang="en-US" sz="1000" b="1" dirty="0">
                <a:solidFill>
                  <a:srgbClr val="F5F0E8"/>
                </a:solidFill>
                <a:latin typeface="Arial" pitchFamily="34" charset="0"/>
                <a:ea typeface="Arial" pitchFamily="34" charset="-122"/>
                <a:cs typeface="Arial" pitchFamily="34" charset="-120"/>
              </a:rPr>
              <a:t>3-5 models</a:t>
            </a:r>
            <a:endParaRPr lang="en-US" sz="1000" dirty="0"/>
          </a:p>
        </p:txBody>
      </p:sp>
      <p:sp>
        <p:nvSpPr>
          <p:cNvPr id="23" name="Shape 20"/>
          <p:cNvSpPr/>
          <p:nvPr/>
        </p:nvSpPr>
        <p:spPr>
          <a:xfrm>
            <a:off x="4537710" y="2816352"/>
            <a:ext cx="2811780" cy="640080"/>
          </a:xfrm>
          <a:prstGeom prst="rect">
            <a:avLst>
              <a:gd name="adj" fmla="val 8571"/>
            </a:avLst>
          </a:prstGeom>
          <a:solidFill>
            <a:srgbClr val="111D2E"/>
          </a:solidFill>
          <a:ln w="6350">
            <a:solidFill>
              <a:srgbClr val="0A1525"/>
            </a:solidFill>
            <a:prstDash val="solid"/>
          </a:ln>
        </p:spPr>
      </p:sp>
      <p:sp>
        <p:nvSpPr>
          <p:cNvPr id="24" name="Text 21"/>
          <p:cNvSpPr/>
          <p:nvPr/>
        </p:nvSpPr>
        <p:spPr>
          <a:xfrm>
            <a:off x="4674870" y="2871216"/>
            <a:ext cx="843534" cy="530352"/>
          </a:xfrm>
          <a:prstGeom prst="rect">
            <a:avLst/>
          </a:prstGeom>
          <a:noFill/>
          <a:ln/>
        </p:spPr>
        <p:txBody>
          <a:bodyPr wrap="square" lIns="0" tIns="0" rIns="0" bIns="0" rtlCol="0" anchor="ctr"/>
          <a:lstStyle/>
          <a:p>
            <a:pPr indent="0" marL="0">
              <a:buNone/>
            </a:pPr>
            <a:r>
              <a:rPr lang="en-US" sz="1000" b="1" dirty="0">
                <a:solidFill>
                  <a:srgbClr val="5391D5"/>
                </a:solidFill>
                <a:latin typeface="Arial" pitchFamily="34" charset="0"/>
                <a:ea typeface="Arial" pitchFamily="34" charset="-122"/>
                <a:cs typeface="Arial" pitchFamily="34" charset="-120"/>
              </a:rPr>
              <a:t>Model Selection</a:t>
            </a:r>
            <a:endParaRPr lang="en-US" sz="1000" dirty="0"/>
          </a:p>
        </p:txBody>
      </p:sp>
      <p:sp>
        <p:nvSpPr>
          <p:cNvPr id="25" name="Text 22"/>
          <p:cNvSpPr/>
          <p:nvPr/>
        </p:nvSpPr>
        <p:spPr>
          <a:xfrm>
            <a:off x="5437480" y="2871216"/>
            <a:ext cx="1687068" cy="530352"/>
          </a:xfrm>
          <a:prstGeom prst="rect">
            <a:avLst/>
          </a:prstGeom>
          <a:noFill/>
          <a:ln/>
        </p:spPr>
        <p:txBody>
          <a:bodyPr wrap="square" lIns="0" tIns="0" rIns="0" bIns="0" rtlCol="0" anchor="ctr"/>
          <a:lstStyle/>
          <a:p>
            <a:pPr indent="0" marL="0">
              <a:buNone/>
            </a:pPr>
            <a:r>
              <a:rPr lang="en-US" sz="800" dirty="0">
                <a:solidFill>
                  <a:srgbClr val="8A9BB5"/>
                </a:solidFill>
                <a:latin typeface="Arial" pitchFamily="34" charset="0"/>
                <a:ea typeface="Arial" pitchFamily="34" charset="-122"/>
                <a:cs typeface="Arial" pitchFamily="34" charset="-120"/>
              </a:rPr>
              <a:t>Select based on AUC-ROC, Gini coefficient, and KS statistic; ensemble methods often win</a:t>
            </a:r>
            <a:endParaRPr lang="en-US" sz="800" dirty="0"/>
          </a:p>
        </p:txBody>
      </p:sp>
      <p:sp>
        <p:nvSpPr>
          <p:cNvPr id="26" name="Text 23"/>
          <p:cNvSpPr/>
          <p:nvPr/>
        </p:nvSpPr>
        <p:spPr>
          <a:xfrm>
            <a:off x="6709410" y="2871216"/>
            <a:ext cx="502920" cy="530352"/>
          </a:xfrm>
          <a:prstGeom prst="rect">
            <a:avLst/>
          </a:prstGeom>
          <a:noFill/>
          <a:ln/>
        </p:spPr>
        <p:txBody>
          <a:bodyPr wrap="square" lIns="0" tIns="0" rIns="0" bIns="0" rtlCol="0" anchor="ctr"/>
          <a:lstStyle/>
          <a:p>
            <a:pPr algn="r" indent="0" marL="0">
              <a:buNone/>
            </a:pPr>
            <a:r>
              <a:rPr lang="en-US" sz="1000" b="1" dirty="0">
                <a:solidFill>
                  <a:srgbClr val="F5F0E8"/>
                </a:solidFill>
                <a:latin typeface="Arial" pitchFamily="34" charset="0"/>
                <a:ea typeface="Arial" pitchFamily="34" charset="-122"/>
                <a:cs typeface="Arial" pitchFamily="34" charset="-120"/>
              </a:rPr>
              <a:t>1 champion</a:t>
            </a:r>
            <a:endParaRPr lang="en-US" sz="1000" dirty="0"/>
          </a:p>
        </p:txBody>
      </p:sp>
      <p:sp>
        <p:nvSpPr>
          <p:cNvPr id="27" name="Shape 24"/>
          <p:cNvSpPr/>
          <p:nvPr/>
        </p:nvSpPr>
        <p:spPr>
          <a:xfrm>
            <a:off x="4983480" y="3511296"/>
            <a:ext cx="1920240" cy="640080"/>
          </a:xfrm>
          <a:prstGeom prst="rect">
            <a:avLst>
              <a:gd name="adj" fmla="val 8571"/>
            </a:avLst>
          </a:prstGeom>
          <a:solidFill>
            <a:srgbClr val="111D2E"/>
          </a:solidFill>
          <a:ln w="6350">
            <a:solidFill>
              <a:srgbClr val="0A1525"/>
            </a:solidFill>
            <a:prstDash val="solid"/>
          </a:ln>
        </p:spPr>
      </p:sp>
      <p:sp>
        <p:nvSpPr>
          <p:cNvPr id="28" name="Text 25"/>
          <p:cNvSpPr/>
          <p:nvPr/>
        </p:nvSpPr>
        <p:spPr>
          <a:xfrm>
            <a:off x="5120640" y="3566160"/>
            <a:ext cx="576072" cy="530352"/>
          </a:xfrm>
          <a:prstGeom prst="rect">
            <a:avLst/>
          </a:prstGeom>
          <a:noFill/>
          <a:ln/>
        </p:spPr>
        <p:txBody>
          <a:bodyPr wrap="square" lIns="0" tIns="0" rIns="0" bIns="0" rtlCol="0" anchor="ctr"/>
          <a:lstStyle/>
          <a:p>
            <a:pPr indent="0" marL="0">
              <a:buNone/>
            </a:pPr>
            <a:r>
              <a:rPr lang="en-US" sz="1000" b="1" dirty="0">
                <a:solidFill>
                  <a:srgbClr val="5391D5"/>
                </a:solidFill>
                <a:latin typeface="Arial" pitchFamily="34" charset="0"/>
                <a:ea typeface="Arial" pitchFamily="34" charset="-122"/>
                <a:cs typeface="Arial" pitchFamily="34" charset="-120"/>
              </a:rPr>
              <a:t>Risk Scoring</a:t>
            </a:r>
            <a:endParaRPr lang="en-US" sz="1000" dirty="0"/>
          </a:p>
        </p:txBody>
      </p:sp>
      <p:sp>
        <p:nvSpPr>
          <p:cNvPr id="29" name="Text 26"/>
          <p:cNvSpPr/>
          <p:nvPr/>
        </p:nvSpPr>
        <p:spPr>
          <a:xfrm>
            <a:off x="5597957" y="3566160"/>
            <a:ext cx="1152144" cy="530352"/>
          </a:xfrm>
          <a:prstGeom prst="rect">
            <a:avLst/>
          </a:prstGeom>
          <a:noFill/>
          <a:ln/>
        </p:spPr>
        <p:txBody>
          <a:bodyPr wrap="square" lIns="0" tIns="0" rIns="0" bIns="0" rtlCol="0" anchor="ctr"/>
          <a:lstStyle/>
          <a:p>
            <a:pPr indent="0" marL="0">
              <a:buNone/>
            </a:pPr>
            <a:r>
              <a:rPr lang="en-US" sz="800" dirty="0">
                <a:solidFill>
                  <a:srgbClr val="8A9BB5"/>
                </a:solidFill>
                <a:latin typeface="Arial" pitchFamily="34" charset="0"/>
                <a:ea typeface="Arial" pitchFamily="34" charset="-122"/>
                <a:cs typeface="Arial" pitchFamily="34" charset="-120"/>
              </a:rPr>
              <a:t>Probability of default mapped to risk grades (AAA to D) with associated loss-given-default estimates</a:t>
            </a:r>
            <a:endParaRPr lang="en-US" sz="800" dirty="0"/>
          </a:p>
        </p:txBody>
      </p:sp>
      <p:sp>
        <p:nvSpPr>
          <p:cNvPr id="30" name="Text 27"/>
          <p:cNvSpPr/>
          <p:nvPr/>
        </p:nvSpPr>
        <p:spPr>
          <a:xfrm>
            <a:off x="6263640" y="3566160"/>
            <a:ext cx="502920" cy="530352"/>
          </a:xfrm>
          <a:prstGeom prst="rect">
            <a:avLst/>
          </a:prstGeom>
          <a:noFill/>
          <a:ln/>
        </p:spPr>
        <p:txBody>
          <a:bodyPr wrap="square" lIns="0" tIns="0" rIns="0" bIns="0" rtlCol="0" anchor="ctr"/>
          <a:lstStyle/>
          <a:p>
            <a:pPr algn="r" indent="0" marL="0">
              <a:buNone/>
            </a:pPr>
            <a:r>
              <a:rPr lang="en-US" sz="1000" b="1" dirty="0">
                <a:solidFill>
                  <a:srgbClr val="F5F0E8"/>
                </a:solidFill>
                <a:latin typeface="Arial" pitchFamily="34" charset="0"/>
                <a:ea typeface="Arial" pitchFamily="34" charset="-122"/>
                <a:cs typeface="Arial" pitchFamily="34" charset="-120"/>
              </a:rPr>
              <a:t>Score output</a:t>
            </a:r>
            <a:endParaRPr lang="en-US" sz="1000" dirty="0"/>
          </a:p>
        </p:txBody>
      </p:sp>
      <p:pic>
        <p:nvPicPr>
          <p:cNvPr id="4" name="Media 0">
            <a:hlinkClick r:id="" action="ppaction://media"/>
          </p:cNvPr>
          <p:cNvPicPr>
            <a:picLocks noChangeAspect="1"/>
          </p:cNvPicPr>
          <p:nvPr>
            <a:audioFile r:link="rId2"/>
            <p:extLst>
              <p:ext uri="{DAA4B4D4-6D71-4841-9C94-3DE7FCFB9230}">
                <p14:media xmlns:p14="http://schemas.microsoft.com/office/powerpoint/2010/main" r:embed="rId3"/>
              </p:ext>
            </p:extLst>
          </p:nvPr>
        </p:nvPicPr>
        <p:blipFill>
          <a:blip r:embed="rId4"/>
          <a:stretch>
            <a:fillRect/>
          </a:stretch>
        </p:blipFill>
        <p:spPr>
          <a:xfrm>
            <a:off x="10058400" y="6057900"/>
            <a:ext cx="9144" cy="9144"/>
          </a:xfrm>
          <a:prstGeom prst="rect">
            <a:avLst/>
          </a:prstGeom>
        </p:spPr>
      </p:pic>
      <p:sp>
        <p:nvSpPr>
          <p:cNvPr id="33" name="Text 28"/>
          <p:cNvSpPr/>
          <p:nvPr/>
        </p:nvSpPr>
        <p:spPr>
          <a:xfrm>
            <a:off x="7955280" y="4732020"/>
            <a:ext cx="731520" cy="228600"/>
          </a:xfrm>
          <a:prstGeom prst="rect">
            <a:avLst/>
          </a:prstGeom>
          <a:noFill/>
          <a:ln/>
        </p:spPr>
        <p:txBody>
          <a:bodyPr wrap="square" lIns="0" tIns="0" rIns="0" bIns="0" rtlCol="0" anchor="ctr"/>
          <a:lstStyle/>
          <a:p>
            <a:pPr algn="r" indent="0" marL="0">
              <a:buNone/>
            </a:pPr>
            <a:r>
              <a:rPr lang="en-US" sz="800" dirty="0">
                <a:solidFill>
                  <a:srgbClr val="8A9BB5"/>
                </a:solidFill>
                <a:latin typeface="Arial" pitchFamily="34" charset="0"/>
                <a:ea typeface="Arial" pitchFamily="34" charset="-122"/>
                <a:cs typeface="Arial" pitchFamily="34" charset="-120"/>
              </a:rPr>
              <a:t>7 / 10</a:t>
            </a:r>
            <a:endParaRPr lang="en-US" sz="800" dirty="0"/>
          </a:p>
        </p:txBody>
      </p:sp>
    </p:spTree>
  </p:cSld>
  <p:clrMapOvr>
    <a:masterClrMapping/>
  </p:clrMapOvr>
  <p:transition spd="fast" advClick="0" advTm="73620">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 presetClass="mediacall" presetSubtype="0" fill="hold" nodeType="withEffect">
                                  <p:stCondLst>
                                    <p:cond delay="0"/>
                                  </p:stCondLst>
                                  <p:childTnLst>
                                    <p:cmd type="call" cmd="playFrom(0)">
                                      <p:cBhvr>
                                        <p:cTn id="6" dur="indefinite"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137160"/>
            <a:ext cx="6400800" cy="228600"/>
          </a:xfrm>
          <a:prstGeom prst="rect">
            <a:avLst/>
          </a:prstGeom>
          <a:noFill/>
          <a:ln/>
        </p:spPr>
        <p:txBody>
          <a:bodyPr wrap="square" lIns="0" tIns="0" rIns="0" bIns="0" rtlCol="0" anchor="ctr"/>
          <a:lstStyle/>
          <a:p>
            <a:pPr indent="0" marL="0">
              <a:buNone/>
            </a:pPr>
            <a:r>
              <a:rPr lang="en-US" sz="700" dirty="0">
                <a:solidFill>
                  <a:srgbClr val="8A9BB5"/>
                </a:solidFill>
                <a:latin typeface="Arial" pitchFamily="34" charset="0"/>
                <a:ea typeface="Arial" pitchFamily="34" charset="-122"/>
                <a:cs typeface="Arial" pitchFamily="34" charset="-120"/>
              </a:rPr>
              <a:t>CAIFL &gt; Module 02 &gt; Predictive Models for Financial KPIs</a:t>
            </a:r>
            <a:endParaRPr lang="en-US" sz="700" dirty="0"/>
          </a:p>
        </p:txBody>
      </p:sp>
      <p:sp>
        <p:nvSpPr>
          <p:cNvPr id="3" name="Shape 1"/>
          <p:cNvSpPr/>
          <p:nvPr/>
        </p:nvSpPr>
        <p:spPr>
          <a:xfrm>
            <a:off x="8174736" y="164592"/>
            <a:ext cx="73152" cy="73152"/>
          </a:xfrm>
          <a:prstGeom prst="ellipse">
            <a:avLst/>
          </a:prstGeom>
          <a:solidFill>
            <a:srgbClr val="5391D5"/>
          </a:solidFill>
          <a:ln w="6350">
            <a:solidFill>
              <a:srgbClr val="8A9BB5"/>
            </a:solidFill>
            <a:prstDash val="solid"/>
          </a:ln>
        </p:spPr>
      </p:sp>
      <p:sp>
        <p:nvSpPr>
          <p:cNvPr id="4" name="Shape 2"/>
          <p:cNvSpPr/>
          <p:nvPr/>
        </p:nvSpPr>
        <p:spPr>
          <a:xfrm>
            <a:off x="8302752" y="164592"/>
            <a:ext cx="73152" cy="73152"/>
          </a:xfrm>
          <a:prstGeom prst="ellipse">
            <a:avLst/>
          </a:prstGeom>
          <a:solidFill>
            <a:srgbClr val="5391D5"/>
          </a:solidFill>
          <a:ln w="6350">
            <a:solidFill>
              <a:srgbClr val="8A9BB5"/>
            </a:solidFill>
            <a:prstDash val="solid"/>
          </a:ln>
        </p:spPr>
      </p:sp>
      <p:sp>
        <p:nvSpPr>
          <p:cNvPr id="5" name="Shape 3"/>
          <p:cNvSpPr/>
          <p:nvPr/>
        </p:nvSpPr>
        <p:spPr>
          <a:xfrm>
            <a:off x="8430768" y="164592"/>
            <a:ext cx="73152" cy="73152"/>
          </a:xfrm>
          <a:prstGeom prst="ellipse">
            <a:avLst/>
          </a:prstGeom>
          <a:solidFill>
            <a:srgbClr val="0A1525"/>
          </a:solidFill>
          <a:ln w="6350">
            <a:solidFill>
              <a:srgbClr val="8A9BB5"/>
            </a:solidFill>
            <a:prstDash val="solid"/>
          </a:ln>
        </p:spPr>
      </p:sp>
      <p:sp>
        <p:nvSpPr>
          <p:cNvPr id="6" name="Shape 4"/>
          <p:cNvSpPr/>
          <p:nvPr/>
        </p:nvSpPr>
        <p:spPr>
          <a:xfrm>
            <a:off x="8558784" y="164592"/>
            <a:ext cx="73152" cy="73152"/>
          </a:xfrm>
          <a:prstGeom prst="ellipse">
            <a:avLst/>
          </a:prstGeom>
          <a:solidFill>
            <a:srgbClr val="0A1525"/>
          </a:solidFill>
          <a:ln w="6350">
            <a:solidFill>
              <a:srgbClr val="8A9BB5"/>
            </a:solidFill>
            <a:prstDash val="solid"/>
          </a:ln>
        </p:spPr>
      </p:sp>
      <p:pic>
        <p:nvPicPr>
          <p:cNvPr id="7" name="Image 0" descr="C:\Users\AimanSadeq\OneDrive - Virginia Institute of Finance\VIFM eLearning Portal\vifm-elearning\scripts\lesson-generator\assets\vifm-logo-white.png">    </p:cNvPr>
          <p:cNvPicPr>
            <a:picLocks noChangeAspect="1"/>
          </p:cNvPicPr>
          <p:nvPr/>
        </p:nvPicPr>
        <p:blipFill>
          <a:blip r:embed="rId1"/>
          <a:stretch>
            <a:fillRect/>
          </a:stretch>
        </p:blipFill>
        <p:spPr>
          <a:xfrm>
            <a:off x="457200" y="4686300"/>
            <a:ext cx="810491" cy="182880"/>
          </a:xfrm>
          <a:prstGeom prst="rect">
            <a:avLst/>
          </a:prstGeom>
        </p:spPr>
      </p:pic>
      <p:sp>
        <p:nvSpPr>
          <p:cNvPr id="8" name="Shape 5"/>
          <p:cNvSpPr/>
          <p:nvPr/>
        </p:nvSpPr>
        <p:spPr>
          <a:xfrm>
            <a:off x="0" y="5106924"/>
            <a:ext cx="9144000" cy="36576"/>
          </a:xfrm>
          <a:prstGeom prst="rect">
            <a:avLst/>
          </a:prstGeom>
          <a:solidFill>
            <a:srgbClr val="5391D5"/>
          </a:solidFill>
          <a:ln/>
        </p:spPr>
      </p:sp>
      <p:sp>
        <p:nvSpPr>
          <p:cNvPr id="9" name="Text 6"/>
          <p:cNvSpPr/>
          <p:nvPr/>
        </p:nvSpPr>
        <p:spPr>
          <a:xfrm>
            <a:off x="457200" y="640080"/>
            <a:ext cx="2560320" cy="228600"/>
          </a:xfrm>
          <a:prstGeom prst="rect">
            <a:avLst/>
          </a:prstGeom>
          <a:noFill/>
          <a:ln/>
        </p:spPr>
        <p:txBody>
          <a:bodyPr wrap="square" lIns="0" tIns="0" rIns="0" bIns="0" rtlCol="0" anchor="ctr"/>
          <a:lstStyle/>
          <a:p>
            <a:pPr indent="0" marL="0">
              <a:buNone/>
            </a:pPr>
            <a:r>
              <a:rPr lang="en-US" sz="800" spc="200" kern="0" dirty="0">
                <a:solidFill>
                  <a:srgbClr val="5391D5"/>
                </a:solidFill>
                <a:latin typeface="Arial" pitchFamily="34" charset="0"/>
                <a:ea typeface="Arial" pitchFamily="34" charset="-122"/>
                <a:cs typeface="Arial" pitchFamily="34" charset="-120"/>
              </a:rPr>
              <a:t>MODEL VALIDATION</a:t>
            </a:r>
            <a:endParaRPr lang="en-US" sz="800" dirty="0"/>
          </a:p>
        </p:txBody>
      </p:sp>
      <p:sp>
        <p:nvSpPr>
          <p:cNvPr id="10" name="Text 7"/>
          <p:cNvSpPr/>
          <p:nvPr/>
        </p:nvSpPr>
        <p:spPr>
          <a:xfrm>
            <a:off x="457200" y="868680"/>
            <a:ext cx="2560320" cy="1097280"/>
          </a:xfrm>
          <a:prstGeom prst="rect">
            <a:avLst/>
          </a:prstGeom>
          <a:noFill/>
          <a:ln/>
        </p:spPr>
        <p:txBody>
          <a:bodyPr wrap="square" lIns="0" tIns="0" rIns="0" bIns="0" rtlCol="0" anchor="t"/>
          <a:lstStyle/>
          <a:p>
            <a:pPr indent="0" marL="0">
              <a:buNone/>
            </a:pPr>
            <a:r>
              <a:rPr lang="en-US" sz="2200" b="1" dirty="0">
                <a:solidFill>
                  <a:srgbClr val="F5F0E8"/>
                </a:solidFill>
                <a:latin typeface="Arial" pitchFamily="34" charset="0"/>
                <a:ea typeface="Arial" pitchFamily="34" charset="-122"/>
                <a:cs typeface="Arial" pitchFamily="34" charset="-120"/>
              </a:rPr>
              <a:t>Model </a:t>
            </a:r>
            <a:pPr indent="0" marL="0">
              <a:buNone/>
            </a:pPr>
            <a:r>
              <a:rPr lang="en-US" sz="2200" b="1" dirty="0">
                <a:solidFill>
                  <a:srgbClr val="5391D5"/>
                </a:solidFill>
                <a:latin typeface="Arial" pitchFamily="34" charset="0"/>
                <a:ea typeface="Arial" pitchFamily="34" charset="-122"/>
                <a:cs typeface="Arial" pitchFamily="34" charset="-120"/>
              </a:rPr>
              <a:t>Validation</a:t>
            </a:r>
            <a:pPr indent="0" marL="0">
              <a:buNone/>
            </a:pPr>
            <a:r>
              <a:rPr lang="en-US" sz="2200" b="1" dirty="0">
                <a:solidFill>
                  <a:srgbClr val="F5F0E8"/>
                </a:solidFill>
                <a:latin typeface="Arial" pitchFamily="34" charset="0"/>
                <a:ea typeface="Arial" pitchFamily="34" charset="-122"/>
                <a:cs typeface="Arial" pitchFamily="34" charset="-120"/>
              </a:rPr>
              <a:t> Best Practices</a:t>
            </a:r>
            <a:endParaRPr lang="en-US" sz="2200" dirty="0"/>
          </a:p>
        </p:txBody>
      </p:sp>
      <p:sp>
        <p:nvSpPr>
          <p:cNvPr id="11" name="Shape 8"/>
          <p:cNvSpPr/>
          <p:nvPr/>
        </p:nvSpPr>
        <p:spPr>
          <a:xfrm>
            <a:off x="3200400" y="731520"/>
            <a:ext cx="1755648" cy="1097280"/>
          </a:xfrm>
          <a:prstGeom prst="rect">
            <a:avLst>
              <a:gd name="adj" fmla="val 5000"/>
            </a:avLst>
          </a:prstGeom>
          <a:solidFill>
            <a:srgbClr val="111D2E"/>
          </a:solidFill>
          <a:ln w="6350">
            <a:solidFill>
              <a:srgbClr val="0A1525"/>
            </a:solidFill>
            <a:prstDash val="solid"/>
          </a:ln>
        </p:spPr>
      </p:sp>
      <p:sp>
        <p:nvSpPr>
          <p:cNvPr id="12" name="Shape 9"/>
          <p:cNvSpPr/>
          <p:nvPr/>
        </p:nvSpPr>
        <p:spPr>
          <a:xfrm>
            <a:off x="3291840" y="822960"/>
            <a:ext cx="320040" cy="320040"/>
          </a:xfrm>
          <a:prstGeom prst="ellipse">
            <a:avLst/>
          </a:prstGeom>
          <a:solidFill>
            <a:srgbClr val="5391D5">
              <a:alpha val="20000"/>
            </a:srgbClr>
          </a:solidFill>
          <a:ln w="9525">
            <a:solidFill>
              <a:srgbClr val="5391D5"/>
            </a:solidFill>
            <a:prstDash val="solid"/>
          </a:ln>
        </p:spPr>
      </p:sp>
      <p:pic>
        <p:nvPicPr>
          <p:cNvPr id="13" name="Image 1" descr="C:\Users\AimanSadeq\OneDrive - Virginia Institute of Finance\VIFM eLearning Portal\vifm-elearning\scripts\lesson-generator\assets\icons\shuffle.png">    </p:cNvPr>
          <p:cNvPicPr>
            <a:picLocks noChangeAspect="1"/>
          </p:cNvPicPr>
          <p:nvPr/>
        </p:nvPicPr>
        <p:blipFill>
          <a:blip r:embed="rId2"/>
          <a:stretch>
            <a:fillRect/>
          </a:stretch>
        </p:blipFill>
        <p:spPr>
          <a:xfrm>
            <a:off x="3362249" y="893369"/>
            <a:ext cx="179222" cy="179222"/>
          </a:xfrm>
          <a:prstGeom prst="rect">
            <a:avLst/>
          </a:prstGeom>
        </p:spPr>
      </p:pic>
      <p:sp>
        <p:nvSpPr>
          <p:cNvPr id="14" name="Text 10"/>
          <p:cNvSpPr/>
          <p:nvPr/>
        </p:nvSpPr>
        <p:spPr>
          <a:xfrm>
            <a:off x="3291840" y="1170432"/>
            <a:ext cx="1572768" cy="228600"/>
          </a:xfrm>
          <a:prstGeom prst="rect">
            <a:avLst/>
          </a:prstGeom>
          <a:noFill/>
          <a:ln/>
        </p:spPr>
        <p:txBody>
          <a:bodyPr wrap="square" lIns="0" tIns="0" rIns="0" bIns="0" rtlCol="0" anchor="ctr"/>
          <a:lstStyle/>
          <a:p>
            <a:pPr indent="0" marL="0">
              <a:buNone/>
            </a:pPr>
            <a:r>
              <a:rPr lang="en-US" sz="1000" b="1" dirty="0">
                <a:solidFill>
                  <a:srgbClr val="F5F0E8"/>
                </a:solidFill>
                <a:latin typeface="Arial" pitchFamily="34" charset="0"/>
                <a:ea typeface="Arial" pitchFamily="34" charset="-122"/>
                <a:cs typeface="Arial" pitchFamily="34" charset="-120"/>
              </a:rPr>
              <a:t>Train/Test Split</a:t>
            </a:r>
            <a:endParaRPr lang="en-US" sz="1000" dirty="0"/>
          </a:p>
        </p:txBody>
      </p:sp>
      <p:sp>
        <p:nvSpPr>
          <p:cNvPr id="15" name="Text 11"/>
          <p:cNvSpPr/>
          <p:nvPr/>
        </p:nvSpPr>
        <p:spPr>
          <a:xfrm>
            <a:off x="3291840" y="1399032"/>
            <a:ext cx="1572768" cy="338328"/>
          </a:xfrm>
          <a:prstGeom prst="rect">
            <a:avLst/>
          </a:prstGeom>
          <a:noFill/>
          <a:ln/>
        </p:spPr>
        <p:txBody>
          <a:bodyPr wrap="square" lIns="0" tIns="0" rIns="0" bIns="0" rtlCol="0" anchor="t"/>
          <a:lstStyle/>
          <a:p>
            <a:pPr indent="0" marL="0">
              <a:buNone/>
            </a:pPr>
            <a:r>
              <a:rPr lang="en-US" sz="800" dirty="0">
                <a:solidFill>
                  <a:srgbClr val="8A9BB5"/>
                </a:solidFill>
                <a:latin typeface="Arial" pitchFamily="34" charset="0"/>
                <a:ea typeface="Arial" pitchFamily="34" charset="-122"/>
                <a:cs typeface="Arial" pitchFamily="34" charset="-120"/>
              </a:rPr>
              <a:t>Reserve 20-30% of data as a holdout test set that the model never sees during training. For time series, always use temporal splits, not random splits.</a:t>
            </a:r>
            <a:endParaRPr lang="en-US" sz="800" dirty="0"/>
          </a:p>
        </p:txBody>
      </p:sp>
      <p:sp>
        <p:nvSpPr>
          <p:cNvPr id="16" name="Shape 12"/>
          <p:cNvSpPr/>
          <p:nvPr/>
        </p:nvSpPr>
        <p:spPr>
          <a:xfrm>
            <a:off x="5065776" y="731520"/>
            <a:ext cx="1755648" cy="1097280"/>
          </a:xfrm>
          <a:prstGeom prst="rect">
            <a:avLst>
              <a:gd name="adj" fmla="val 5000"/>
            </a:avLst>
          </a:prstGeom>
          <a:solidFill>
            <a:srgbClr val="111D2E"/>
          </a:solidFill>
          <a:ln w="6350">
            <a:solidFill>
              <a:srgbClr val="0A1525"/>
            </a:solidFill>
            <a:prstDash val="solid"/>
          </a:ln>
        </p:spPr>
      </p:sp>
      <p:sp>
        <p:nvSpPr>
          <p:cNvPr id="17" name="Shape 13"/>
          <p:cNvSpPr/>
          <p:nvPr/>
        </p:nvSpPr>
        <p:spPr>
          <a:xfrm>
            <a:off x="5157216" y="822960"/>
            <a:ext cx="320040" cy="320040"/>
          </a:xfrm>
          <a:prstGeom prst="ellipse">
            <a:avLst/>
          </a:prstGeom>
          <a:solidFill>
            <a:srgbClr val="5391D5">
              <a:alpha val="20000"/>
            </a:srgbClr>
          </a:solidFill>
          <a:ln w="9525">
            <a:solidFill>
              <a:srgbClr val="5391D5"/>
            </a:solidFill>
            <a:prstDash val="solid"/>
          </a:ln>
        </p:spPr>
      </p:sp>
      <p:pic>
        <p:nvPicPr>
          <p:cNvPr id="18" name="Image 2" descr="C:\Users\AimanSadeq\OneDrive - Virginia Institute of Finance\VIFM eLearning Portal\vifm-elearning\scripts\lesson-generator\assets\icons\refresh.png">    </p:cNvPr>
          <p:cNvPicPr>
            <a:picLocks noChangeAspect="1"/>
          </p:cNvPicPr>
          <p:nvPr/>
        </p:nvPicPr>
        <p:blipFill>
          <a:blip r:embed="rId3"/>
          <a:stretch>
            <a:fillRect/>
          </a:stretch>
        </p:blipFill>
        <p:spPr>
          <a:xfrm>
            <a:off x="5227625" y="893369"/>
            <a:ext cx="179222" cy="179222"/>
          </a:xfrm>
          <a:prstGeom prst="rect">
            <a:avLst/>
          </a:prstGeom>
        </p:spPr>
      </p:pic>
      <p:sp>
        <p:nvSpPr>
          <p:cNvPr id="19" name="Text 14"/>
          <p:cNvSpPr/>
          <p:nvPr/>
        </p:nvSpPr>
        <p:spPr>
          <a:xfrm>
            <a:off x="5157216" y="1170432"/>
            <a:ext cx="1572768" cy="228600"/>
          </a:xfrm>
          <a:prstGeom prst="rect">
            <a:avLst/>
          </a:prstGeom>
          <a:noFill/>
          <a:ln/>
        </p:spPr>
        <p:txBody>
          <a:bodyPr wrap="square" lIns="0" tIns="0" rIns="0" bIns="0" rtlCol="0" anchor="ctr"/>
          <a:lstStyle/>
          <a:p>
            <a:pPr indent="0" marL="0">
              <a:buNone/>
            </a:pPr>
            <a:r>
              <a:rPr lang="en-US" sz="1000" b="1" dirty="0">
                <a:solidFill>
                  <a:srgbClr val="F5F0E8"/>
                </a:solidFill>
                <a:latin typeface="Arial" pitchFamily="34" charset="0"/>
                <a:ea typeface="Arial" pitchFamily="34" charset="-122"/>
                <a:cs typeface="Arial" pitchFamily="34" charset="-120"/>
              </a:rPr>
              <a:t>Cross-Validation</a:t>
            </a:r>
            <a:endParaRPr lang="en-US" sz="1000" dirty="0"/>
          </a:p>
        </p:txBody>
      </p:sp>
      <p:sp>
        <p:nvSpPr>
          <p:cNvPr id="20" name="Text 15"/>
          <p:cNvSpPr/>
          <p:nvPr/>
        </p:nvSpPr>
        <p:spPr>
          <a:xfrm>
            <a:off x="5157216" y="1399032"/>
            <a:ext cx="1572768" cy="338328"/>
          </a:xfrm>
          <a:prstGeom prst="rect">
            <a:avLst/>
          </a:prstGeom>
          <a:noFill/>
          <a:ln/>
        </p:spPr>
        <p:txBody>
          <a:bodyPr wrap="square" lIns="0" tIns="0" rIns="0" bIns="0" rtlCol="0" anchor="t"/>
          <a:lstStyle/>
          <a:p>
            <a:pPr indent="0" marL="0">
              <a:buNone/>
            </a:pPr>
            <a:r>
              <a:rPr lang="en-US" sz="800" dirty="0">
                <a:solidFill>
                  <a:srgbClr val="8A9BB5"/>
                </a:solidFill>
                <a:latin typeface="Arial" pitchFamily="34" charset="0"/>
                <a:ea typeface="Arial" pitchFamily="34" charset="-122"/>
                <a:cs typeface="Arial" pitchFamily="34" charset="-120"/>
              </a:rPr>
              <a:t>Use k-fold cross-validation (k=5 or 10) to assess model stability across different data subsets. For time series, use walk-forward validation.</a:t>
            </a:r>
            <a:endParaRPr lang="en-US" sz="800" dirty="0"/>
          </a:p>
        </p:txBody>
      </p:sp>
      <p:sp>
        <p:nvSpPr>
          <p:cNvPr id="21" name="Shape 16"/>
          <p:cNvSpPr/>
          <p:nvPr/>
        </p:nvSpPr>
        <p:spPr>
          <a:xfrm>
            <a:off x="6931152" y="731520"/>
            <a:ext cx="1755648" cy="1097280"/>
          </a:xfrm>
          <a:prstGeom prst="rect">
            <a:avLst>
              <a:gd name="adj" fmla="val 5000"/>
            </a:avLst>
          </a:prstGeom>
          <a:solidFill>
            <a:srgbClr val="111D2E"/>
          </a:solidFill>
          <a:ln w="6350">
            <a:solidFill>
              <a:srgbClr val="0A1525"/>
            </a:solidFill>
            <a:prstDash val="solid"/>
          </a:ln>
        </p:spPr>
      </p:sp>
      <p:sp>
        <p:nvSpPr>
          <p:cNvPr id="22" name="Shape 17"/>
          <p:cNvSpPr/>
          <p:nvPr/>
        </p:nvSpPr>
        <p:spPr>
          <a:xfrm>
            <a:off x="7022592" y="822960"/>
            <a:ext cx="320040" cy="320040"/>
          </a:xfrm>
          <a:prstGeom prst="ellipse">
            <a:avLst/>
          </a:prstGeom>
          <a:solidFill>
            <a:srgbClr val="5391D5">
              <a:alpha val="20000"/>
            </a:srgbClr>
          </a:solidFill>
          <a:ln w="9525">
            <a:solidFill>
              <a:srgbClr val="5391D5"/>
            </a:solidFill>
            <a:prstDash val="solid"/>
          </a:ln>
        </p:spPr>
      </p:sp>
      <p:pic>
        <p:nvPicPr>
          <p:cNvPr id="23" name="Image 3" descr="C:\Users\AimanSadeq\OneDrive - Virginia Institute of Finance\VIFM eLearning Portal\vifm-elearning\scripts\lesson-generator\assets\icons\ruler.png">    </p:cNvPr>
          <p:cNvPicPr>
            <a:picLocks noChangeAspect="1"/>
          </p:cNvPicPr>
          <p:nvPr/>
        </p:nvPicPr>
        <p:blipFill>
          <a:blip r:embed="rId4"/>
          <a:stretch>
            <a:fillRect/>
          </a:stretch>
        </p:blipFill>
        <p:spPr>
          <a:xfrm>
            <a:off x="7093001" y="893369"/>
            <a:ext cx="179222" cy="179222"/>
          </a:xfrm>
          <a:prstGeom prst="rect">
            <a:avLst/>
          </a:prstGeom>
        </p:spPr>
      </p:pic>
      <p:sp>
        <p:nvSpPr>
          <p:cNvPr id="24" name="Text 18"/>
          <p:cNvSpPr/>
          <p:nvPr/>
        </p:nvSpPr>
        <p:spPr>
          <a:xfrm>
            <a:off x="7022592" y="1170432"/>
            <a:ext cx="1572768" cy="228600"/>
          </a:xfrm>
          <a:prstGeom prst="rect">
            <a:avLst/>
          </a:prstGeom>
          <a:noFill/>
          <a:ln/>
        </p:spPr>
        <p:txBody>
          <a:bodyPr wrap="square" lIns="0" tIns="0" rIns="0" bIns="0" rtlCol="0" anchor="ctr"/>
          <a:lstStyle/>
          <a:p>
            <a:pPr indent="0" marL="0">
              <a:buNone/>
            </a:pPr>
            <a:r>
              <a:rPr lang="en-US" sz="1000" b="1" dirty="0">
                <a:solidFill>
                  <a:srgbClr val="F5F0E8"/>
                </a:solidFill>
                <a:latin typeface="Arial" pitchFamily="34" charset="0"/>
                <a:ea typeface="Arial" pitchFamily="34" charset="-122"/>
                <a:cs typeface="Arial" pitchFamily="34" charset="-120"/>
              </a:rPr>
              <a:t>Error Metrics</a:t>
            </a:r>
            <a:endParaRPr lang="en-US" sz="1000" dirty="0"/>
          </a:p>
        </p:txBody>
      </p:sp>
      <p:sp>
        <p:nvSpPr>
          <p:cNvPr id="25" name="Text 19"/>
          <p:cNvSpPr/>
          <p:nvPr/>
        </p:nvSpPr>
        <p:spPr>
          <a:xfrm>
            <a:off x="7022592" y="1399032"/>
            <a:ext cx="1572768" cy="338328"/>
          </a:xfrm>
          <a:prstGeom prst="rect">
            <a:avLst/>
          </a:prstGeom>
          <a:noFill/>
          <a:ln/>
        </p:spPr>
        <p:txBody>
          <a:bodyPr wrap="square" lIns="0" tIns="0" rIns="0" bIns="0" rtlCol="0" anchor="t"/>
          <a:lstStyle/>
          <a:p>
            <a:pPr indent="0" marL="0">
              <a:buNone/>
            </a:pPr>
            <a:r>
              <a:rPr lang="en-US" sz="800" dirty="0">
                <a:solidFill>
                  <a:srgbClr val="8A9BB5"/>
                </a:solidFill>
                <a:latin typeface="Arial" pitchFamily="34" charset="0"/>
                <a:ea typeface="Arial" pitchFamily="34" charset="-122"/>
                <a:cs typeface="Arial" pitchFamily="34" charset="-120"/>
              </a:rPr>
              <a:t>Track RMSE, MAE, and MAPE for regression; AUC-ROC, precision, recall, and F1 for classification. Report on out-of-sample data only.</a:t>
            </a:r>
            <a:endParaRPr lang="en-US" sz="800" dirty="0"/>
          </a:p>
        </p:txBody>
      </p:sp>
      <p:sp>
        <p:nvSpPr>
          <p:cNvPr id="26" name="Shape 20"/>
          <p:cNvSpPr/>
          <p:nvPr/>
        </p:nvSpPr>
        <p:spPr>
          <a:xfrm>
            <a:off x="3200400" y="1938528"/>
            <a:ext cx="1755648" cy="1097280"/>
          </a:xfrm>
          <a:prstGeom prst="rect">
            <a:avLst>
              <a:gd name="adj" fmla="val 5000"/>
            </a:avLst>
          </a:prstGeom>
          <a:solidFill>
            <a:srgbClr val="111D2E"/>
          </a:solidFill>
          <a:ln w="6350">
            <a:solidFill>
              <a:srgbClr val="0A1525"/>
            </a:solidFill>
            <a:prstDash val="solid"/>
          </a:ln>
        </p:spPr>
      </p:sp>
      <p:sp>
        <p:nvSpPr>
          <p:cNvPr id="27" name="Shape 21"/>
          <p:cNvSpPr/>
          <p:nvPr/>
        </p:nvSpPr>
        <p:spPr>
          <a:xfrm>
            <a:off x="3291840" y="2029968"/>
            <a:ext cx="320040" cy="320040"/>
          </a:xfrm>
          <a:prstGeom prst="ellipse">
            <a:avLst/>
          </a:prstGeom>
          <a:solidFill>
            <a:srgbClr val="5391D5">
              <a:alpha val="20000"/>
            </a:srgbClr>
          </a:solidFill>
          <a:ln w="9525">
            <a:solidFill>
              <a:srgbClr val="5391D5"/>
            </a:solidFill>
            <a:prstDash val="solid"/>
          </a:ln>
        </p:spPr>
      </p:sp>
      <p:pic>
        <p:nvPicPr>
          <p:cNvPr id="28" name="Image 4" descr="C:\Users\AimanSadeq\OneDrive - Virginia Institute of Finance\VIFM eLearning Portal\vifm-elearning\scripts\lesson-generator\assets\icons\chart.png">    </p:cNvPr>
          <p:cNvPicPr>
            <a:picLocks noChangeAspect="1"/>
          </p:cNvPicPr>
          <p:nvPr/>
        </p:nvPicPr>
        <p:blipFill>
          <a:blip r:embed="rId5"/>
          <a:stretch>
            <a:fillRect/>
          </a:stretch>
        </p:blipFill>
        <p:spPr>
          <a:xfrm>
            <a:off x="3362249" y="2100377"/>
            <a:ext cx="179222" cy="179222"/>
          </a:xfrm>
          <a:prstGeom prst="rect">
            <a:avLst/>
          </a:prstGeom>
        </p:spPr>
      </p:pic>
      <p:sp>
        <p:nvSpPr>
          <p:cNvPr id="29" name="Text 22"/>
          <p:cNvSpPr/>
          <p:nvPr/>
        </p:nvSpPr>
        <p:spPr>
          <a:xfrm>
            <a:off x="3291840" y="2377440"/>
            <a:ext cx="1572768" cy="228600"/>
          </a:xfrm>
          <a:prstGeom prst="rect">
            <a:avLst/>
          </a:prstGeom>
          <a:noFill/>
          <a:ln/>
        </p:spPr>
        <p:txBody>
          <a:bodyPr wrap="square" lIns="0" tIns="0" rIns="0" bIns="0" rtlCol="0" anchor="ctr"/>
          <a:lstStyle/>
          <a:p>
            <a:pPr indent="0" marL="0">
              <a:buNone/>
            </a:pPr>
            <a:r>
              <a:rPr lang="en-US" sz="1000" b="1" dirty="0">
                <a:solidFill>
                  <a:srgbClr val="F5F0E8"/>
                </a:solidFill>
                <a:latin typeface="Arial" pitchFamily="34" charset="0"/>
                <a:ea typeface="Arial" pitchFamily="34" charset="-122"/>
                <a:cs typeface="Arial" pitchFamily="34" charset="-120"/>
              </a:rPr>
              <a:t>Residual Analysis</a:t>
            </a:r>
            <a:endParaRPr lang="en-US" sz="1000" dirty="0"/>
          </a:p>
        </p:txBody>
      </p:sp>
      <p:sp>
        <p:nvSpPr>
          <p:cNvPr id="30" name="Text 23"/>
          <p:cNvSpPr/>
          <p:nvPr/>
        </p:nvSpPr>
        <p:spPr>
          <a:xfrm>
            <a:off x="3291840" y="2606040"/>
            <a:ext cx="1572768" cy="338328"/>
          </a:xfrm>
          <a:prstGeom prst="rect">
            <a:avLst/>
          </a:prstGeom>
          <a:noFill/>
          <a:ln/>
        </p:spPr>
        <p:txBody>
          <a:bodyPr wrap="square" lIns="0" tIns="0" rIns="0" bIns="0" rtlCol="0" anchor="t"/>
          <a:lstStyle/>
          <a:p>
            <a:pPr indent="0" marL="0">
              <a:buNone/>
            </a:pPr>
            <a:r>
              <a:rPr lang="en-US" sz="800" dirty="0">
                <a:solidFill>
                  <a:srgbClr val="8A9BB5"/>
                </a:solidFill>
                <a:latin typeface="Arial" pitchFamily="34" charset="0"/>
                <a:ea typeface="Arial" pitchFamily="34" charset="-122"/>
                <a:cs typeface="Arial" pitchFamily="34" charset="-120"/>
              </a:rPr>
              <a:t>Plot residuals to check for patterns. Random scatter indicates a well-fitted model; structure indicates missing variables or wrong model form.</a:t>
            </a:r>
            <a:endParaRPr lang="en-US" sz="800" dirty="0"/>
          </a:p>
        </p:txBody>
      </p:sp>
      <p:sp>
        <p:nvSpPr>
          <p:cNvPr id="31" name="Shape 24"/>
          <p:cNvSpPr/>
          <p:nvPr/>
        </p:nvSpPr>
        <p:spPr>
          <a:xfrm>
            <a:off x="5065776" y="1938528"/>
            <a:ext cx="1755648" cy="1097280"/>
          </a:xfrm>
          <a:prstGeom prst="rect">
            <a:avLst>
              <a:gd name="adj" fmla="val 5000"/>
            </a:avLst>
          </a:prstGeom>
          <a:solidFill>
            <a:srgbClr val="111D2E"/>
          </a:solidFill>
          <a:ln w="6350">
            <a:solidFill>
              <a:srgbClr val="0A1525"/>
            </a:solidFill>
            <a:prstDash val="solid"/>
          </a:ln>
        </p:spPr>
      </p:sp>
      <p:sp>
        <p:nvSpPr>
          <p:cNvPr id="32" name="Shape 25"/>
          <p:cNvSpPr/>
          <p:nvPr/>
        </p:nvSpPr>
        <p:spPr>
          <a:xfrm>
            <a:off x="5157216" y="2029968"/>
            <a:ext cx="320040" cy="320040"/>
          </a:xfrm>
          <a:prstGeom prst="ellipse">
            <a:avLst/>
          </a:prstGeom>
          <a:solidFill>
            <a:srgbClr val="5391D5">
              <a:alpha val="20000"/>
            </a:srgbClr>
          </a:solidFill>
          <a:ln w="9525">
            <a:solidFill>
              <a:srgbClr val="5391D5"/>
            </a:solidFill>
            <a:prstDash val="solid"/>
          </a:ln>
        </p:spPr>
      </p:sp>
      <p:pic>
        <p:nvPicPr>
          <p:cNvPr id="33" name="Image 5" descr="C:\Users\AimanSadeq\OneDrive - Virginia Institute of Finance\VIFM eLearning Portal\vifm-elearning\scripts\lesson-generator\assets\icons\scale.png">    </p:cNvPr>
          <p:cNvPicPr>
            <a:picLocks noChangeAspect="1"/>
          </p:cNvPicPr>
          <p:nvPr/>
        </p:nvPicPr>
        <p:blipFill>
          <a:blip r:embed="rId6"/>
          <a:stretch>
            <a:fillRect/>
          </a:stretch>
        </p:blipFill>
        <p:spPr>
          <a:xfrm>
            <a:off x="5227625" y="2100377"/>
            <a:ext cx="179222" cy="179222"/>
          </a:xfrm>
          <a:prstGeom prst="rect">
            <a:avLst/>
          </a:prstGeom>
        </p:spPr>
      </p:pic>
      <p:sp>
        <p:nvSpPr>
          <p:cNvPr id="34" name="Text 26"/>
          <p:cNvSpPr/>
          <p:nvPr/>
        </p:nvSpPr>
        <p:spPr>
          <a:xfrm>
            <a:off x="5157216" y="2377440"/>
            <a:ext cx="1572768" cy="228600"/>
          </a:xfrm>
          <a:prstGeom prst="rect">
            <a:avLst/>
          </a:prstGeom>
          <a:noFill/>
          <a:ln/>
        </p:spPr>
        <p:txBody>
          <a:bodyPr wrap="square" lIns="0" tIns="0" rIns="0" bIns="0" rtlCol="0" anchor="ctr"/>
          <a:lstStyle/>
          <a:p>
            <a:pPr indent="0" marL="0">
              <a:buNone/>
            </a:pPr>
            <a:r>
              <a:rPr lang="en-US" sz="1000" b="1" dirty="0">
                <a:solidFill>
                  <a:srgbClr val="F5F0E8"/>
                </a:solidFill>
                <a:latin typeface="Arial" pitchFamily="34" charset="0"/>
                <a:ea typeface="Arial" pitchFamily="34" charset="-122"/>
                <a:cs typeface="Arial" pitchFamily="34" charset="-120"/>
              </a:rPr>
              <a:t>Bias-Variance Trade-off</a:t>
            </a:r>
            <a:endParaRPr lang="en-US" sz="1000" dirty="0"/>
          </a:p>
        </p:txBody>
      </p:sp>
      <p:sp>
        <p:nvSpPr>
          <p:cNvPr id="35" name="Text 27"/>
          <p:cNvSpPr/>
          <p:nvPr/>
        </p:nvSpPr>
        <p:spPr>
          <a:xfrm>
            <a:off x="5157216" y="2606040"/>
            <a:ext cx="1572768" cy="338328"/>
          </a:xfrm>
          <a:prstGeom prst="rect">
            <a:avLst/>
          </a:prstGeom>
          <a:noFill/>
          <a:ln/>
        </p:spPr>
        <p:txBody>
          <a:bodyPr wrap="square" lIns="0" tIns="0" rIns="0" bIns="0" rtlCol="0" anchor="t"/>
          <a:lstStyle/>
          <a:p>
            <a:pPr indent="0" marL="0">
              <a:buNone/>
            </a:pPr>
            <a:r>
              <a:rPr lang="en-US" sz="800" dirty="0">
                <a:solidFill>
                  <a:srgbClr val="8A9BB5"/>
                </a:solidFill>
                <a:latin typeface="Arial" pitchFamily="34" charset="0"/>
                <a:ea typeface="Arial" pitchFamily="34" charset="-122"/>
                <a:cs typeface="Arial" pitchFamily="34" charset="-120"/>
              </a:rPr>
              <a:t>Monitor for overfitting (low training error, high test error) and underfitting (high error everywhere). Regularization and ensemble methods help balance both.</a:t>
            </a:r>
            <a:endParaRPr lang="en-US" sz="800" dirty="0"/>
          </a:p>
        </p:txBody>
      </p:sp>
      <p:sp>
        <p:nvSpPr>
          <p:cNvPr id="36" name="Shape 28"/>
          <p:cNvSpPr/>
          <p:nvPr/>
        </p:nvSpPr>
        <p:spPr>
          <a:xfrm>
            <a:off x="6931152" y="1938528"/>
            <a:ext cx="1755648" cy="1097280"/>
          </a:xfrm>
          <a:prstGeom prst="rect">
            <a:avLst>
              <a:gd name="adj" fmla="val 5000"/>
            </a:avLst>
          </a:prstGeom>
          <a:solidFill>
            <a:srgbClr val="111D2E"/>
          </a:solidFill>
          <a:ln w="6350">
            <a:solidFill>
              <a:srgbClr val="0A1525"/>
            </a:solidFill>
            <a:prstDash val="solid"/>
          </a:ln>
        </p:spPr>
      </p:sp>
      <p:sp>
        <p:nvSpPr>
          <p:cNvPr id="37" name="Shape 29"/>
          <p:cNvSpPr/>
          <p:nvPr/>
        </p:nvSpPr>
        <p:spPr>
          <a:xfrm>
            <a:off x="7022592" y="2029968"/>
            <a:ext cx="320040" cy="320040"/>
          </a:xfrm>
          <a:prstGeom prst="ellipse">
            <a:avLst/>
          </a:prstGeom>
          <a:solidFill>
            <a:srgbClr val="5391D5">
              <a:alpha val="20000"/>
            </a:srgbClr>
          </a:solidFill>
          <a:ln w="9525">
            <a:solidFill>
              <a:srgbClr val="5391D5"/>
            </a:solidFill>
            <a:prstDash val="solid"/>
          </a:ln>
        </p:spPr>
      </p:sp>
      <p:pic>
        <p:nvPicPr>
          <p:cNvPr id="38" name="Image 6" descr="C:\Users\AimanSadeq\OneDrive - Virginia Institute of Finance\VIFM eLearning Portal\vifm-elearning\scripts\lesson-generator\assets\icons\search.png">    </p:cNvPr>
          <p:cNvPicPr>
            <a:picLocks noChangeAspect="1"/>
          </p:cNvPicPr>
          <p:nvPr/>
        </p:nvPicPr>
        <p:blipFill>
          <a:blip r:embed="rId7"/>
          <a:stretch>
            <a:fillRect/>
          </a:stretch>
        </p:blipFill>
        <p:spPr>
          <a:xfrm>
            <a:off x="7093001" y="2100377"/>
            <a:ext cx="179222" cy="179222"/>
          </a:xfrm>
          <a:prstGeom prst="rect">
            <a:avLst/>
          </a:prstGeom>
        </p:spPr>
      </p:pic>
      <p:sp>
        <p:nvSpPr>
          <p:cNvPr id="39" name="Text 30"/>
          <p:cNvSpPr/>
          <p:nvPr/>
        </p:nvSpPr>
        <p:spPr>
          <a:xfrm>
            <a:off x="7022592" y="2377440"/>
            <a:ext cx="1572768" cy="228600"/>
          </a:xfrm>
          <a:prstGeom prst="rect">
            <a:avLst/>
          </a:prstGeom>
          <a:noFill/>
          <a:ln/>
        </p:spPr>
        <p:txBody>
          <a:bodyPr wrap="square" lIns="0" tIns="0" rIns="0" bIns="0" rtlCol="0" anchor="ctr"/>
          <a:lstStyle/>
          <a:p>
            <a:pPr indent="0" marL="0">
              <a:buNone/>
            </a:pPr>
            <a:r>
              <a:rPr lang="en-US" sz="1000" b="1" dirty="0">
                <a:solidFill>
                  <a:srgbClr val="F5F0E8"/>
                </a:solidFill>
                <a:latin typeface="Arial" pitchFamily="34" charset="0"/>
                <a:ea typeface="Arial" pitchFamily="34" charset="-122"/>
                <a:cs typeface="Arial" pitchFamily="34" charset="-120"/>
              </a:rPr>
              <a:t>Backtesting</a:t>
            </a:r>
            <a:endParaRPr lang="en-US" sz="1000" dirty="0"/>
          </a:p>
        </p:txBody>
      </p:sp>
      <p:sp>
        <p:nvSpPr>
          <p:cNvPr id="40" name="Text 31"/>
          <p:cNvSpPr/>
          <p:nvPr/>
        </p:nvSpPr>
        <p:spPr>
          <a:xfrm>
            <a:off x="7022592" y="2606040"/>
            <a:ext cx="1572768" cy="338328"/>
          </a:xfrm>
          <a:prstGeom prst="rect">
            <a:avLst/>
          </a:prstGeom>
          <a:noFill/>
          <a:ln/>
        </p:spPr>
        <p:txBody>
          <a:bodyPr wrap="square" lIns="0" tIns="0" rIns="0" bIns="0" rtlCol="0" anchor="t"/>
          <a:lstStyle/>
          <a:p>
            <a:pPr indent="0" marL="0">
              <a:buNone/>
            </a:pPr>
            <a:r>
              <a:rPr lang="en-US" sz="800" dirty="0">
                <a:solidFill>
                  <a:srgbClr val="8A9BB5"/>
                </a:solidFill>
                <a:latin typeface="Arial" pitchFamily="34" charset="0"/>
                <a:ea typeface="Arial" pitchFamily="34" charset="-122"/>
                <a:cs typeface="Arial" pitchFamily="34" charset="-120"/>
              </a:rPr>
              <a:t>Run the model on historical periods it was not trained on and compare predictions to actual outcomes. This is the gold standard for financial model validation.</a:t>
            </a:r>
            <a:endParaRPr lang="en-US" sz="800" dirty="0"/>
          </a:p>
        </p:txBody>
      </p:sp>
      <p:pic>
        <p:nvPicPr>
          <p:cNvPr id="10" name="Media 0">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10058400" y="6057900"/>
            <a:ext cx="9144" cy="9144"/>
          </a:xfrm>
          <a:prstGeom prst="rect">
            <a:avLst/>
          </a:prstGeom>
        </p:spPr>
      </p:pic>
      <p:sp>
        <p:nvSpPr>
          <p:cNvPr id="43" name="Text 32"/>
          <p:cNvSpPr/>
          <p:nvPr/>
        </p:nvSpPr>
        <p:spPr>
          <a:xfrm>
            <a:off x="7955280" y="4732020"/>
            <a:ext cx="731520" cy="228600"/>
          </a:xfrm>
          <a:prstGeom prst="rect">
            <a:avLst/>
          </a:prstGeom>
          <a:noFill/>
          <a:ln/>
        </p:spPr>
        <p:txBody>
          <a:bodyPr wrap="square" lIns="0" tIns="0" rIns="0" bIns="0" rtlCol="0" anchor="ctr"/>
          <a:lstStyle/>
          <a:p>
            <a:pPr algn="r" indent="0" marL="0">
              <a:buNone/>
            </a:pPr>
            <a:r>
              <a:rPr lang="en-US" sz="800" dirty="0">
                <a:solidFill>
                  <a:srgbClr val="8A9BB5"/>
                </a:solidFill>
                <a:latin typeface="Arial" pitchFamily="34" charset="0"/>
                <a:ea typeface="Arial" pitchFamily="34" charset="-122"/>
                <a:cs typeface="Arial" pitchFamily="34" charset="-120"/>
              </a:rPr>
              <a:t>8 / 10</a:t>
            </a:r>
            <a:endParaRPr lang="en-US" sz="800" dirty="0"/>
          </a:p>
        </p:txBody>
      </p:sp>
    </p:spTree>
  </p:cSld>
  <p:clrMapOvr>
    <a:masterClrMapping/>
  </p:clrMapOvr>
  <p:transition spd="fast" advClick="0" advTm="81065">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 presetClass="mediacall" presetSubtype="0" fill="hold" nodeType="withEffect">
                                  <p:stCondLst>
                                    <p:cond delay="0"/>
                                  </p:stCondLst>
                                  <p:childTnLst>
                                    <p:cmd type="call" cmd="playFrom(0)">
                                      <p:cBhvr>
                                        <p:cTn id="6" dur="indefinite"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137160"/>
            <a:ext cx="6400800" cy="228600"/>
          </a:xfrm>
          <a:prstGeom prst="rect">
            <a:avLst/>
          </a:prstGeom>
          <a:noFill/>
          <a:ln/>
        </p:spPr>
        <p:txBody>
          <a:bodyPr wrap="square" lIns="0" tIns="0" rIns="0" bIns="0" rtlCol="0" anchor="ctr"/>
          <a:lstStyle/>
          <a:p>
            <a:pPr indent="0" marL="0">
              <a:buNone/>
            </a:pPr>
            <a:r>
              <a:rPr lang="en-US" sz="700" dirty="0">
                <a:solidFill>
                  <a:srgbClr val="8A9BB5"/>
                </a:solidFill>
                <a:latin typeface="Arial" pitchFamily="34" charset="0"/>
                <a:ea typeface="Arial" pitchFamily="34" charset="-122"/>
                <a:cs typeface="Arial" pitchFamily="34" charset="-120"/>
              </a:rPr>
              <a:t>CAIFL &gt; Module 02 &gt; Predictive Models for Financial KPIs</a:t>
            </a:r>
            <a:endParaRPr lang="en-US" sz="700" dirty="0"/>
          </a:p>
        </p:txBody>
      </p:sp>
      <p:sp>
        <p:nvSpPr>
          <p:cNvPr id="3" name="Shape 1"/>
          <p:cNvSpPr/>
          <p:nvPr/>
        </p:nvSpPr>
        <p:spPr>
          <a:xfrm>
            <a:off x="8174736" y="164592"/>
            <a:ext cx="73152" cy="73152"/>
          </a:xfrm>
          <a:prstGeom prst="ellipse">
            <a:avLst/>
          </a:prstGeom>
          <a:solidFill>
            <a:srgbClr val="5391D5"/>
          </a:solidFill>
          <a:ln w="6350">
            <a:solidFill>
              <a:srgbClr val="8A9BB5"/>
            </a:solidFill>
            <a:prstDash val="solid"/>
          </a:ln>
        </p:spPr>
      </p:sp>
      <p:sp>
        <p:nvSpPr>
          <p:cNvPr id="4" name="Shape 2"/>
          <p:cNvSpPr/>
          <p:nvPr/>
        </p:nvSpPr>
        <p:spPr>
          <a:xfrm>
            <a:off x="8302752" y="164592"/>
            <a:ext cx="73152" cy="73152"/>
          </a:xfrm>
          <a:prstGeom prst="ellipse">
            <a:avLst/>
          </a:prstGeom>
          <a:solidFill>
            <a:srgbClr val="5391D5"/>
          </a:solidFill>
          <a:ln w="6350">
            <a:solidFill>
              <a:srgbClr val="8A9BB5"/>
            </a:solidFill>
            <a:prstDash val="solid"/>
          </a:ln>
        </p:spPr>
      </p:sp>
      <p:sp>
        <p:nvSpPr>
          <p:cNvPr id="5" name="Shape 3"/>
          <p:cNvSpPr/>
          <p:nvPr/>
        </p:nvSpPr>
        <p:spPr>
          <a:xfrm>
            <a:off x="8430768" y="164592"/>
            <a:ext cx="73152" cy="73152"/>
          </a:xfrm>
          <a:prstGeom prst="ellipse">
            <a:avLst/>
          </a:prstGeom>
          <a:solidFill>
            <a:srgbClr val="0A1525"/>
          </a:solidFill>
          <a:ln w="6350">
            <a:solidFill>
              <a:srgbClr val="8A9BB5"/>
            </a:solidFill>
            <a:prstDash val="solid"/>
          </a:ln>
        </p:spPr>
      </p:sp>
      <p:sp>
        <p:nvSpPr>
          <p:cNvPr id="6" name="Shape 4"/>
          <p:cNvSpPr/>
          <p:nvPr/>
        </p:nvSpPr>
        <p:spPr>
          <a:xfrm>
            <a:off x="8558784" y="164592"/>
            <a:ext cx="73152" cy="73152"/>
          </a:xfrm>
          <a:prstGeom prst="ellipse">
            <a:avLst/>
          </a:prstGeom>
          <a:solidFill>
            <a:srgbClr val="0A1525"/>
          </a:solidFill>
          <a:ln w="6350">
            <a:solidFill>
              <a:srgbClr val="8A9BB5"/>
            </a:solidFill>
            <a:prstDash val="solid"/>
          </a:ln>
        </p:spPr>
      </p:sp>
      <p:pic>
        <p:nvPicPr>
          <p:cNvPr id="7" name="Image 0" descr="C:\Users\AimanSadeq\OneDrive - Virginia Institute of Finance\VIFM eLearning Portal\vifm-elearning\scripts\lesson-generator\assets\vifm-logo-white.png">    </p:cNvPr>
          <p:cNvPicPr>
            <a:picLocks noChangeAspect="1"/>
          </p:cNvPicPr>
          <p:nvPr/>
        </p:nvPicPr>
        <p:blipFill>
          <a:blip r:embed="rId1"/>
          <a:stretch>
            <a:fillRect/>
          </a:stretch>
        </p:blipFill>
        <p:spPr>
          <a:xfrm>
            <a:off x="457200" y="4686300"/>
            <a:ext cx="810491" cy="182880"/>
          </a:xfrm>
          <a:prstGeom prst="rect">
            <a:avLst/>
          </a:prstGeom>
        </p:spPr>
      </p:pic>
      <p:sp>
        <p:nvSpPr>
          <p:cNvPr id="8" name="Shape 5"/>
          <p:cNvSpPr/>
          <p:nvPr/>
        </p:nvSpPr>
        <p:spPr>
          <a:xfrm>
            <a:off x="0" y="5106924"/>
            <a:ext cx="9144000" cy="36576"/>
          </a:xfrm>
          <a:prstGeom prst="rect">
            <a:avLst/>
          </a:prstGeom>
          <a:solidFill>
            <a:srgbClr val="5391D5"/>
          </a:solidFill>
          <a:ln/>
        </p:spPr>
      </p:sp>
      <p:sp>
        <p:nvSpPr>
          <p:cNvPr id="9" name="Text 6"/>
          <p:cNvSpPr/>
          <p:nvPr/>
        </p:nvSpPr>
        <p:spPr>
          <a:xfrm>
            <a:off x="457200" y="640080"/>
            <a:ext cx="2560320" cy="228600"/>
          </a:xfrm>
          <a:prstGeom prst="rect">
            <a:avLst/>
          </a:prstGeom>
          <a:noFill/>
          <a:ln/>
        </p:spPr>
        <p:txBody>
          <a:bodyPr wrap="square" lIns="0" tIns="0" rIns="0" bIns="0" rtlCol="0" anchor="ctr"/>
          <a:lstStyle/>
          <a:p>
            <a:pPr indent="0" marL="0">
              <a:buNone/>
            </a:pPr>
            <a:r>
              <a:rPr lang="en-US" sz="800" spc="200" kern="0" dirty="0">
                <a:solidFill>
                  <a:srgbClr val="5391D5"/>
                </a:solidFill>
                <a:latin typeface="Arial" pitchFamily="34" charset="0"/>
                <a:ea typeface="Arial" pitchFamily="34" charset="-122"/>
                <a:cs typeface="Arial" pitchFamily="34" charset="-120"/>
              </a:rPr>
              <a:t>COMMON QUESTION</a:t>
            </a:r>
            <a:endParaRPr lang="en-US" sz="800" dirty="0"/>
          </a:p>
        </p:txBody>
      </p:sp>
      <p:sp>
        <p:nvSpPr>
          <p:cNvPr id="10" name="Text 7"/>
          <p:cNvSpPr/>
          <p:nvPr/>
        </p:nvSpPr>
        <p:spPr>
          <a:xfrm>
            <a:off x="457200" y="914400"/>
            <a:ext cx="2560320" cy="1645920"/>
          </a:xfrm>
          <a:prstGeom prst="rect">
            <a:avLst/>
          </a:prstGeom>
          <a:noFill/>
          <a:ln/>
        </p:spPr>
        <p:txBody>
          <a:bodyPr wrap="square" lIns="0" tIns="0" rIns="0" bIns="0" rtlCol="0" anchor="t"/>
          <a:lstStyle/>
          <a:p>
            <a:pPr indent="0" marL="0">
              <a:buNone/>
            </a:pPr>
            <a:r>
              <a:rPr lang="en-US" sz="1800" b="1" dirty="0">
                <a:solidFill>
                  <a:srgbClr val="F5F0E8"/>
                </a:solidFill>
                <a:latin typeface="Arial" pitchFamily="34" charset="0"/>
                <a:ea typeface="Arial" pitchFamily="34" charset="-122"/>
                <a:cs typeface="Arial" pitchFamily="34" charset="-120"/>
              </a:rPr>
              <a:t>How often should predictive models be retrained in a finance context?</a:t>
            </a:r>
            <a:endParaRPr lang="en-US" sz="1800" dirty="0"/>
          </a:p>
        </p:txBody>
      </p:sp>
      <p:sp>
        <p:nvSpPr>
          <p:cNvPr id="11" name="Shape 8"/>
          <p:cNvSpPr/>
          <p:nvPr/>
        </p:nvSpPr>
        <p:spPr>
          <a:xfrm>
            <a:off x="3200400" y="640080"/>
            <a:ext cx="5486400" cy="3657600"/>
          </a:xfrm>
          <a:prstGeom prst="rect">
            <a:avLst>
              <a:gd name="adj" fmla="val 1500"/>
            </a:avLst>
          </a:prstGeom>
          <a:solidFill>
            <a:srgbClr val="111D2E"/>
          </a:solidFill>
          <a:ln w="6350">
            <a:solidFill>
              <a:srgbClr val="0A1525"/>
            </a:solidFill>
            <a:prstDash val="solid"/>
          </a:ln>
        </p:spPr>
      </p:sp>
      <p:sp>
        <p:nvSpPr>
          <p:cNvPr id="12" name="Text 9"/>
          <p:cNvSpPr/>
          <p:nvPr/>
        </p:nvSpPr>
        <p:spPr>
          <a:xfrm>
            <a:off x="3383280" y="777240"/>
            <a:ext cx="5120640" cy="3383280"/>
          </a:xfrm>
          <a:prstGeom prst="rect">
            <a:avLst/>
          </a:prstGeom>
          <a:noFill/>
          <a:ln/>
        </p:spPr>
        <p:txBody>
          <a:bodyPr wrap="square" lIns="0" tIns="0" rIns="0" bIns="0" rtlCol="0" anchor="t"/>
          <a:lstStyle/>
          <a:p>
            <a:pPr indent="0" marL="0">
              <a:buNone/>
            </a:pPr>
            <a:r>
              <a:rPr lang="en-US" sz="1000" dirty="0">
                <a:solidFill>
                  <a:srgbClr val="F5F0E8"/>
                </a:solidFill>
                <a:latin typeface="Arial" pitchFamily="34" charset="0"/>
                <a:ea typeface="Arial" pitchFamily="34" charset="-122"/>
                <a:cs typeface="Arial" pitchFamily="34" charset="-120"/>
              </a:rPr>
              <a:t>There is no one-size-fits-all answer, but the general guideline is to monitor model performance continuously and retrain when accuracy degrades beyond a pre-defined threshold. For most financial KPI models, quarterly retraining is standard practice. Credit risk models are typically retrained semi-annually with full revalidation annually. During periods of economic disruption, such as a recession or pandemic, you should consider emergency retraining as your historical patterns may no longer hold. The key is to have a model monitoring framework in place that tracks prediction errors in real time and triggers retraining automatically when performance drifts.</a:t>
            </a:r>
            <a:endParaRPr lang="en-US" sz="1000" dirty="0"/>
          </a:p>
        </p:txBody>
      </p:sp>
      <p:pic>
        <p:nvPicPr>
          <p:cNvPr id="4" name="Media 0">
            <a:hlinkClick r:id="" action="ppaction://media"/>
          </p:cNvPr>
          <p:cNvPicPr>
            <a:picLocks noChangeAspect="1"/>
          </p:cNvPicPr>
          <p:nvPr>
            <a:audioFile r:link="rId2"/>
            <p:extLst>
              <p:ext uri="{DAA4B4D4-6D71-4841-9C94-3DE7FCFB9230}">
                <p14:media xmlns:p14="http://schemas.microsoft.com/office/powerpoint/2010/main" r:embed="rId3"/>
              </p:ext>
            </p:extLst>
          </p:nvPr>
        </p:nvPicPr>
        <p:blipFill>
          <a:blip r:embed="rId4"/>
          <a:stretch>
            <a:fillRect/>
          </a:stretch>
        </p:blipFill>
        <p:spPr>
          <a:xfrm>
            <a:off x="10058400" y="6057900"/>
            <a:ext cx="9144" cy="9144"/>
          </a:xfrm>
          <a:prstGeom prst="rect">
            <a:avLst/>
          </a:prstGeom>
        </p:spPr>
      </p:pic>
      <p:sp>
        <p:nvSpPr>
          <p:cNvPr id="15" name="Text 10"/>
          <p:cNvSpPr/>
          <p:nvPr/>
        </p:nvSpPr>
        <p:spPr>
          <a:xfrm>
            <a:off x="7955280" y="4732020"/>
            <a:ext cx="731520" cy="228600"/>
          </a:xfrm>
          <a:prstGeom prst="rect">
            <a:avLst/>
          </a:prstGeom>
          <a:noFill/>
          <a:ln/>
        </p:spPr>
        <p:txBody>
          <a:bodyPr wrap="square" lIns="0" tIns="0" rIns="0" bIns="0" rtlCol="0" anchor="ctr"/>
          <a:lstStyle/>
          <a:p>
            <a:pPr algn="r" indent="0" marL="0">
              <a:buNone/>
            </a:pPr>
            <a:r>
              <a:rPr lang="en-US" sz="800" dirty="0">
                <a:solidFill>
                  <a:srgbClr val="8A9BB5"/>
                </a:solidFill>
                <a:latin typeface="Arial" pitchFamily="34" charset="0"/>
                <a:ea typeface="Arial" pitchFamily="34" charset="-122"/>
                <a:cs typeface="Arial" pitchFamily="34" charset="-120"/>
              </a:rPr>
              <a:t>9 / 10</a:t>
            </a:r>
            <a:endParaRPr lang="en-US" sz="800" dirty="0"/>
          </a:p>
        </p:txBody>
      </p:sp>
    </p:spTree>
  </p:cSld>
  <p:clrMapOvr>
    <a:masterClrMapping/>
  </p:clrMapOvr>
  <p:transition spd="fast" advClick="0" advTm="56719">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 presetClass="mediacall" presetSubtype="0" fill="hold" nodeType="withEffect">
                                  <p:stCondLst>
                                    <p:cond delay="0"/>
                                  </p:stCondLst>
                                  <p:childTnLst>
                                    <p:cmd type="call" cmd="playFrom(0)">
                                      <p:cBhvr>
                                        <p:cTn id="6" dur="indefinite"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lIns="0" tIns="0" rIns="0" bIns="0" rtlCol="0" anchor="ctr"/>
          <a:lstStyle/>
          <a:p>
            <a:pPr algn="ctr" indent="0" marL="0">
              <a:buNone/>
            </a:pPr>
            <a:r>
              <a:rPr lang="en-US" sz="3000" b="1" dirty="0">
                <a:solidFill>
                  <a:srgbClr val="F5F0E8"/>
                </a:solidFill>
                <a:latin typeface="Arial" pitchFamily="34" charset="0"/>
                <a:ea typeface="Arial" pitchFamily="34" charset="-122"/>
                <a:cs typeface="Arial" pitchFamily="34" charset="-120"/>
              </a:rPr>
              <a:t>Lesson Complete</a:t>
            </a:r>
            <a:endParaRPr lang="en-US" sz="3000" dirty="0"/>
          </a:p>
        </p:txBody>
      </p:sp>
      <p:sp>
        <p:nvSpPr>
          <p:cNvPr id="3" name="Shape 1"/>
          <p:cNvSpPr/>
          <p:nvPr/>
        </p:nvSpPr>
        <p:spPr>
          <a:xfrm>
            <a:off x="3200400" y="2286000"/>
            <a:ext cx="2743200" cy="0"/>
          </a:xfrm>
          <a:prstGeom prst="line">
            <a:avLst/>
          </a:prstGeom>
          <a:noFill/>
          <a:ln w="12700">
            <a:solidFill>
              <a:srgbClr val="5391D5"/>
            </a:solidFill>
            <a:prstDash val="solid"/>
          </a:ln>
        </p:spPr>
      </p:sp>
      <p:sp>
        <p:nvSpPr>
          <p:cNvPr id="4" name="Text 2"/>
          <p:cNvSpPr/>
          <p:nvPr/>
        </p:nvSpPr>
        <p:spPr>
          <a:xfrm>
            <a:off x="914400" y="2560320"/>
            <a:ext cx="7315200" cy="274320"/>
          </a:xfrm>
          <a:prstGeom prst="rect">
            <a:avLst/>
          </a:prstGeom>
          <a:noFill/>
          <a:ln/>
        </p:spPr>
        <p:txBody>
          <a:bodyPr wrap="square" lIns="0" tIns="0" rIns="0" bIns="0" rtlCol="0" anchor="ctr"/>
          <a:lstStyle/>
          <a:p>
            <a:pPr algn="ctr" indent="0" marL="0">
              <a:buNone/>
            </a:pPr>
            <a:r>
              <a:rPr lang="en-US" sz="1000" spc="300" kern="0" dirty="0">
                <a:solidFill>
                  <a:srgbClr val="5391D5"/>
                </a:solidFill>
                <a:latin typeface="Arial" pitchFamily="34" charset="0"/>
                <a:ea typeface="Arial" pitchFamily="34" charset="-122"/>
                <a:cs typeface="Arial" pitchFamily="34" charset="-120"/>
              </a:rPr>
              <a:t>UP NEXT</a:t>
            </a:r>
            <a:endParaRPr lang="en-US" sz="1000" dirty="0"/>
          </a:p>
        </p:txBody>
      </p:sp>
      <p:sp>
        <p:nvSpPr>
          <p:cNvPr id="5" name="Text 3"/>
          <p:cNvSpPr/>
          <p:nvPr/>
        </p:nvSpPr>
        <p:spPr>
          <a:xfrm>
            <a:off x="914400" y="2926080"/>
            <a:ext cx="7315200" cy="457200"/>
          </a:xfrm>
          <a:prstGeom prst="rect">
            <a:avLst/>
          </a:prstGeom>
          <a:noFill/>
          <a:ln/>
        </p:spPr>
        <p:txBody>
          <a:bodyPr wrap="square" lIns="0" tIns="0" rIns="0" bIns="0" rtlCol="0" anchor="ctr"/>
          <a:lstStyle/>
          <a:p>
            <a:pPr algn="ctr" indent="0" marL="0">
              <a:buNone/>
            </a:pPr>
            <a:r>
              <a:rPr lang="en-US" sz="1600" dirty="0">
                <a:solidFill>
                  <a:srgbClr val="8A9BB5"/>
                </a:solidFill>
                <a:latin typeface="Arial" pitchFamily="34" charset="0"/>
                <a:ea typeface="Arial" pitchFamily="34" charset="-122"/>
                <a:cs typeface="Arial" pitchFamily="34" charset="-120"/>
              </a:rPr>
              <a:t>Integrating Analytics into Financial Dashboards</a:t>
            </a:r>
            <a:endParaRPr lang="en-US" sz="1600" dirty="0"/>
          </a:p>
        </p:txBody>
      </p:sp>
      <p:pic>
        <p:nvPicPr>
          <p:cNvPr id="6" name="Image 0" descr="C:\Users\AimanSadeq\OneDrive - Virginia Institute of Finance\VIFM eLearning Portal\vifm-elearning\scripts\lesson-generator\assets\vifm-logo-white.png">    </p:cNvPr>
          <p:cNvPicPr>
            <a:picLocks noChangeAspect="1"/>
          </p:cNvPicPr>
          <p:nvPr/>
        </p:nvPicPr>
        <p:blipFill>
          <a:blip r:embed="rId1"/>
          <a:stretch>
            <a:fillRect/>
          </a:stretch>
        </p:blipFill>
        <p:spPr>
          <a:xfrm>
            <a:off x="457200" y="4686300"/>
            <a:ext cx="810491" cy="182880"/>
          </a:xfrm>
          <a:prstGeom prst="rect">
            <a:avLst/>
          </a:prstGeom>
        </p:spPr>
      </p:pic>
      <p:sp>
        <p:nvSpPr>
          <p:cNvPr id="7" name="Shape 4"/>
          <p:cNvSpPr/>
          <p:nvPr/>
        </p:nvSpPr>
        <p:spPr>
          <a:xfrm>
            <a:off x="0" y="5106924"/>
            <a:ext cx="9144000" cy="36576"/>
          </a:xfrm>
          <a:prstGeom prst="rect">
            <a:avLst/>
          </a:prstGeom>
          <a:solidFill>
            <a:srgbClr val="5391D5"/>
          </a:solidFill>
          <a:ln/>
        </p:spPr>
      </p:sp>
      <p:pic>
        <p:nvPicPr>
          <p:cNvPr id="4" name="Media 0">
            <a:hlinkClick r:id="" action="ppaction://media"/>
          </p:cNvPr>
          <p:cNvPicPr>
            <a:picLocks noChangeAspect="1"/>
          </p:cNvPicPr>
          <p:nvPr>
            <a:audioFile r:link="rId2"/>
            <p:extLst>
              <p:ext uri="{DAA4B4D4-6D71-4841-9C94-3DE7FCFB9230}">
                <p14:media xmlns:p14="http://schemas.microsoft.com/office/powerpoint/2010/main" r:embed="rId3"/>
              </p:ext>
            </p:extLst>
          </p:nvPr>
        </p:nvPicPr>
        <p:blipFill>
          <a:blip r:embed="rId4"/>
          <a:stretch>
            <a:fillRect/>
          </a:stretch>
        </p:blipFill>
        <p:spPr>
          <a:xfrm>
            <a:off x="10058400" y="6057900"/>
            <a:ext cx="9144" cy="9144"/>
          </a:xfrm>
          <a:prstGeom prst="rect">
            <a:avLst/>
          </a:prstGeom>
        </p:spPr>
      </p:pic>
      <p:sp>
        <p:nvSpPr>
          <p:cNvPr id="10" name="Text 5"/>
          <p:cNvSpPr/>
          <p:nvPr/>
        </p:nvSpPr>
        <p:spPr>
          <a:xfrm>
            <a:off x="7955280" y="4732020"/>
            <a:ext cx="731520" cy="228600"/>
          </a:xfrm>
          <a:prstGeom prst="rect">
            <a:avLst/>
          </a:prstGeom>
          <a:noFill/>
          <a:ln/>
        </p:spPr>
        <p:txBody>
          <a:bodyPr wrap="square" lIns="0" tIns="0" rIns="0" bIns="0" rtlCol="0" anchor="ctr"/>
          <a:lstStyle/>
          <a:p>
            <a:pPr algn="r" indent="0" marL="0">
              <a:buNone/>
            </a:pPr>
            <a:r>
              <a:rPr lang="en-US" sz="800" dirty="0">
                <a:solidFill>
                  <a:srgbClr val="8A9BB5"/>
                </a:solidFill>
                <a:latin typeface="Arial" pitchFamily="34" charset="0"/>
                <a:ea typeface="Arial" pitchFamily="34" charset="-122"/>
                <a:cs typeface="Arial" pitchFamily="34" charset="-120"/>
              </a:rPr>
              <a:t>10 / 10</a:t>
            </a:r>
            <a:endParaRPr lang="en-US" sz="800" dirty="0"/>
          </a:p>
        </p:txBody>
      </p:sp>
    </p:spTree>
  </p:cSld>
  <p:clrMapOvr>
    <a:masterClrMapping/>
  </p:clrMapOvr>
  <p:transition spd="fast" advClick="0" advTm="38016">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 presetClass="mediacall" presetSubtype="0" fill="hold" nodeType="withEffect">
                                  <p:stCondLst>
                                    <p:cond delay="0"/>
                                  </p:stCondLst>
                                  <p:childTnLst>
                                    <p:cmd type="call" cmd="playFrom(0)">
                                      <p:cBhvr>
                                        <p:cTn id="6" dur="indefinite"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Certified AI Finance Leader</dc:title>
  <dc:subject>PptxGenJS Presentation</dc:subject>
  <dc:creator>Virginia Institute of Finance and Management</dc:creator>
  <cp:lastModifiedBy>Virginia Institute of Finance and Management</cp:lastModifiedBy>
  <cp:revision>1</cp:revision>
  <dcterms:created xsi:type="dcterms:W3CDTF">2026-03-04T22:22:45Z</dcterms:created>
  <dcterms:modified xsi:type="dcterms:W3CDTF">2026-03-04T22:22:45Z</dcterms:modified>
</cp:coreProperties>
</file>