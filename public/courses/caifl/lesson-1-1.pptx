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9" d="100"/>
          <a:sy n="149" d="100"/>
        </p:scale>
        <p:origin x="10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505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Certified AI Finance Leader program, offered by the Virginia Institute of Finance and Management. In this first module, we will explore one of the most transformative shifts happening in corporate finance today: the integration of artificial intelligence into financial planning, budgeting, and forecasting. Over the next four lessons, you will gain a thorough understanding of how AI technologies are being deployed across the finance function, from automating routine forecasting tasks to enabling sophisticated scenario-based planning. Whether you are a CFO, a financial analyst, or an FP&amp;A professional, this module will equip you with the foundational knowledge to lead AI-driven transformation in your organization.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with Lesson One: an overview of AI applications in financial planning. This lesson sets the stage for everything that follows. We will look at the key AI technologies being applied in finance, trace the historical evolution from spreadsheets to generative AI, and examine the measurable impact that these technologies are already delivering across the industry. By the end of this lesson, you will have a clear mental map of where AI fits within the modern finance function.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this striking statistic: according to McKinsey's Global Survey on AI in Finance, organizations that have adopted AI in their financial planning processes have reduced planning cycle times by up to seventy percent. That is not a marginal improvement; it is a fundamental restructuring of how fast finance teams can respond to business needs. Traditional planning cycles that once took weeks of manual data gathering, consolidation, and review can now be compressed into days. This acceleration does not come at the cost of quality either. In many cases, AI-driven plans are more accurate because they can process vastly more data points and identify patterns that human analysts simply cannot detect at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 financial planning is not a single tool or technique. It manifests across four primary application areas. First, automated forecasting, where machine learning models ingest historical data alongside external signals like market indices, commodity prices, and macroeconomic indicators to produce forecasts that continuously improve over time. Second, budget optimization, where AI algorithms evaluate thousands of possible allocation scenarios to recommend the most efficient distribution of resources. Third, variance analysis, where natural language processing and anomaly detection systems can automatically identify when actual results deviate from plan, explain why the deviation occurred, and recommend corrective actions in plain language. And fourth, cash flow prediction, where predictive models anticipate the timing and magnitude of cash movements, giving treasury teams the visibility they need to optimize liquidity. Together, these four applications represent the core of AI-powered financial planning.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appreciate where we are today, it helps to understand the journey. In the 1990s, the finance function was dominated by spreadsheets. Excel was revolutionary at the time, but it relied entirely on manual data entry and static formulas. The 2000s brought Enterprise Resource Planning systems like SAP and Oracle, which centralized financial data and improved consolidation processes, but the underlying logic was still rule-based and backward-looking. In the 2010s, Business Intelligence tools like Tableau and Power BI made financial data more visual and accessible, yet they were primarily descriptive analytics tools showing you what had already happened. The real inflection point came around 2015 when machine learning models began entering the finance function, enabling predictive analytics and automated pattern recognition. And now, since 2020, we are in the era of generative AI and large language models, which can generate financial narratives, answer complex planning questions in natural language, and even draft entire budget proposals. Each wave built upon the last, and understanding this progression helps you see AI not as a disruption, but as a natural evolution.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look at the four core AI technologies that are powering the transformation of finance. Machine Learning encompasses the supervised and unsupervised algorithms that learn patterns from your historical financial data. These models can predict revenue trajectories, detect fraudulent transactions, and optimize budget allocations with increasing accuracy over time. Natural Language Processing, or NLP, gives AI the ability to understand and generate human language. In finance, this means automatically summarizing earnings calls, extracting key figures from regulatory filings, or generating variance commentary for monthly reports. Computer Vision is the technology behind intelligent document processing. It can read invoices, receipts, and contracts, extracting structured data from what were previously unstructured paper or PDF documents. This dramatically reduces the manual effort in accounts payable and financial close processes. Finally, Generative AI, the most recent addition to the toolkit, can create entirely new content: drafting budget narratives, building scenario analyses, and even generating board-ready presentations from raw data. Each of these technologies addresses a different aspect of the finance workflow, and together they form a comprehensive AI toolkit for the modern CFO.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crystallizes the difference between traditional and AI-driven financial planning across four critical dimensions. In terms of speed, traditional planning cycles often stretch across weeks or even months for the annual budgeting process, whereas AI-enabled teams can produce continuous rolling forecasts in a matter of days or even hours. On accuracy, traditional forecasting methods typically achieve seventy to seventy-five percent accuracy, which means a quarter or more of your predictions are meaningfully wrong. AI-driven models routinely achieve eighty-five to ninety-five percent accuracy by incorporating more variables and learning from prediction errors. Scalability is another major differentiator. Traditional planning is constrained by your team size and the limits of spreadsheet-based models. AI systems can scale effortlessly across multiple business entities, currencies, product lines, and geographic dimensions. And finally, real-time insight: while traditional teams rely on monthly or quarterly snapshots that are often stale by the time they reach decision-makers, AI-driven systems provide live dashboards with automatic variance alerts the moment something deviates from plan. The bottom line is clear: AI-driven planning delivers faster, more accurate, and scalable financial intelligence.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ground our discussion in data. McKinsey's 2023 research shows that finance teams leveraging AI have achieved up to a seventy percent reduction in planning cycle time. That is time freed up for strategic analysis rather than data wrangling. Gartner's FP&amp;A survey reports a forty to sixty percent improvement in forecast accuracy when machine learning models are deployed alongside traditional methods. Deloitte's CFO Signals survey found that AI-enabled organizations complete variance analysis three times faster than their peers, allowing finance teams to spend more time on insight and less on investigation. And looking at the broader market, Grand View Research projects the global AI market to reach two point one trillion dollars by 2030, indicating that investment in these technologies is only accelerating. These are not future promises; these are results that leading organizations are achieving today. The question for finance leaders is no longer whether to adopt AI, but how quickly you can implement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recap the key takeaways from this lesson. First, AI is transforming the finance function across four primary application areas: automated forecasting, budget optimization, variance analysis, and cash flow prediction. Each of these areas represents a significant opportunity to improve both the speed and quality of financial decision-making. Second, the evolution from spreadsheets to generative AI is not just a technology upgrade; it represents a fundamental shift from descriptive analytics, which tells you what happened, to predictive and prescriptive analytics, which tell you what will happen and what you should do about it. Third, four core technologies form the AI toolkit for modern finance: machine learning, natural language processing, computer vision, and generative AI. Understanding these technologies and their applications will be essential as we go deeper in subsequent lessons. And fourth, AI delivers measurable return on investment. The numbers speak for themselves: seventy percent faster planning cycles, forty to sixty percent better forecast accuracy, and three times faster variance analysis. Keep these benchmarks in mind as we move forward.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Excellent work completing the first lesson. You now have a solid foundation in understanding where AI fits within the financial planning landscape and why it matters. In our next lesson, we will go deeper into one of the most impactful applications: automating forecasting and budgeting processes. We will walk through the step-by-step process of building automated forecasting pipelines, compare manual versus automated budgeting workflows, and examine a real-world case study of AI-driven transformation. I look forward to continuing this journey with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FM_CONTENT">
    <p:bg>
      <p:bgPr>
        <a:solidFill>
          <a:srgbClr val="060A1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FM_TITLE">
    <p:bg>
      <p:bgPr>
        <a:solidFill>
          <a:srgbClr val="060A1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notesSlide" Target="../notesSlides/notesSlide4.xml"/><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6.png"/><Relationship Id="rId5" Type="http://schemas.openxmlformats.org/officeDocument/2006/relationships/image" Target="../media/image1.png"/><Relationship Id="rId10" Type="http://schemas.openxmlformats.org/officeDocument/2006/relationships/image" Target="../media/image2.png"/><Relationship Id="rId4" Type="http://schemas.openxmlformats.org/officeDocument/2006/relationships/notesSlide" Target="../notesSlides/notesSlide6.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lIns="0" tIns="0" rIns="0" bIns="0" rtlCol="0" anchor="ctr"/>
          <a:lstStyle/>
          <a:p>
            <a:pPr marL="0" indent="0" algn="ctr">
              <a:buNone/>
            </a:pPr>
            <a:r>
              <a:rPr lang="en-US" sz="1400" kern="0" spc="400" dirty="0">
                <a:solidFill>
                  <a:srgbClr val="5391D5"/>
                </a:solidFill>
                <a:latin typeface="Arial" pitchFamily="34" charset="0"/>
                <a:ea typeface="Arial" pitchFamily="34" charset="-122"/>
                <a:cs typeface="Arial" pitchFamily="34" charset="-120"/>
              </a:rPr>
              <a:t>CAIFL</a:t>
            </a:r>
            <a:endParaRPr lang="en-US" sz="1400" dirty="0"/>
          </a:p>
        </p:txBody>
      </p:sp>
      <p:sp>
        <p:nvSpPr>
          <p:cNvPr id="3" name="Text 1"/>
          <p:cNvSpPr/>
          <p:nvPr/>
        </p:nvSpPr>
        <p:spPr>
          <a:xfrm>
            <a:off x="457200" y="1371600"/>
            <a:ext cx="8229600" cy="914400"/>
          </a:xfrm>
          <a:prstGeom prst="rect">
            <a:avLst/>
          </a:prstGeom>
          <a:noFill/>
          <a:ln/>
        </p:spPr>
        <p:txBody>
          <a:bodyPr wrap="square" lIns="0" tIns="0" rIns="0" bIns="0" rtlCol="0" anchor="ctr"/>
          <a:lstStyle/>
          <a:p>
            <a:pPr marL="0" indent="0" algn="ctr">
              <a:buNone/>
            </a:pPr>
            <a:r>
              <a:rPr lang="en-US" sz="3200" b="1" dirty="0">
                <a:solidFill>
                  <a:srgbClr val="F5F0E8"/>
                </a:solidFill>
                <a:latin typeface="Arial" pitchFamily="34" charset="0"/>
                <a:ea typeface="Arial" pitchFamily="34" charset="-122"/>
                <a:cs typeface="Arial" pitchFamily="34" charset="-120"/>
              </a:rPr>
              <a:t>Certified AI Finance Leader</a:t>
            </a:r>
            <a:endParaRPr lang="en-US" sz="3200" dirty="0"/>
          </a:p>
        </p:txBody>
      </p:sp>
      <p:sp>
        <p:nvSpPr>
          <p:cNvPr id="4" name="Text 2"/>
          <p:cNvSpPr/>
          <p:nvPr/>
        </p:nvSpPr>
        <p:spPr>
          <a:xfrm>
            <a:off x="914400" y="2377440"/>
            <a:ext cx="7315200" cy="548640"/>
          </a:xfrm>
          <a:prstGeom prst="rect">
            <a:avLst/>
          </a:prstGeom>
          <a:noFill/>
          <a:ln/>
        </p:spPr>
        <p:txBody>
          <a:bodyPr wrap="square" lIns="0" tIns="0" rIns="0" bIns="0" rtlCol="0" anchor="ctr"/>
          <a:lstStyle/>
          <a:p>
            <a:pPr marL="0" indent="0" algn="ctr">
              <a:buNone/>
            </a:pPr>
            <a:r>
              <a:rPr lang="en-US" sz="1400" dirty="0">
                <a:solidFill>
                  <a:srgbClr val="8A9BB5"/>
                </a:solidFill>
                <a:latin typeface="Arial" pitchFamily="34" charset="0"/>
                <a:ea typeface="Arial" pitchFamily="34" charset="-122"/>
                <a:cs typeface="Arial" pitchFamily="34" charset="-120"/>
              </a:rPr>
              <a:t>AI in Financial Planning, Budgeting &amp; Forecasting</a:t>
            </a:r>
            <a:endParaRPr lang="en-US" sz="1400" dirty="0"/>
          </a:p>
        </p:txBody>
      </p:sp>
      <p:sp>
        <p:nvSpPr>
          <p:cNvPr id="5" name="Text 3"/>
          <p:cNvSpPr/>
          <p:nvPr/>
        </p:nvSpPr>
        <p:spPr>
          <a:xfrm>
            <a:off x="914400" y="3108960"/>
            <a:ext cx="7315200" cy="365760"/>
          </a:xfrm>
          <a:prstGeom prst="rect">
            <a:avLst/>
          </a:prstGeom>
          <a:noFill/>
          <a:ln/>
        </p:spPr>
        <p:txBody>
          <a:bodyPr wrap="square" lIns="0" tIns="0" rIns="0" bIns="0" rtlCol="0" anchor="ctr"/>
          <a:lstStyle/>
          <a:p>
            <a:pPr marL="0" indent="0" algn="ctr">
              <a:buNone/>
            </a:pPr>
            <a:r>
              <a:rPr lang="en-US" sz="1200" dirty="0">
                <a:solidFill>
                  <a:srgbClr val="5391D5"/>
                </a:solidFill>
                <a:latin typeface="Arial" pitchFamily="34" charset="0"/>
                <a:ea typeface="Arial" pitchFamily="34" charset="-122"/>
                <a:cs typeface="Arial" pitchFamily="34" charset="-120"/>
              </a:rPr>
              <a:t>Lesson 01</a:t>
            </a:r>
            <a:endParaRPr lang="en-US" sz="1200" dirty="0"/>
          </a:p>
        </p:txBody>
      </p:sp>
      <p:sp>
        <p:nvSpPr>
          <p:cNvPr id="6" name="Shape 4"/>
          <p:cNvSpPr/>
          <p:nvPr/>
        </p:nvSpPr>
        <p:spPr>
          <a:xfrm>
            <a:off x="3200400" y="2926080"/>
            <a:ext cx="2743200" cy="0"/>
          </a:xfrm>
          <a:prstGeom prst="line">
            <a:avLst/>
          </a:prstGeom>
          <a:noFill/>
          <a:ln w="12700">
            <a:solidFill>
              <a:srgbClr val="5391D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1" name="Text 6"/>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1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45000"/>
    </mc:Choice>
    <mc:Fallback>
      <p:transition spd="slow" advClick="0" advTm="4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493"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097280"/>
            <a:ext cx="8229600" cy="365760"/>
          </a:xfrm>
          <a:prstGeom prst="rect">
            <a:avLst/>
          </a:prstGeom>
          <a:noFill/>
          <a:ln/>
        </p:spPr>
        <p:txBody>
          <a:bodyPr wrap="square" lIns="0" tIns="0" rIns="0" bIns="0" rtlCol="0" anchor="ctr"/>
          <a:lstStyle/>
          <a:p>
            <a:pPr marL="0" indent="0" algn="ctr">
              <a:buNone/>
            </a:pPr>
            <a:r>
              <a:rPr lang="en-US" sz="1200" kern="0" spc="400" dirty="0">
                <a:solidFill>
                  <a:srgbClr val="5391D5"/>
                </a:solidFill>
                <a:latin typeface="Arial" pitchFamily="34" charset="0"/>
                <a:ea typeface="Arial" pitchFamily="34" charset="-122"/>
                <a:cs typeface="Arial" pitchFamily="34" charset="-120"/>
              </a:rPr>
              <a:t>MODULE 01</a:t>
            </a:r>
            <a:endParaRPr lang="en-US" sz="1200" dirty="0"/>
          </a:p>
        </p:txBody>
      </p:sp>
      <p:sp>
        <p:nvSpPr>
          <p:cNvPr id="3" name="Text 1"/>
          <p:cNvSpPr/>
          <p:nvPr/>
        </p:nvSpPr>
        <p:spPr>
          <a:xfrm>
            <a:off x="457200" y="1554480"/>
            <a:ext cx="8229600" cy="822960"/>
          </a:xfrm>
          <a:prstGeom prst="rect">
            <a:avLst/>
          </a:prstGeom>
          <a:noFill/>
          <a:ln/>
        </p:spPr>
        <p:txBody>
          <a:bodyPr wrap="square" lIns="0" tIns="0" rIns="0" bIns="0" rtlCol="0" anchor="ctr"/>
          <a:lstStyle/>
          <a:p>
            <a:pPr marL="0" indent="0" algn="ctr">
              <a:buNone/>
            </a:pPr>
            <a:r>
              <a:rPr lang="en-US" sz="2800" b="1" dirty="0">
                <a:solidFill>
                  <a:srgbClr val="F5F0E8"/>
                </a:solidFill>
                <a:latin typeface="Arial" pitchFamily="34" charset="0"/>
                <a:ea typeface="Arial" pitchFamily="34" charset="-122"/>
                <a:cs typeface="Arial" pitchFamily="34" charset="-120"/>
              </a:rPr>
              <a:t>AI in Financial Planning, Budgeting &amp; Forecasting</a:t>
            </a:r>
            <a:endParaRPr lang="en-US" sz="2800" dirty="0"/>
          </a:p>
        </p:txBody>
      </p:sp>
      <p:sp>
        <p:nvSpPr>
          <p:cNvPr id="4" name="Shape 2"/>
          <p:cNvSpPr/>
          <p:nvPr/>
        </p:nvSpPr>
        <p:spPr>
          <a:xfrm>
            <a:off x="3200400" y="2560320"/>
            <a:ext cx="2743200" cy="0"/>
          </a:xfrm>
          <a:prstGeom prst="line">
            <a:avLst/>
          </a:prstGeom>
          <a:noFill/>
          <a:ln w="12700">
            <a:solidFill>
              <a:srgbClr val="5391D5"/>
            </a:solidFill>
            <a:prstDash val="solid"/>
          </a:ln>
        </p:spPr>
        <p:txBody>
          <a:bodyPr/>
          <a:lstStyle/>
          <a:p>
            <a:endParaRPr lang="en-AE"/>
          </a:p>
        </p:txBody>
      </p:sp>
      <p:sp>
        <p:nvSpPr>
          <p:cNvPr id="5" name="Text 3"/>
          <p:cNvSpPr/>
          <p:nvPr/>
        </p:nvSpPr>
        <p:spPr>
          <a:xfrm>
            <a:off x="914400" y="2743200"/>
            <a:ext cx="7315200" cy="548640"/>
          </a:xfrm>
          <a:prstGeom prst="rect">
            <a:avLst/>
          </a:prstGeom>
          <a:noFill/>
          <a:ln/>
        </p:spPr>
        <p:txBody>
          <a:bodyPr wrap="square" lIns="0" tIns="0" rIns="0" bIns="0" rtlCol="0" anchor="ctr"/>
          <a:lstStyle/>
          <a:p>
            <a:pPr marL="0" indent="0" algn="ctr">
              <a:buNone/>
            </a:pPr>
            <a:r>
              <a:rPr lang="en-US" sz="1600" dirty="0">
                <a:solidFill>
                  <a:srgbClr val="8A9BB5"/>
                </a:solidFill>
                <a:latin typeface="Arial" pitchFamily="34" charset="0"/>
                <a:ea typeface="Arial" pitchFamily="34" charset="-122"/>
                <a:cs typeface="Arial" pitchFamily="34" charset="-120"/>
              </a:rPr>
              <a:t>Overview of AI in Finance Planning</a:t>
            </a:r>
            <a:endParaRPr lang="en-US" sz="1600" dirty="0"/>
          </a:p>
        </p:txBody>
      </p:sp>
      <p:pic>
        <p:nvPicPr>
          <p:cNvPr id="6"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txBody>
          <a:bodyPr/>
          <a:lstStyle/>
          <a:p>
            <a:endParaRPr lang="en-AE"/>
          </a:p>
        </p:txBody>
      </p:sp>
      <p:pic>
        <p:nvPicPr>
          <p:cNvPr id="8"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2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9000"/>
    </mc:Choice>
    <mc:Fallback>
      <p:transition spd="slow" advClick="0" advTm="2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27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01 &gt; Overview of AI in Finance Planning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sp>
        <p:nvSpPr>
          <p:cNvPr id="9" name="Text 6"/>
          <p:cNvSpPr/>
          <p:nvPr/>
        </p:nvSpPr>
        <p:spPr>
          <a:xfrm>
            <a:off x="914400" y="914400"/>
            <a:ext cx="7315200" cy="274320"/>
          </a:xfrm>
          <a:prstGeom prst="rect">
            <a:avLst/>
          </a:prstGeom>
          <a:noFill/>
          <a:ln/>
        </p:spPr>
        <p:txBody>
          <a:bodyPr wrap="square" lIns="0" tIns="0" rIns="0" bIns="0" rtlCol="0" anchor="ctr"/>
          <a:lstStyle/>
          <a:p>
            <a:pPr marL="0" indent="0" algn="ctr">
              <a:buNone/>
            </a:pPr>
            <a:r>
              <a:rPr lang="en-US" sz="1000" kern="0" spc="300" dirty="0">
                <a:solidFill>
                  <a:srgbClr val="5391D5"/>
                </a:solidFill>
                <a:latin typeface="Arial" pitchFamily="34" charset="0"/>
                <a:ea typeface="Arial" pitchFamily="34" charset="-122"/>
                <a:cs typeface="Arial" pitchFamily="34" charset="-120"/>
              </a:rPr>
              <a:t>THE AI ADVANTAGE</a:t>
            </a:r>
            <a:endParaRPr lang="en-US" sz="1000" dirty="0"/>
          </a:p>
        </p:txBody>
      </p:sp>
      <p:sp>
        <p:nvSpPr>
          <p:cNvPr id="10" name="Text 7"/>
          <p:cNvSpPr/>
          <p:nvPr/>
        </p:nvSpPr>
        <p:spPr>
          <a:xfrm>
            <a:off x="914400" y="1371600"/>
            <a:ext cx="7315200" cy="1645920"/>
          </a:xfrm>
          <a:prstGeom prst="rect">
            <a:avLst/>
          </a:prstGeom>
          <a:noFill/>
          <a:ln/>
        </p:spPr>
        <p:txBody>
          <a:bodyPr wrap="square" lIns="0" tIns="0" rIns="0" bIns="0" rtlCol="0" anchor="ctr"/>
          <a:lstStyle/>
          <a:p>
            <a:pPr marL="0" indent="0" algn="ctr">
              <a:buNone/>
            </a:pPr>
            <a:r>
              <a:rPr lang="en-US" sz="2600" b="1" dirty="0">
                <a:solidFill>
                  <a:srgbClr val="F5F0E8"/>
                </a:solidFill>
                <a:latin typeface="Arial" pitchFamily="34" charset="0"/>
                <a:ea typeface="Arial" pitchFamily="34" charset="-122"/>
                <a:cs typeface="Arial" pitchFamily="34" charset="-120"/>
              </a:rPr>
              <a:t>Finance teams using AI reduce planning cycle time by up to </a:t>
            </a:r>
            <a:r>
              <a:rPr lang="en-US" sz="2600" b="1" dirty="0">
                <a:solidFill>
                  <a:srgbClr val="5391D5"/>
                </a:solidFill>
                <a:latin typeface="Arial" pitchFamily="34" charset="0"/>
                <a:ea typeface="Arial" pitchFamily="34" charset="-122"/>
                <a:cs typeface="Arial" pitchFamily="34" charset="-120"/>
              </a:rPr>
              <a:t>70%</a:t>
            </a:r>
            <a:endParaRPr lang="en-US" sz="2600" dirty="0"/>
          </a:p>
        </p:txBody>
      </p:sp>
      <p:sp>
        <p:nvSpPr>
          <p:cNvPr id="11" name="Text 8"/>
          <p:cNvSpPr/>
          <p:nvPr/>
        </p:nvSpPr>
        <p:spPr>
          <a:xfrm>
            <a:off x="1371600" y="3200400"/>
            <a:ext cx="6400800" cy="365760"/>
          </a:xfrm>
          <a:prstGeom prst="rect">
            <a:avLst/>
          </a:prstGeom>
          <a:noFill/>
          <a:ln/>
        </p:spPr>
        <p:txBody>
          <a:bodyPr wrap="square" lIns="0" tIns="0" rIns="0" bIns="0" rtlCol="0" anchor="ctr"/>
          <a:lstStyle/>
          <a:p>
            <a:pPr marL="0" indent="0" algn="ctr">
              <a:buNone/>
            </a:pPr>
            <a:r>
              <a:rPr lang="en-US" sz="900" dirty="0">
                <a:solidFill>
                  <a:srgbClr val="8A9BB5"/>
                </a:solidFill>
                <a:latin typeface="Arial" pitchFamily="34" charset="0"/>
                <a:ea typeface="Arial" pitchFamily="34" charset="-122"/>
                <a:cs typeface="Arial" pitchFamily="34" charset="-120"/>
              </a:rPr>
              <a:t>Source: McKinsey Global Survey on AI in Finance, 2023</a:t>
            </a:r>
            <a:endParaRPr lang="en-US" sz="900" dirty="0"/>
          </a:p>
        </p:txBody>
      </p:sp>
      <p:pic>
        <p:nvPicPr>
          <p:cNvPr id="12"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4" name="Text 9"/>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3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43000"/>
    </mc:Choice>
    <mc:Fallback>
      <p:transition spd="slow" advClick="0" advTm="4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95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01 &gt; Overview of AI in Finance Planning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CORE APPLICATIONS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Four Key </a:t>
            </a:r>
            <a:r>
              <a:rPr lang="en-US" sz="2200" b="1" dirty="0">
                <a:solidFill>
                  <a:srgbClr val="5391D5"/>
                </a:solidFill>
                <a:latin typeface="Arial" pitchFamily="34" charset="0"/>
                <a:ea typeface="Arial" pitchFamily="34" charset="-122"/>
                <a:cs typeface="Arial" pitchFamily="34" charset="-120"/>
              </a:rPr>
              <a:t>AI Applications</a:t>
            </a:r>
            <a:r>
              <a:rPr lang="en-US" sz="2200" b="1" dirty="0">
                <a:solidFill>
                  <a:srgbClr val="F5F0E8"/>
                </a:solidFill>
                <a:latin typeface="Arial" pitchFamily="34" charset="0"/>
                <a:ea typeface="Arial" pitchFamily="34" charset="-122"/>
                <a:cs typeface="Arial" pitchFamily="34" charset="-120"/>
              </a:rPr>
              <a:t> in Finance Planning</a:t>
            </a:r>
            <a:endParaRPr lang="en-US" sz="2200" dirty="0"/>
          </a:p>
        </p:txBody>
      </p:sp>
      <p:sp>
        <p:nvSpPr>
          <p:cNvPr id="11" name="Shape 8"/>
          <p:cNvSpPr/>
          <p:nvPr/>
        </p:nvSpPr>
        <p:spPr>
          <a:xfrm>
            <a:off x="3200400" y="640080"/>
            <a:ext cx="5486400" cy="868680"/>
          </a:xfrm>
          <a:prstGeom prst="rect">
            <a:avLst/>
          </a:prstGeom>
          <a:solidFill>
            <a:srgbClr val="111D2E"/>
          </a:solidFill>
          <a:ln w="6350">
            <a:solidFill>
              <a:srgbClr val="0A1525"/>
            </a:solidFill>
            <a:prstDash val="solid"/>
          </a:ln>
        </p:spPr>
        <p:txBody>
          <a:bodyPr/>
          <a:lstStyle/>
          <a:p>
            <a:endParaRPr lang="en-AE"/>
          </a:p>
        </p:txBody>
      </p:sp>
      <p:sp>
        <p:nvSpPr>
          <p:cNvPr id="12" name="Shape 9"/>
          <p:cNvSpPr/>
          <p:nvPr/>
        </p:nvSpPr>
        <p:spPr>
          <a:xfrm>
            <a:off x="3337560" y="731520"/>
            <a:ext cx="365760" cy="36576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13" name="Image 1" descr="C:\Users\AimanSadeq\OneDrive - Virginia Institute of Finance\VIFM eLearning Portal\vifm-elearning\scripts\lesson-generator\assets\icons\chart.png"/>
          <p:cNvPicPr>
            <a:picLocks noChangeAspect="1"/>
          </p:cNvPicPr>
          <p:nvPr/>
        </p:nvPicPr>
        <p:blipFill>
          <a:blip r:embed="rId6"/>
          <a:stretch>
            <a:fillRect/>
          </a:stretch>
        </p:blipFill>
        <p:spPr>
          <a:xfrm>
            <a:off x="3418027" y="811987"/>
            <a:ext cx="204826" cy="204826"/>
          </a:xfrm>
          <a:prstGeom prst="rect">
            <a:avLst/>
          </a:prstGeom>
        </p:spPr>
      </p:pic>
      <p:sp>
        <p:nvSpPr>
          <p:cNvPr id="14" name="Text 10"/>
          <p:cNvSpPr/>
          <p:nvPr/>
        </p:nvSpPr>
        <p:spPr>
          <a:xfrm>
            <a:off x="3749040" y="731520"/>
            <a:ext cx="4754880" cy="274320"/>
          </a:xfrm>
          <a:prstGeom prst="rect">
            <a:avLst/>
          </a:prstGeom>
          <a:noFill/>
          <a:ln/>
        </p:spPr>
        <p:txBody>
          <a:bodyPr wrap="square" lIns="0" tIns="0" rIns="0" bIns="0" rtlCol="0" anchor="ctr"/>
          <a:lstStyle/>
          <a:p>
            <a:pPr marL="0" indent="0">
              <a:buNone/>
            </a:pPr>
            <a:r>
              <a:rPr lang="en-US" sz="1200" b="1" dirty="0">
                <a:solidFill>
                  <a:srgbClr val="F5F0E8"/>
                </a:solidFill>
                <a:latin typeface="Arial" pitchFamily="34" charset="0"/>
                <a:ea typeface="Arial" pitchFamily="34" charset="-122"/>
                <a:cs typeface="Arial" pitchFamily="34" charset="-120"/>
              </a:rPr>
              <a:t>Automated Forecasting</a:t>
            </a:r>
            <a:endParaRPr lang="en-US" sz="1200" dirty="0"/>
          </a:p>
        </p:txBody>
      </p:sp>
      <p:sp>
        <p:nvSpPr>
          <p:cNvPr id="15" name="Text 11"/>
          <p:cNvSpPr/>
          <p:nvPr/>
        </p:nvSpPr>
        <p:spPr>
          <a:xfrm>
            <a:off x="3749040" y="1005840"/>
            <a:ext cx="4754880" cy="41148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ML models analyze historical data and external signals to generate accurate revenue, expense, and demand forecasts with minimal human intervention.</a:t>
            </a:r>
            <a:endParaRPr lang="en-US" sz="900" dirty="0"/>
          </a:p>
        </p:txBody>
      </p:sp>
      <p:sp>
        <p:nvSpPr>
          <p:cNvPr id="16" name="Shape 12"/>
          <p:cNvSpPr/>
          <p:nvPr/>
        </p:nvSpPr>
        <p:spPr>
          <a:xfrm>
            <a:off x="3200400" y="1618488"/>
            <a:ext cx="5486400" cy="868680"/>
          </a:xfrm>
          <a:prstGeom prst="rect">
            <a:avLst/>
          </a:prstGeom>
          <a:solidFill>
            <a:srgbClr val="111D2E"/>
          </a:solidFill>
          <a:ln w="6350">
            <a:solidFill>
              <a:srgbClr val="0A1525"/>
            </a:solidFill>
            <a:prstDash val="solid"/>
          </a:ln>
        </p:spPr>
        <p:txBody>
          <a:bodyPr/>
          <a:lstStyle/>
          <a:p>
            <a:endParaRPr lang="en-AE"/>
          </a:p>
        </p:txBody>
      </p:sp>
      <p:sp>
        <p:nvSpPr>
          <p:cNvPr id="17" name="Shape 13"/>
          <p:cNvSpPr/>
          <p:nvPr/>
        </p:nvSpPr>
        <p:spPr>
          <a:xfrm>
            <a:off x="3337560" y="1709928"/>
            <a:ext cx="365760" cy="36576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18" name="Image 2" descr="C:\Users\AimanSadeq\OneDrive - Virginia Institute of Finance\VIFM eLearning Portal\vifm-elearning\scripts\lesson-generator\assets\icons\money.png"/>
          <p:cNvPicPr>
            <a:picLocks noChangeAspect="1"/>
          </p:cNvPicPr>
          <p:nvPr/>
        </p:nvPicPr>
        <p:blipFill>
          <a:blip r:embed="rId7"/>
          <a:stretch>
            <a:fillRect/>
          </a:stretch>
        </p:blipFill>
        <p:spPr>
          <a:xfrm>
            <a:off x="3418027" y="1790395"/>
            <a:ext cx="204826" cy="204826"/>
          </a:xfrm>
          <a:prstGeom prst="rect">
            <a:avLst/>
          </a:prstGeom>
        </p:spPr>
      </p:pic>
      <p:sp>
        <p:nvSpPr>
          <p:cNvPr id="19" name="Text 14"/>
          <p:cNvSpPr/>
          <p:nvPr/>
        </p:nvSpPr>
        <p:spPr>
          <a:xfrm>
            <a:off x="3749040" y="1709928"/>
            <a:ext cx="4754880" cy="274320"/>
          </a:xfrm>
          <a:prstGeom prst="rect">
            <a:avLst/>
          </a:prstGeom>
          <a:noFill/>
          <a:ln/>
        </p:spPr>
        <p:txBody>
          <a:bodyPr wrap="square" lIns="0" tIns="0" rIns="0" bIns="0" rtlCol="0" anchor="ctr"/>
          <a:lstStyle/>
          <a:p>
            <a:pPr marL="0" indent="0">
              <a:buNone/>
            </a:pPr>
            <a:r>
              <a:rPr lang="en-US" sz="1200" b="1" dirty="0">
                <a:solidFill>
                  <a:srgbClr val="F5F0E8"/>
                </a:solidFill>
                <a:latin typeface="Arial" pitchFamily="34" charset="0"/>
                <a:ea typeface="Arial" pitchFamily="34" charset="-122"/>
                <a:cs typeface="Arial" pitchFamily="34" charset="-120"/>
              </a:rPr>
              <a:t>Budget Optimization</a:t>
            </a:r>
            <a:endParaRPr lang="en-US" sz="1200" dirty="0"/>
          </a:p>
        </p:txBody>
      </p:sp>
      <p:sp>
        <p:nvSpPr>
          <p:cNvPr id="20" name="Text 15"/>
          <p:cNvSpPr/>
          <p:nvPr/>
        </p:nvSpPr>
        <p:spPr>
          <a:xfrm>
            <a:off x="3749040" y="1984248"/>
            <a:ext cx="4754880" cy="41148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AI algorithms allocate resources across departments and projects by identifying the highest-impact spending patterns and reducing waste.</a:t>
            </a:r>
            <a:endParaRPr lang="en-US" sz="900" dirty="0"/>
          </a:p>
        </p:txBody>
      </p:sp>
      <p:sp>
        <p:nvSpPr>
          <p:cNvPr id="21" name="Shape 16"/>
          <p:cNvSpPr/>
          <p:nvPr/>
        </p:nvSpPr>
        <p:spPr>
          <a:xfrm>
            <a:off x="3200400" y="2596896"/>
            <a:ext cx="5486400" cy="868680"/>
          </a:xfrm>
          <a:prstGeom prst="rect">
            <a:avLst/>
          </a:prstGeom>
          <a:solidFill>
            <a:srgbClr val="111D2E"/>
          </a:solidFill>
          <a:ln w="6350">
            <a:solidFill>
              <a:srgbClr val="0A1525"/>
            </a:solidFill>
            <a:prstDash val="solid"/>
          </a:ln>
        </p:spPr>
        <p:txBody>
          <a:bodyPr/>
          <a:lstStyle/>
          <a:p>
            <a:endParaRPr lang="en-AE"/>
          </a:p>
        </p:txBody>
      </p:sp>
      <p:sp>
        <p:nvSpPr>
          <p:cNvPr id="22" name="Shape 17"/>
          <p:cNvSpPr/>
          <p:nvPr/>
        </p:nvSpPr>
        <p:spPr>
          <a:xfrm>
            <a:off x="3337560" y="2688336"/>
            <a:ext cx="365760" cy="36576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23" name="Image 3" descr="C:\Users\AimanSadeq\OneDrive - Virginia Institute of Finance\VIFM eLearning Portal\vifm-elearning\scripts\lesson-generator\assets\icons\search.png"/>
          <p:cNvPicPr>
            <a:picLocks noChangeAspect="1"/>
          </p:cNvPicPr>
          <p:nvPr/>
        </p:nvPicPr>
        <p:blipFill>
          <a:blip r:embed="rId8"/>
          <a:stretch>
            <a:fillRect/>
          </a:stretch>
        </p:blipFill>
        <p:spPr>
          <a:xfrm>
            <a:off x="3418027" y="2768803"/>
            <a:ext cx="204826" cy="204826"/>
          </a:xfrm>
          <a:prstGeom prst="rect">
            <a:avLst/>
          </a:prstGeom>
        </p:spPr>
      </p:pic>
      <p:sp>
        <p:nvSpPr>
          <p:cNvPr id="24" name="Text 18"/>
          <p:cNvSpPr/>
          <p:nvPr/>
        </p:nvSpPr>
        <p:spPr>
          <a:xfrm>
            <a:off x="3749040" y="2688336"/>
            <a:ext cx="4754880" cy="274320"/>
          </a:xfrm>
          <a:prstGeom prst="rect">
            <a:avLst/>
          </a:prstGeom>
          <a:noFill/>
          <a:ln/>
        </p:spPr>
        <p:txBody>
          <a:bodyPr wrap="square" lIns="0" tIns="0" rIns="0" bIns="0" rtlCol="0" anchor="ctr"/>
          <a:lstStyle/>
          <a:p>
            <a:pPr marL="0" indent="0">
              <a:buNone/>
            </a:pPr>
            <a:r>
              <a:rPr lang="en-US" sz="1200" b="1" dirty="0">
                <a:solidFill>
                  <a:srgbClr val="F5F0E8"/>
                </a:solidFill>
                <a:latin typeface="Arial" pitchFamily="34" charset="0"/>
                <a:ea typeface="Arial" pitchFamily="34" charset="-122"/>
                <a:cs typeface="Arial" pitchFamily="34" charset="-120"/>
              </a:rPr>
              <a:t>Variance Analysis</a:t>
            </a:r>
            <a:endParaRPr lang="en-US" sz="1200" dirty="0"/>
          </a:p>
        </p:txBody>
      </p:sp>
      <p:sp>
        <p:nvSpPr>
          <p:cNvPr id="25" name="Text 19"/>
          <p:cNvSpPr/>
          <p:nvPr/>
        </p:nvSpPr>
        <p:spPr>
          <a:xfrm>
            <a:off x="3749040" y="2962656"/>
            <a:ext cx="4754880" cy="41148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Natural language processing and anomaly detection automatically flag deviations from plan, explain root causes, and suggest corrective actions.</a:t>
            </a:r>
            <a:endParaRPr lang="en-US" sz="900" dirty="0"/>
          </a:p>
        </p:txBody>
      </p:sp>
      <p:sp>
        <p:nvSpPr>
          <p:cNvPr id="26" name="Shape 20"/>
          <p:cNvSpPr/>
          <p:nvPr/>
        </p:nvSpPr>
        <p:spPr>
          <a:xfrm>
            <a:off x="3200400" y="3575304"/>
            <a:ext cx="5486400" cy="868680"/>
          </a:xfrm>
          <a:prstGeom prst="rect">
            <a:avLst/>
          </a:prstGeom>
          <a:solidFill>
            <a:srgbClr val="111D2E"/>
          </a:solidFill>
          <a:ln w="6350">
            <a:solidFill>
              <a:srgbClr val="0A1525"/>
            </a:solidFill>
            <a:prstDash val="solid"/>
          </a:ln>
        </p:spPr>
        <p:txBody>
          <a:bodyPr/>
          <a:lstStyle/>
          <a:p>
            <a:endParaRPr lang="en-AE"/>
          </a:p>
        </p:txBody>
      </p:sp>
      <p:sp>
        <p:nvSpPr>
          <p:cNvPr id="27" name="Shape 21"/>
          <p:cNvSpPr/>
          <p:nvPr/>
        </p:nvSpPr>
        <p:spPr>
          <a:xfrm>
            <a:off x="3337560" y="3666744"/>
            <a:ext cx="365760" cy="36576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28" name="Image 4" descr="C:\Users\AimanSadeq\OneDrive - Virginia Institute of Finance\VIFM eLearning Portal\vifm-elearning\scripts\lesson-generator\assets\icons\money.png"/>
          <p:cNvPicPr>
            <a:picLocks noChangeAspect="1"/>
          </p:cNvPicPr>
          <p:nvPr/>
        </p:nvPicPr>
        <p:blipFill>
          <a:blip r:embed="rId7"/>
          <a:stretch>
            <a:fillRect/>
          </a:stretch>
        </p:blipFill>
        <p:spPr>
          <a:xfrm>
            <a:off x="3418027" y="3747211"/>
            <a:ext cx="204826" cy="204826"/>
          </a:xfrm>
          <a:prstGeom prst="rect">
            <a:avLst/>
          </a:prstGeom>
        </p:spPr>
      </p:pic>
      <p:sp>
        <p:nvSpPr>
          <p:cNvPr id="29" name="Text 22"/>
          <p:cNvSpPr/>
          <p:nvPr/>
        </p:nvSpPr>
        <p:spPr>
          <a:xfrm>
            <a:off x="3749040" y="3666744"/>
            <a:ext cx="4754880" cy="274320"/>
          </a:xfrm>
          <a:prstGeom prst="rect">
            <a:avLst/>
          </a:prstGeom>
          <a:noFill/>
          <a:ln/>
        </p:spPr>
        <p:txBody>
          <a:bodyPr wrap="square" lIns="0" tIns="0" rIns="0" bIns="0" rtlCol="0" anchor="ctr"/>
          <a:lstStyle/>
          <a:p>
            <a:pPr marL="0" indent="0">
              <a:buNone/>
            </a:pPr>
            <a:r>
              <a:rPr lang="en-US" sz="1200" b="1" dirty="0">
                <a:solidFill>
                  <a:srgbClr val="F5F0E8"/>
                </a:solidFill>
                <a:latin typeface="Arial" pitchFamily="34" charset="0"/>
                <a:ea typeface="Arial" pitchFamily="34" charset="-122"/>
                <a:cs typeface="Arial" pitchFamily="34" charset="-120"/>
              </a:rPr>
              <a:t>Cash Flow Prediction</a:t>
            </a:r>
            <a:endParaRPr lang="en-US" sz="1200" dirty="0"/>
          </a:p>
        </p:txBody>
      </p:sp>
      <p:sp>
        <p:nvSpPr>
          <p:cNvPr id="30" name="Text 23"/>
          <p:cNvSpPr/>
          <p:nvPr/>
        </p:nvSpPr>
        <p:spPr>
          <a:xfrm>
            <a:off x="3749040" y="3941064"/>
            <a:ext cx="4754880" cy="41148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Predictive models anticipate cash inflows and outflows with high precision, enabling proactive liquidity management and working capital optimization.</a:t>
            </a:r>
            <a:endParaRPr lang="en-US" sz="900" dirty="0"/>
          </a:p>
        </p:txBody>
      </p:sp>
      <p:pic>
        <p:nvPicPr>
          <p:cNvPr id="31"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0058400" y="6057900"/>
            <a:ext cx="9144" cy="9144"/>
          </a:xfrm>
          <a:prstGeom prst="rect">
            <a:avLst/>
          </a:prstGeom>
        </p:spPr>
      </p:pic>
      <p:sp>
        <p:nvSpPr>
          <p:cNvPr id="33" name="Text 24"/>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4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65000"/>
    </mc:Choice>
    <mc:Fallback>
      <p:transition spd="slow" advClick="0" advTm="6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3686"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01 &gt; Overview of AI in Finance Planning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EVOLUTION</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The Journey to </a:t>
            </a:r>
            <a:r>
              <a:rPr lang="en-US" sz="2200" b="1" dirty="0">
                <a:solidFill>
                  <a:srgbClr val="5391D5"/>
                </a:solidFill>
                <a:latin typeface="Arial" pitchFamily="34" charset="0"/>
                <a:ea typeface="Arial" pitchFamily="34" charset="-122"/>
                <a:cs typeface="Arial" pitchFamily="34" charset="-120"/>
              </a:rPr>
              <a:t>AI-Driven Finance</a:t>
            </a:r>
            <a:endParaRPr lang="en-US" sz="2200" dirty="0"/>
          </a:p>
        </p:txBody>
      </p:sp>
      <p:sp>
        <p:nvSpPr>
          <p:cNvPr id="11" name="Shape 8"/>
          <p:cNvSpPr/>
          <p:nvPr/>
        </p:nvSpPr>
        <p:spPr>
          <a:xfrm>
            <a:off x="3337560" y="777240"/>
            <a:ext cx="128016" cy="128016"/>
          </a:xfrm>
          <a:prstGeom prst="ellipse">
            <a:avLst/>
          </a:prstGeom>
          <a:solidFill>
            <a:srgbClr val="5391D5"/>
          </a:solidFill>
          <a:ln/>
        </p:spPr>
        <p:txBody>
          <a:bodyPr/>
          <a:lstStyle/>
          <a:p>
            <a:endParaRPr lang="en-AE"/>
          </a:p>
        </p:txBody>
      </p:sp>
      <p:sp>
        <p:nvSpPr>
          <p:cNvPr id="12" name="Shape 9"/>
          <p:cNvSpPr/>
          <p:nvPr/>
        </p:nvSpPr>
        <p:spPr>
          <a:xfrm>
            <a:off x="3401568" y="905256"/>
            <a:ext cx="0" cy="694944"/>
          </a:xfrm>
          <a:prstGeom prst="line">
            <a:avLst/>
          </a:prstGeom>
          <a:noFill/>
          <a:ln w="19050">
            <a:solidFill>
              <a:srgbClr val="0A1525"/>
            </a:solidFill>
            <a:prstDash val="solid"/>
          </a:ln>
        </p:spPr>
        <p:txBody>
          <a:bodyPr/>
          <a:lstStyle/>
          <a:p>
            <a:endParaRPr lang="en-AE"/>
          </a:p>
        </p:txBody>
      </p:sp>
      <p:sp>
        <p:nvSpPr>
          <p:cNvPr id="13" name="Text 10"/>
          <p:cNvSpPr/>
          <p:nvPr/>
        </p:nvSpPr>
        <p:spPr>
          <a:xfrm>
            <a:off x="3566160" y="694944"/>
            <a:ext cx="731520" cy="228600"/>
          </a:xfrm>
          <a:prstGeom prst="rect">
            <a:avLst/>
          </a:prstGeom>
          <a:noFill/>
          <a:ln/>
        </p:spPr>
        <p:txBody>
          <a:bodyPr wrap="square" lIns="0" tIns="0" rIns="0" bIns="0" rtlCol="0" anchor="ctr"/>
          <a:lstStyle/>
          <a:p>
            <a:pPr marL="0" indent="0">
              <a:buNone/>
            </a:pPr>
            <a:r>
              <a:rPr lang="en-US" sz="1000" b="1" dirty="0">
                <a:solidFill>
                  <a:srgbClr val="5391D5"/>
                </a:solidFill>
                <a:latin typeface="Arial" pitchFamily="34" charset="0"/>
                <a:ea typeface="Arial" pitchFamily="34" charset="-122"/>
                <a:cs typeface="Arial" pitchFamily="34" charset="-120"/>
              </a:rPr>
              <a:t>1990s</a:t>
            </a:r>
            <a:endParaRPr lang="en-US" sz="1000" dirty="0"/>
          </a:p>
        </p:txBody>
      </p:sp>
      <p:sp>
        <p:nvSpPr>
          <p:cNvPr id="14" name="Text 11"/>
          <p:cNvSpPr/>
          <p:nvPr/>
        </p:nvSpPr>
        <p:spPr>
          <a:xfrm>
            <a:off x="4343400" y="694944"/>
            <a:ext cx="4206240"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Spreadsheet Era</a:t>
            </a:r>
            <a:endParaRPr lang="en-US" sz="1000" dirty="0"/>
          </a:p>
        </p:txBody>
      </p:sp>
      <p:sp>
        <p:nvSpPr>
          <p:cNvPr id="15" name="Text 12"/>
          <p:cNvSpPr/>
          <p:nvPr/>
        </p:nvSpPr>
        <p:spPr>
          <a:xfrm>
            <a:off x="4343400" y="932688"/>
            <a:ext cx="4206240" cy="347472"/>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Excel becomes the dominant tool for financial modeling, budgeting, and reporting. Manual data entry and formula-driven analysis.</a:t>
            </a:r>
            <a:endParaRPr lang="en-US" sz="800" dirty="0"/>
          </a:p>
        </p:txBody>
      </p:sp>
      <p:sp>
        <p:nvSpPr>
          <p:cNvPr id="16" name="Shape 13"/>
          <p:cNvSpPr/>
          <p:nvPr/>
        </p:nvSpPr>
        <p:spPr>
          <a:xfrm>
            <a:off x="3337560" y="1600200"/>
            <a:ext cx="128016" cy="128016"/>
          </a:xfrm>
          <a:prstGeom prst="ellipse">
            <a:avLst/>
          </a:prstGeom>
          <a:solidFill>
            <a:srgbClr val="5391D5"/>
          </a:solidFill>
          <a:ln/>
        </p:spPr>
        <p:txBody>
          <a:bodyPr/>
          <a:lstStyle/>
          <a:p>
            <a:endParaRPr lang="en-AE"/>
          </a:p>
        </p:txBody>
      </p:sp>
      <p:sp>
        <p:nvSpPr>
          <p:cNvPr id="17" name="Shape 14"/>
          <p:cNvSpPr/>
          <p:nvPr/>
        </p:nvSpPr>
        <p:spPr>
          <a:xfrm>
            <a:off x="3401568" y="1728216"/>
            <a:ext cx="0" cy="694944"/>
          </a:xfrm>
          <a:prstGeom prst="line">
            <a:avLst/>
          </a:prstGeom>
          <a:noFill/>
          <a:ln w="19050">
            <a:solidFill>
              <a:srgbClr val="0A1525"/>
            </a:solidFill>
            <a:prstDash val="solid"/>
          </a:ln>
        </p:spPr>
        <p:txBody>
          <a:bodyPr/>
          <a:lstStyle/>
          <a:p>
            <a:endParaRPr lang="en-AE"/>
          </a:p>
        </p:txBody>
      </p:sp>
      <p:sp>
        <p:nvSpPr>
          <p:cNvPr id="18" name="Text 15"/>
          <p:cNvSpPr/>
          <p:nvPr/>
        </p:nvSpPr>
        <p:spPr>
          <a:xfrm>
            <a:off x="3566160" y="1517904"/>
            <a:ext cx="731520" cy="228600"/>
          </a:xfrm>
          <a:prstGeom prst="rect">
            <a:avLst/>
          </a:prstGeom>
          <a:noFill/>
          <a:ln/>
        </p:spPr>
        <p:txBody>
          <a:bodyPr wrap="square" lIns="0" tIns="0" rIns="0" bIns="0" rtlCol="0" anchor="ctr"/>
          <a:lstStyle/>
          <a:p>
            <a:pPr marL="0" indent="0">
              <a:buNone/>
            </a:pPr>
            <a:r>
              <a:rPr lang="en-US" sz="1000" b="1" dirty="0">
                <a:solidFill>
                  <a:srgbClr val="5391D5"/>
                </a:solidFill>
                <a:latin typeface="Arial" pitchFamily="34" charset="0"/>
                <a:ea typeface="Arial" pitchFamily="34" charset="-122"/>
                <a:cs typeface="Arial" pitchFamily="34" charset="-120"/>
              </a:rPr>
              <a:t>2000s</a:t>
            </a:r>
            <a:endParaRPr lang="en-US" sz="1000" dirty="0"/>
          </a:p>
        </p:txBody>
      </p:sp>
      <p:sp>
        <p:nvSpPr>
          <p:cNvPr id="19" name="Text 16"/>
          <p:cNvSpPr/>
          <p:nvPr/>
        </p:nvSpPr>
        <p:spPr>
          <a:xfrm>
            <a:off x="4343400" y="1517904"/>
            <a:ext cx="4206240"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ERP Systems</a:t>
            </a:r>
            <a:endParaRPr lang="en-US" sz="1000" dirty="0"/>
          </a:p>
        </p:txBody>
      </p:sp>
      <p:sp>
        <p:nvSpPr>
          <p:cNvPr id="20" name="Text 17"/>
          <p:cNvSpPr/>
          <p:nvPr/>
        </p:nvSpPr>
        <p:spPr>
          <a:xfrm>
            <a:off x="4343400" y="1755648"/>
            <a:ext cx="4206240" cy="347472"/>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Enterprise Resource Planning systems like SAP and Oracle centralize financial data, improving consolidation but still relying on rule-based logic.</a:t>
            </a:r>
            <a:endParaRPr lang="en-US" sz="800" dirty="0"/>
          </a:p>
        </p:txBody>
      </p:sp>
      <p:sp>
        <p:nvSpPr>
          <p:cNvPr id="21" name="Shape 18"/>
          <p:cNvSpPr/>
          <p:nvPr/>
        </p:nvSpPr>
        <p:spPr>
          <a:xfrm>
            <a:off x="3337560" y="2423160"/>
            <a:ext cx="128016" cy="128016"/>
          </a:xfrm>
          <a:prstGeom prst="ellipse">
            <a:avLst/>
          </a:prstGeom>
          <a:solidFill>
            <a:srgbClr val="5391D5"/>
          </a:solidFill>
          <a:ln/>
        </p:spPr>
        <p:txBody>
          <a:bodyPr/>
          <a:lstStyle/>
          <a:p>
            <a:endParaRPr lang="en-AE"/>
          </a:p>
        </p:txBody>
      </p:sp>
      <p:sp>
        <p:nvSpPr>
          <p:cNvPr id="22" name="Shape 19"/>
          <p:cNvSpPr/>
          <p:nvPr/>
        </p:nvSpPr>
        <p:spPr>
          <a:xfrm>
            <a:off x="3401568" y="2551176"/>
            <a:ext cx="0" cy="694944"/>
          </a:xfrm>
          <a:prstGeom prst="line">
            <a:avLst/>
          </a:prstGeom>
          <a:noFill/>
          <a:ln w="19050">
            <a:solidFill>
              <a:srgbClr val="0A1525"/>
            </a:solidFill>
            <a:prstDash val="solid"/>
          </a:ln>
        </p:spPr>
        <p:txBody>
          <a:bodyPr/>
          <a:lstStyle/>
          <a:p>
            <a:endParaRPr lang="en-AE"/>
          </a:p>
        </p:txBody>
      </p:sp>
      <p:sp>
        <p:nvSpPr>
          <p:cNvPr id="23" name="Text 20"/>
          <p:cNvSpPr/>
          <p:nvPr/>
        </p:nvSpPr>
        <p:spPr>
          <a:xfrm>
            <a:off x="3566160" y="2340864"/>
            <a:ext cx="731520" cy="228600"/>
          </a:xfrm>
          <a:prstGeom prst="rect">
            <a:avLst/>
          </a:prstGeom>
          <a:noFill/>
          <a:ln/>
        </p:spPr>
        <p:txBody>
          <a:bodyPr wrap="square" lIns="0" tIns="0" rIns="0" bIns="0" rtlCol="0" anchor="ctr"/>
          <a:lstStyle/>
          <a:p>
            <a:pPr marL="0" indent="0">
              <a:buNone/>
            </a:pPr>
            <a:r>
              <a:rPr lang="en-US" sz="1000" b="1" dirty="0">
                <a:solidFill>
                  <a:srgbClr val="5391D5"/>
                </a:solidFill>
                <a:latin typeface="Arial" pitchFamily="34" charset="0"/>
                <a:ea typeface="Arial" pitchFamily="34" charset="-122"/>
                <a:cs typeface="Arial" pitchFamily="34" charset="-120"/>
              </a:rPr>
              <a:t>2010s</a:t>
            </a:r>
            <a:endParaRPr lang="en-US" sz="1000" dirty="0"/>
          </a:p>
        </p:txBody>
      </p:sp>
      <p:sp>
        <p:nvSpPr>
          <p:cNvPr id="24" name="Text 21"/>
          <p:cNvSpPr/>
          <p:nvPr/>
        </p:nvSpPr>
        <p:spPr>
          <a:xfrm>
            <a:off x="4343400" y="2340864"/>
            <a:ext cx="4206240"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Business Intelligence Tools</a:t>
            </a:r>
            <a:endParaRPr lang="en-US" sz="1000" dirty="0"/>
          </a:p>
        </p:txBody>
      </p:sp>
      <p:sp>
        <p:nvSpPr>
          <p:cNvPr id="25" name="Text 22"/>
          <p:cNvSpPr/>
          <p:nvPr/>
        </p:nvSpPr>
        <p:spPr>
          <a:xfrm>
            <a:off x="4343400" y="2578608"/>
            <a:ext cx="4206240" cy="347472"/>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Platforms like Tableau and Power BI enable visual analytics and dashboards, making data more accessible but still backward-looking.</a:t>
            </a:r>
            <a:endParaRPr lang="en-US" sz="800" dirty="0"/>
          </a:p>
        </p:txBody>
      </p:sp>
      <p:sp>
        <p:nvSpPr>
          <p:cNvPr id="26" name="Shape 23"/>
          <p:cNvSpPr/>
          <p:nvPr/>
        </p:nvSpPr>
        <p:spPr>
          <a:xfrm>
            <a:off x="3337560" y="3246120"/>
            <a:ext cx="128016" cy="128016"/>
          </a:xfrm>
          <a:prstGeom prst="ellipse">
            <a:avLst/>
          </a:prstGeom>
          <a:solidFill>
            <a:srgbClr val="5391D5"/>
          </a:solidFill>
          <a:ln/>
        </p:spPr>
        <p:txBody>
          <a:bodyPr/>
          <a:lstStyle/>
          <a:p>
            <a:endParaRPr lang="en-AE"/>
          </a:p>
        </p:txBody>
      </p:sp>
      <p:sp>
        <p:nvSpPr>
          <p:cNvPr id="27" name="Shape 24"/>
          <p:cNvSpPr/>
          <p:nvPr/>
        </p:nvSpPr>
        <p:spPr>
          <a:xfrm>
            <a:off x="3401568" y="3374136"/>
            <a:ext cx="0" cy="694944"/>
          </a:xfrm>
          <a:prstGeom prst="line">
            <a:avLst/>
          </a:prstGeom>
          <a:noFill/>
          <a:ln w="19050">
            <a:solidFill>
              <a:srgbClr val="0A1525"/>
            </a:solidFill>
            <a:prstDash val="solid"/>
          </a:ln>
        </p:spPr>
        <p:txBody>
          <a:bodyPr/>
          <a:lstStyle/>
          <a:p>
            <a:endParaRPr lang="en-AE"/>
          </a:p>
        </p:txBody>
      </p:sp>
      <p:sp>
        <p:nvSpPr>
          <p:cNvPr id="28" name="Text 25"/>
          <p:cNvSpPr/>
          <p:nvPr/>
        </p:nvSpPr>
        <p:spPr>
          <a:xfrm>
            <a:off x="3566160" y="3163824"/>
            <a:ext cx="731520" cy="228600"/>
          </a:xfrm>
          <a:prstGeom prst="rect">
            <a:avLst/>
          </a:prstGeom>
          <a:noFill/>
          <a:ln/>
        </p:spPr>
        <p:txBody>
          <a:bodyPr wrap="square" lIns="0" tIns="0" rIns="0" bIns="0" rtlCol="0" anchor="ctr"/>
          <a:lstStyle/>
          <a:p>
            <a:pPr marL="0" indent="0">
              <a:buNone/>
            </a:pPr>
            <a:r>
              <a:rPr lang="en-US" sz="1000" b="1" dirty="0">
                <a:solidFill>
                  <a:srgbClr val="5391D5"/>
                </a:solidFill>
                <a:latin typeface="Arial" pitchFamily="34" charset="0"/>
                <a:ea typeface="Arial" pitchFamily="34" charset="-122"/>
                <a:cs typeface="Arial" pitchFamily="34" charset="-120"/>
              </a:rPr>
              <a:t>2015+</a:t>
            </a:r>
            <a:endParaRPr lang="en-US" sz="1000" dirty="0"/>
          </a:p>
        </p:txBody>
      </p:sp>
      <p:sp>
        <p:nvSpPr>
          <p:cNvPr id="29" name="Text 26"/>
          <p:cNvSpPr/>
          <p:nvPr/>
        </p:nvSpPr>
        <p:spPr>
          <a:xfrm>
            <a:off x="4343400" y="3163824"/>
            <a:ext cx="4206240"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Machine Learning Models</a:t>
            </a:r>
            <a:endParaRPr lang="en-US" sz="1000" dirty="0"/>
          </a:p>
        </p:txBody>
      </p:sp>
      <p:sp>
        <p:nvSpPr>
          <p:cNvPr id="30" name="Text 27"/>
          <p:cNvSpPr/>
          <p:nvPr/>
        </p:nvSpPr>
        <p:spPr>
          <a:xfrm>
            <a:off x="4343400" y="3401568"/>
            <a:ext cx="4206240" cy="347472"/>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Predictive analytics and ML algorithms begin automating forecasting, anomaly detection, and pattern recognition in financial data.</a:t>
            </a:r>
            <a:endParaRPr lang="en-US" sz="800" dirty="0"/>
          </a:p>
        </p:txBody>
      </p:sp>
      <p:sp>
        <p:nvSpPr>
          <p:cNvPr id="31" name="Shape 28"/>
          <p:cNvSpPr/>
          <p:nvPr/>
        </p:nvSpPr>
        <p:spPr>
          <a:xfrm>
            <a:off x="3337560" y="4069080"/>
            <a:ext cx="128016" cy="128016"/>
          </a:xfrm>
          <a:prstGeom prst="ellipse">
            <a:avLst/>
          </a:prstGeom>
          <a:solidFill>
            <a:srgbClr val="5391D5"/>
          </a:solidFill>
          <a:ln/>
        </p:spPr>
        <p:txBody>
          <a:bodyPr/>
          <a:lstStyle/>
          <a:p>
            <a:endParaRPr lang="en-AE"/>
          </a:p>
        </p:txBody>
      </p:sp>
      <p:sp>
        <p:nvSpPr>
          <p:cNvPr id="32" name="Text 29"/>
          <p:cNvSpPr/>
          <p:nvPr/>
        </p:nvSpPr>
        <p:spPr>
          <a:xfrm>
            <a:off x="3566160" y="3986784"/>
            <a:ext cx="731520" cy="228600"/>
          </a:xfrm>
          <a:prstGeom prst="rect">
            <a:avLst/>
          </a:prstGeom>
          <a:noFill/>
          <a:ln/>
        </p:spPr>
        <p:txBody>
          <a:bodyPr wrap="square" lIns="0" tIns="0" rIns="0" bIns="0" rtlCol="0" anchor="ctr"/>
          <a:lstStyle/>
          <a:p>
            <a:pPr marL="0" indent="0">
              <a:buNone/>
            </a:pPr>
            <a:r>
              <a:rPr lang="en-US" sz="1000" b="1" dirty="0">
                <a:solidFill>
                  <a:srgbClr val="5391D5"/>
                </a:solidFill>
                <a:latin typeface="Arial" pitchFamily="34" charset="0"/>
                <a:ea typeface="Arial" pitchFamily="34" charset="-122"/>
                <a:cs typeface="Arial" pitchFamily="34" charset="-120"/>
              </a:rPr>
              <a:t>2020+</a:t>
            </a:r>
            <a:endParaRPr lang="en-US" sz="1000" dirty="0"/>
          </a:p>
        </p:txBody>
      </p:sp>
      <p:sp>
        <p:nvSpPr>
          <p:cNvPr id="33" name="Text 30"/>
          <p:cNvSpPr/>
          <p:nvPr/>
        </p:nvSpPr>
        <p:spPr>
          <a:xfrm>
            <a:off x="4343400" y="3986784"/>
            <a:ext cx="4206240"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GenAI &amp; Large Language Models</a:t>
            </a:r>
            <a:endParaRPr lang="en-US" sz="1000" dirty="0"/>
          </a:p>
        </p:txBody>
      </p:sp>
      <p:sp>
        <p:nvSpPr>
          <p:cNvPr id="34" name="Text 31"/>
          <p:cNvSpPr/>
          <p:nvPr/>
        </p:nvSpPr>
        <p:spPr>
          <a:xfrm>
            <a:off x="4343400" y="4224528"/>
            <a:ext cx="4206240" cy="347472"/>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Generative AI and LLMs enable natural language financial analysis, automated report generation, and conversational planning interfaces.</a:t>
            </a:r>
            <a:endParaRPr lang="en-US" sz="800" dirty="0"/>
          </a:p>
        </p:txBody>
      </p:sp>
      <p:pic>
        <p:nvPicPr>
          <p:cNvPr id="35"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37" name="Text 32"/>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5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73000"/>
    </mc:Choice>
    <mc:Fallback>
      <p:transition spd="slow" advClick="0" advTm="7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1732"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01 &gt; Overview of AI in Finance Planning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TECHNOLOGY LANDSCAPE</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5391D5"/>
                </a:solidFill>
                <a:latin typeface="Arial" pitchFamily="34" charset="0"/>
                <a:ea typeface="Arial" pitchFamily="34" charset="-122"/>
                <a:cs typeface="Arial" pitchFamily="34" charset="-120"/>
              </a:rPr>
              <a:t>AI Technologies</a:t>
            </a:r>
            <a:r>
              <a:rPr lang="en-US" sz="2200" b="1" dirty="0">
                <a:solidFill>
                  <a:srgbClr val="F5F0E8"/>
                </a:solidFill>
                <a:latin typeface="Arial" pitchFamily="34" charset="0"/>
                <a:ea typeface="Arial" pitchFamily="34" charset="-122"/>
                <a:cs typeface="Arial" pitchFamily="34" charset="-120"/>
              </a:rPr>
              <a:t> Powering Modern Finance</a:t>
            </a:r>
            <a:endParaRPr lang="en-US" sz="2200" dirty="0"/>
          </a:p>
        </p:txBody>
      </p:sp>
      <p:sp>
        <p:nvSpPr>
          <p:cNvPr id="11" name="Shape 8"/>
          <p:cNvSpPr/>
          <p:nvPr/>
        </p:nvSpPr>
        <p:spPr>
          <a:xfrm>
            <a:off x="3200400" y="731520"/>
            <a:ext cx="2688336" cy="1097280"/>
          </a:xfrm>
          <a:prstGeom prst="rect">
            <a:avLst/>
          </a:prstGeom>
          <a:solidFill>
            <a:srgbClr val="111D2E"/>
          </a:solidFill>
          <a:ln w="6350">
            <a:solidFill>
              <a:srgbClr val="0A1525"/>
            </a:solidFill>
            <a:prstDash val="solid"/>
          </a:ln>
        </p:spPr>
        <p:txBody>
          <a:bodyPr/>
          <a:lstStyle/>
          <a:p>
            <a:endParaRPr lang="en-AE"/>
          </a:p>
        </p:txBody>
      </p:sp>
      <p:sp>
        <p:nvSpPr>
          <p:cNvPr id="12" name="Shape 9"/>
          <p:cNvSpPr/>
          <p:nvPr/>
        </p:nvSpPr>
        <p:spPr>
          <a:xfrm>
            <a:off x="3291840" y="822960"/>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13" name="Image 1" descr="C:\Users\AimanSadeq\OneDrive - Virginia Institute of Finance\VIFM eLearning Portal\vifm-elearning\scripts\lesson-generator\assets\icons\brain.png"/>
          <p:cNvPicPr>
            <a:picLocks noChangeAspect="1"/>
          </p:cNvPicPr>
          <p:nvPr/>
        </p:nvPicPr>
        <p:blipFill>
          <a:blip r:embed="rId6"/>
          <a:stretch>
            <a:fillRect/>
          </a:stretch>
        </p:blipFill>
        <p:spPr>
          <a:xfrm>
            <a:off x="3362249" y="893369"/>
            <a:ext cx="179222" cy="179222"/>
          </a:xfrm>
          <a:prstGeom prst="rect">
            <a:avLst/>
          </a:prstGeom>
        </p:spPr>
      </p:pic>
      <p:sp>
        <p:nvSpPr>
          <p:cNvPr id="14" name="Text 10"/>
          <p:cNvSpPr/>
          <p:nvPr/>
        </p:nvSpPr>
        <p:spPr>
          <a:xfrm>
            <a:off x="3291840" y="1170432"/>
            <a:ext cx="2505456"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Machine Learning</a:t>
            </a:r>
            <a:endParaRPr lang="en-US" sz="1000" dirty="0"/>
          </a:p>
        </p:txBody>
      </p:sp>
      <p:sp>
        <p:nvSpPr>
          <p:cNvPr id="15" name="Text 11"/>
          <p:cNvSpPr/>
          <p:nvPr/>
        </p:nvSpPr>
        <p:spPr>
          <a:xfrm>
            <a:off x="3291840" y="1399032"/>
            <a:ext cx="2505456" cy="338328"/>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Supervised and unsupervised algorithms that learn from historical financial data to predict future outcomes, detect anomalies, and optimize decisions.</a:t>
            </a:r>
            <a:endParaRPr lang="en-US" sz="800" dirty="0"/>
          </a:p>
        </p:txBody>
      </p:sp>
      <p:sp>
        <p:nvSpPr>
          <p:cNvPr id="16" name="Shape 12"/>
          <p:cNvSpPr/>
          <p:nvPr/>
        </p:nvSpPr>
        <p:spPr>
          <a:xfrm>
            <a:off x="5998464" y="731520"/>
            <a:ext cx="2688336" cy="1097280"/>
          </a:xfrm>
          <a:prstGeom prst="rect">
            <a:avLst/>
          </a:prstGeom>
          <a:solidFill>
            <a:srgbClr val="111D2E"/>
          </a:solidFill>
          <a:ln w="6350">
            <a:solidFill>
              <a:srgbClr val="0A1525"/>
            </a:solidFill>
            <a:prstDash val="solid"/>
          </a:ln>
        </p:spPr>
        <p:txBody>
          <a:bodyPr/>
          <a:lstStyle/>
          <a:p>
            <a:endParaRPr lang="en-AE"/>
          </a:p>
        </p:txBody>
      </p:sp>
      <p:sp>
        <p:nvSpPr>
          <p:cNvPr id="17" name="Shape 13"/>
          <p:cNvSpPr/>
          <p:nvPr/>
        </p:nvSpPr>
        <p:spPr>
          <a:xfrm>
            <a:off x="6089904" y="822960"/>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18" name="Image 2" descr="C:\Users\AimanSadeq\OneDrive - Virginia Institute of Finance\VIFM eLearning Portal\vifm-elearning\scripts\lesson-generator\assets\icons\chat.png"/>
          <p:cNvPicPr>
            <a:picLocks noChangeAspect="1"/>
          </p:cNvPicPr>
          <p:nvPr/>
        </p:nvPicPr>
        <p:blipFill>
          <a:blip r:embed="rId7"/>
          <a:stretch>
            <a:fillRect/>
          </a:stretch>
        </p:blipFill>
        <p:spPr>
          <a:xfrm>
            <a:off x="6160313" y="893369"/>
            <a:ext cx="179222" cy="179222"/>
          </a:xfrm>
          <a:prstGeom prst="rect">
            <a:avLst/>
          </a:prstGeom>
        </p:spPr>
      </p:pic>
      <p:sp>
        <p:nvSpPr>
          <p:cNvPr id="19" name="Text 14"/>
          <p:cNvSpPr/>
          <p:nvPr/>
        </p:nvSpPr>
        <p:spPr>
          <a:xfrm>
            <a:off x="6089904" y="1170432"/>
            <a:ext cx="2505456"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Natural Language Processing</a:t>
            </a:r>
            <a:endParaRPr lang="en-US" sz="1000" dirty="0"/>
          </a:p>
        </p:txBody>
      </p:sp>
      <p:sp>
        <p:nvSpPr>
          <p:cNvPr id="20" name="Text 15"/>
          <p:cNvSpPr/>
          <p:nvPr/>
        </p:nvSpPr>
        <p:spPr>
          <a:xfrm>
            <a:off x="6089904" y="1399032"/>
            <a:ext cx="2505456" cy="338328"/>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Enables AI to read, interpret, and generate financial reports, earnings calls, regulatory filings, and internal memos in human language.</a:t>
            </a:r>
            <a:endParaRPr lang="en-US" sz="800" dirty="0"/>
          </a:p>
        </p:txBody>
      </p:sp>
      <p:sp>
        <p:nvSpPr>
          <p:cNvPr id="21" name="Shape 16"/>
          <p:cNvSpPr/>
          <p:nvPr/>
        </p:nvSpPr>
        <p:spPr>
          <a:xfrm>
            <a:off x="3200400" y="1938528"/>
            <a:ext cx="2688336" cy="1097280"/>
          </a:xfrm>
          <a:prstGeom prst="rect">
            <a:avLst/>
          </a:prstGeom>
          <a:solidFill>
            <a:srgbClr val="111D2E"/>
          </a:solidFill>
          <a:ln w="6350">
            <a:solidFill>
              <a:srgbClr val="0A1525"/>
            </a:solidFill>
            <a:prstDash val="solid"/>
          </a:ln>
        </p:spPr>
        <p:txBody>
          <a:bodyPr/>
          <a:lstStyle/>
          <a:p>
            <a:endParaRPr lang="en-AE"/>
          </a:p>
        </p:txBody>
      </p:sp>
      <p:sp>
        <p:nvSpPr>
          <p:cNvPr id="22" name="Shape 17"/>
          <p:cNvSpPr/>
          <p:nvPr/>
        </p:nvSpPr>
        <p:spPr>
          <a:xfrm>
            <a:off x="3291840" y="2029968"/>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23" name="Image 3" descr="C:\Users\AimanSadeq\OneDrive - Virginia Institute of Finance\VIFM eLearning Portal\vifm-elearning\scripts\lesson-generator\assets\icons\eye.png"/>
          <p:cNvPicPr>
            <a:picLocks noChangeAspect="1"/>
          </p:cNvPicPr>
          <p:nvPr/>
        </p:nvPicPr>
        <p:blipFill>
          <a:blip r:embed="rId8"/>
          <a:stretch>
            <a:fillRect/>
          </a:stretch>
        </p:blipFill>
        <p:spPr>
          <a:xfrm>
            <a:off x="3362249" y="2100377"/>
            <a:ext cx="179222" cy="179222"/>
          </a:xfrm>
          <a:prstGeom prst="rect">
            <a:avLst/>
          </a:prstGeom>
        </p:spPr>
      </p:pic>
      <p:sp>
        <p:nvSpPr>
          <p:cNvPr id="24" name="Text 18"/>
          <p:cNvSpPr/>
          <p:nvPr/>
        </p:nvSpPr>
        <p:spPr>
          <a:xfrm>
            <a:off x="3291840" y="2377440"/>
            <a:ext cx="2505456"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Computer Vision</a:t>
            </a:r>
            <a:endParaRPr lang="en-US" sz="1000" dirty="0"/>
          </a:p>
        </p:txBody>
      </p:sp>
      <p:sp>
        <p:nvSpPr>
          <p:cNvPr id="25" name="Text 19"/>
          <p:cNvSpPr/>
          <p:nvPr/>
        </p:nvSpPr>
        <p:spPr>
          <a:xfrm>
            <a:off x="3291840" y="2606040"/>
            <a:ext cx="2505456" cy="338328"/>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Automates document processing by reading invoices, receipts, contracts, and financial statements, extracting structured data from unstructured sources.</a:t>
            </a:r>
            <a:endParaRPr lang="en-US" sz="800" dirty="0"/>
          </a:p>
        </p:txBody>
      </p:sp>
      <p:sp>
        <p:nvSpPr>
          <p:cNvPr id="26" name="Shape 20"/>
          <p:cNvSpPr/>
          <p:nvPr/>
        </p:nvSpPr>
        <p:spPr>
          <a:xfrm>
            <a:off x="5998464" y="1938528"/>
            <a:ext cx="2688336" cy="1097280"/>
          </a:xfrm>
          <a:prstGeom prst="rect">
            <a:avLst/>
          </a:prstGeom>
          <a:solidFill>
            <a:srgbClr val="111D2E"/>
          </a:solidFill>
          <a:ln w="6350">
            <a:solidFill>
              <a:srgbClr val="0A1525"/>
            </a:solidFill>
            <a:prstDash val="solid"/>
          </a:ln>
        </p:spPr>
        <p:txBody>
          <a:bodyPr/>
          <a:lstStyle/>
          <a:p>
            <a:endParaRPr lang="en-AE"/>
          </a:p>
        </p:txBody>
      </p:sp>
      <p:sp>
        <p:nvSpPr>
          <p:cNvPr id="27" name="Shape 21"/>
          <p:cNvSpPr/>
          <p:nvPr/>
        </p:nvSpPr>
        <p:spPr>
          <a:xfrm>
            <a:off x="6089904" y="2029968"/>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pic>
        <p:nvPicPr>
          <p:cNvPr id="28" name="Image 4" descr="C:\Users\AimanSadeq\OneDrive - Virginia Institute of Finance\VIFM eLearning Portal\vifm-elearning\scripts\lesson-generator\assets\icons\bulb.png"/>
          <p:cNvPicPr>
            <a:picLocks noChangeAspect="1"/>
          </p:cNvPicPr>
          <p:nvPr/>
        </p:nvPicPr>
        <p:blipFill>
          <a:blip r:embed="rId9"/>
          <a:stretch>
            <a:fillRect/>
          </a:stretch>
        </p:blipFill>
        <p:spPr>
          <a:xfrm>
            <a:off x="6160313" y="2100377"/>
            <a:ext cx="179222" cy="179222"/>
          </a:xfrm>
          <a:prstGeom prst="rect">
            <a:avLst/>
          </a:prstGeom>
        </p:spPr>
      </p:pic>
      <p:sp>
        <p:nvSpPr>
          <p:cNvPr id="29" name="Text 22"/>
          <p:cNvSpPr/>
          <p:nvPr/>
        </p:nvSpPr>
        <p:spPr>
          <a:xfrm>
            <a:off x="6089904" y="2377440"/>
            <a:ext cx="2505456" cy="228600"/>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Generative AI</a:t>
            </a:r>
            <a:endParaRPr lang="en-US" sz="1000" dirty="0"/>
          </a:p>
        </p:txBody>
      </p:sp>
      <p:sp>
        <p:nvSpPr>
          <p:cNvPr id="30" name="Text 23"/>
          <p:cNvSpPr/>
          <p:nvPr/>
        </p:nvSpPr>
        <p:spPr>
          <a:xfrm>
            <a:off x="6089904" y="2606040"/>
            <a:ext cx="2505456" cy="338328"/>
          </a:xfrm>
          <a:prstGeom prst="rect">
            <a:avLst/>
          </a:prstGeom>
          <a:noFill/>
          <a:ln/>
        </p:spPr>
        <p:txBody>
          <a:bodyPr wrap="square" lIns="0" tIns="0" rIns="0" bIns="0" rtlCol="0" anchor="t"/>
          <a:lstStyle/>
          <a:p>
            <a:pPr marL="0" indent="0">
              <a:buNone/>
            </a:pPr>
            <a:r>
              <a:rPr lang="en-US" sz="800" dirty="0">
                <a:solidFill>
                  <a:srgbClr val="8A9BB5"/>
                </a:solidFill>
                <a:latin typeface="Arial" pitchFamily="34" charset="0"/>
                <a:ea typeface="Arial" pitchFamily="34" charset="-122"/>
                <a:cs typeface="Arial" pitchFamily="34" charset="-120"/>
              </a:rPr>
              <a:t>Creates new content including financial narratives, scenario analyses, budget summaries, and board-ready presentations from raw data inputs.</a:t>
            </a:r>
            <a:endParaRPr lang="en-US" sz="800" dirty="0"/>
          </a:p>
        </p:txBody>
      </p:sp>
      <p:pic>
        <p:nvPicPr>
          <p:cNvPr id="31"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0058400" y="6057900"/>
            <a:ext cx="9144" cy="9144"/>
          </a:xfrm>
          <a:prstGeom prst="rect">
            <a:avLst/>
          </a:prstGeom>
        </p:spPr>
      </p:pic>
      <p:sp>
        <p:nvSpPr>
          <p:cNvPr id="33" name="Text 24"/>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6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84000"/>
    </mc:Choice>
    <mc:Fallback>
      <p:transition spd="slow" advClick="0" advTm="8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2207"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01 &gt; Overview of AI in Finance Planning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SIDE-BY-SIDE</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Traditional vs </a:t>
            </a:r>
            <a:r>
              <a:rPr lang="en-US" sz="2200" b="1" dirty="0">
                <a:solidFill>
                  <a:srgbClr val="5391D5"/>
                </a:solidFill>
                <a:latin typeface="Arial" pitchFamily="34" charset="0"/>
                <a:ea typeface="Arial" pitchFamily="34" charset="-122"/>
                <a:cs typeface="Arial" pitchFamily="34" charset="-120"/>
              </a:rPr>
              <a:t>AI-Driven</a:t>
            </a:r>
            <a:r>
              <a:rPr lang="en-US" sz="2200" b="1" dirty="0">
                <a:solidFill>
                  <a:srgbClr val="F5F0E8"/>
                </a:solidFill>
                <a:latin typeface="Arial" pitchFamily="34" charset="0"/>
                <a:ea typeface="Arial" pitchFamily="34" charset="-122"/>
                <a:cs typeface="Arial" pitchFamily="34" charset="-120"/>
              </a:rPr>
              <a:t> Finance Planning</a:t>
            </a:r>
            <a:endParaRPr lang="en-US" sz="2200" dirty="0"/>
          </a:p>
        </p:txBody>
      </p:sp>
      <p:sp>
        <p:nvSpPr>
          <p:cNvPr id="11" name="Shape 8"/>
          <p:cNvSpPr/>
          <p:nvPr/>
        </p:nvSpPr>
        <p:spPr>
          <a:xfrm>
            <a:off x="3200400" y="640080"/>
            <a:ext cx="5486400" cy="320040"/>
          </a:xfrm>
          <a:prstGeom prst="rect">
            <a:avLst/>
          </a:prstGeom>
          <a:solidFill>
            <a:srgbClr val="111D2E"/>
          </a:solidFill>
          <a:ln w="6350">
            <a:solidFill>
              <a:srgbClr val="0A1525"/>
            </a:solidFill>
            <a:prstDash val="solid"/>
          </a:ln>
        </p:spPr>
        <p:txBody>
          <a:bodyPr/>
          <a:lstStyle/>
          <a:p>
            <a:endParaRPr lang="en-AE"/>
          </a:p>
        </p:txBody>
      </p:sp>
      <p:sp>
        <p:nvSpPr>
          <p:cNvPr id="12" name="Text 9"/>
          <p:cNvSpPr/>
          <p:nvPr/>
        </p:nvSpPr>
        <p:spPr>
          <a:xfrm>
            <a:off x="3291840" y="685800"/>
            <a:ext cx="1353312" cy="228600"/>
          </a:xfrm>
          <a:prstGeom prst="rect">
            <a:avLst/>
          </a:prstGeom>
          <a:noFill/>
          <a:ln/>
        </p:spPr>
        <p:txBody>
          <a:bodyPr wrap="square" lIns="0" tIns="0" rIns="0" bIns="0" rtlCol="0" anchor="ctr"/>
          <a:lstStyle/>
          <a:p>
            <a:pPr marL="0" indent="0">
              <a:buNone/>
            </a:pPr>
            <a:endParaRPr lang="en-US" sz="900" dirty="0"/>
          </a:p>
        </p:txBody>
      </p:sp>
      <p:sp>
        <p:nvSpPr>
          <p:cNvPr id="13" name="Text 10"/>
          <p:cNvSpPr/>
          <p:nvPr/>
        </p:nvSpPr>
        <p:spPr>
          <a:xfrm>
            <a:off x="4736592" y="685800"/>
            <a:ext cx="1975104" cy="228600"/>
          </a:xfrm>
          <a:prstGeom prst="rect">
            <a:avLst/>
          </a:prstGeom>
          <a:noFill/>
          <a:ln/>
        </p:spPr>
        <p:txBody>
          <a:bodyPr wrap="square" lIns="0" tIns="0" rIns="0" bIns="0" rtlCol="0" anchor="ctr"/>
          <a:lstStyle/>
          <a:p>
            <a:pPr marL="0" indent="0" algn="ctr">
              <a:buNone/>
            </a:pPr>
            <a:r>
              <a:rPr lang="en-US" sz="900" b="1" dirty="0">
                <a:solidFill>
                  <a:srgbClr val="5391D5"/>
                </a:solidFill>
                <a:latin typeface="Arial" pitchFamily="34" charset="0"/>
                <a:ea typeface="Arial" pitchFamily="34" charset="-122"/>
                <a:cs typeface="Arial" pitchFamily="34" charset="-120"/>
              </a:rPr>
              <a:t>Traditional</a:t>
            </a:r>
            <a:endParaRPr lang="en-US" sz="900" dirty="0"/>
          </a:p>
        </p:txBody>
      </p:sp>
      <p:sp>
        <p:nvSpPr>
          <p:cNvPr id="14" name="Text 11"/>
          <p:cNvSpPr/>
          <p:nvPr/>
        </p:nvSpPr>
        <p:spPr>
          <a:xfrm>
            <a:off x="6711696" y="685800"/>
            <a:ext cx="1975104" cy="228600"/>
          </a:xfrm>
          <a:prstGeom prst="rect">
            <a:avLst/>
          </a:prstGeom>
          <a:noFill/>
          <a:ln/>
        </p:spPr>
        <p:txBody>
          <a:bodyPr wrap="square" lIns="0" tIns="0" rIns="0" bIns="0" rtlCol="0" anchor="ctr"/>
          <a:lstStyle/>
          <a:p>
            <a:pPr marL="0" indent="0" algn="ctr">
              <a:buNone/>
            </a:pPr>
            <a:r>
              <a:rPr lang="en-US" sz="900" b="1" dirty="0">
                <a:solidFill>
                  <a:srgbClr val="5391D5"/>
                </a:solidFill>
                <a:latin typeface="Arial" pitchFamily="34" charset="0"/>
                <a:ea typeface="Arial" pitchFamily="34" charset="-122"/>
                <a:cs typeface="Arial" pitchFamily="34" charset="-120"/>
              </a:rPr>
              <a:t>AI-Driven</a:t>
            </a:r>
            <a:endParaRPr lang="en-US" sz="900" dirty="0"/>
          </a:p>
        </p:txBody>
      </p:sp>
      <p:sp>
        <p:nvSpPr>
          <p:cNvPr id="15" name="Shape 12"/>
          <p:cNvSpPr/>
          <p:nvPr/>
        </p:nvSpPr>
        <p:spPr>
          <a:xfrm>
            <a:off x="3200400" y="1051560"/>
            <a:ext cx="5486400" cy="640080"/>
          </a:xfrm>
          <a:prstGeom prst="rect">
            <a:avLst/>
          </a:prstGeom>
          <a:solidFill>
            <a:srgbClr val="111D2E"/>
          </a:solidFill>
          <a:ln w="6350">
            <a:solidFill>
              <a:srgbClr val="0A1525"/>
            </a:solidFill>
            <a:prstDash val="solid"/>
          </a:ln>
        </p:spPr>
        <p:txBody>
          <a:bodyPr/>
          <a:lstStyle/>
          <a:p>
            <a:endParaRPr lang="en-AE"/>
          </a:p>
        </p:txBody>
      </p:sp>
      <p:sp>
        <p:nvSpPr>
          <p:cNvPr id="16" name="Text 13"/>
          <p:cNvSpPr/>
          <p:nvPr/>
        </p:nvSpPr>
        <p:spPr>
          <a:xfrm>
            <a:off x="3291840" y="1097280"/>
            <a:ext cx="1353312" cy="548640"/>
          </a:xfrm>
          <a:prstGeom prst="rect">
            <a:avLst/>
          </a:prstGeom>
          <a:noFill/>
          <a:ln/>
        </p:spPr>
        <p:txBody>
          <a:bodyPr wrap="square" lIns="0" tIns="0" rIns="0" bIns="0" rtlCol="0" anchor="ctr"/>
          <a:lstStyle/>
          <a:p>
            <a:pPr marL="0" indent="0">
              <a:buNone/>
            </a:pPr>
            <a:r>
              <a:rPr lang="en-US" sz="900" b="1" dirty="0">
                <a:solidFill>
                  <a:srgbClr val="F5F0E8"/>
                </a:solidFill>
                <a:latin typeface="Arial" pitchFamily="34" charset="0"/>
                <a:ea typeface="Arial" pitchFamily="34" charset="-122"/>
                <a:cs typeface="Arial" pitchFamily="34" charset="-120"/>
              </a:rPr>
              <a:t>Speed</a:t>
            </a:r>
            <a:endParaRPr lang="en-US" sz="900" dirty="0"/>
          </a:p>
        </p:txBody>
      </p:sp>
      <p:sp>
        <p:nvSpPr>
          <p:cNvPr id="17" name="Text 14"/>
          <p:cNvSpPr/>
          <p:nvPr/>
        </p:nvSpPr>
        <p:spPr>
          <a:xfrm>
            <a:off x="4782312" y="1097280"/>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Weeks to months for annual plan cycles</a:t>
            </a:r>
            <a:endParaRPr lang="en-US" sz="800" dirty="0"/>
          </a:p>
        </p:txBody>
      </p:sp>
      <p:sp>
        <p:nvSpPr>
          <p:cNvPr id="18" name="Text 15"/>
          <p:cNvSpPr/>
          <p:nvPr/>
        </p:nvSpPr>
        <p:spPr>
          <a:xfrm>
            <a:off x="6757416" y="1097280"/>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Days to hours with continuous rolling forecasts</a:t>
            </a:r>
            <a:endParaRPr lang="en-US" sz="800" dirty="0"/>
          </a:p>
        </p:txBody>
      </p:sp>
      <p:sp>
        <p:nvSpPr>
          <p:cNvPr id="19" name="Shape 16"/>
          <p:cNvSpPr/>
          <p:nvPr/>
        </p:nvSpPr>
        <p:spPr>
          <a:xfrm>
            <a:off x="3200400" y="1746504"/>
            <a:ext cx="5486400" cy="640080"/>
          </a:xfrm>
          <a:prstGeom prst="rect">
            <a:avLst/>
          </a:prstGeom>
          <a:solidFill>
            <a:srgbClr val="111D2E"/>
          </a:solidFill>
          <a:ln w="6350">
            <a:solidFill>
              <a:srgbClr val="0A1525"/>
            </a:solidFill>
            <a:prstDash val="solid"/>
          </a:ln>
        </p:spPr>
        <p:txBody>
          <a:bodyPr/>
          <a:lstStyle/>
          <a:p>
            <a:endParaRPr lang="en-AE"/>
          </a:p>
        </p:txBody>
      </p:sp>
      <p:sp>
        <p:nvSpPr>
          <p:cNvPr id="20" name="Text 17"/>
          <p:cNvSpPr/>
          <p:nvPr/>
        </p:nvSpPr>
        <p:spPr>
          <a:xfrm>
            <a:off x="3291840" y="1792224"/>
            <a:ext cx="1353312" cy="548640"/>
          </a:xfrm>
          <a:prstGeom prst="rect">
            <a:avLst/>
          </a:prstGeom>
          <a:noFill/>
          <a:ln/>
        </p:spPr>
        <p:txBody>
          <a:bodyPr wrap="square" lIns="0" tIns="0" rIns="0" bIns="0" rtlCol="0" anchor="ctr"/>
          <a:lstStyle/>
          <a:p>
            <a:pPr marL="0" indent="0">
              <a:buNone/>
            </a:pPr>
            <a:r>
              <a:rPr lang="en-US" sz="900" b="1" dirty="0">
                <a:solidFill>
                  <a:srgbClr val="F5F0E8"/>
                </a:solidFill>
                <a:latin typeface="Arial" pitchFamily="34" charset="0"/>
                <a:ea typeface="Arial" pitchFamily="34" charset="-122"/>
                <a:cs typeface="Arial" pitchFamily="34" charset="-120"/>
              </a:rPr>
              <a:t>Accuracy</a:t>
            </a:r>
            <a:endParaRPr lang="en-US" sz="900" dirty="0"/>
          </a:p>
        </p:txBody>
      </p:sp>
      <p:sp>
        <p:nvSpPr>
          <p:cNvPr id="21" name="Text 18"/>
          <p:cNvSpPr/>
          <p:nvPr/>
        </p:nvSpPr>
        <p:spPr>
          <a:xfrm>
            <a:off x="4782312" y="1792224"/>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70-75% typical forecast accuracy</a:t>
            </a:r>
            <a:endParaRPr lang="en-US" sz="800" dirty="0"/>
          </a:p>
        </p:txBody>
      </p:sp>
      <p:sp>
        <p:nvSpPr>
          <p:cNvPr id="22" name="Text 19"/>
          <p:cNvSpPr/>
          <p:nvPr/>
        </p:nvSpPr>
        <p:spPr>
          <a:xfrm>
            <a:off x="6757416" y="1792224"/>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85-95% accuracy with ML-driven models</a:t>
            </a:r>
            <a:endParaRPr lang="en-US" sz="800" dirty="0"/>
          </a:p>
        </p:txBody>
      </p:sp>
      <p:sp>
        <p:nvSpPr>
          <p:cNvPr id="23" name="Shape 20"/>
          <p:cNvSpPr/>
          <p:nvPr/>
        </p:nvSpPr>
        <p:spPr>
          <a:xfrm>
            <a:off x="3200400" y="2441448"/>
            <a:ext cx="5486400" cy="640080"/>
          </a:xfrm>
          <a:prstGeom prst="rect">
            <a:avLst/>
          </a:prstGeom>
          <a:solidFill>
            <a:srgbClr val="111D2E"/>
          </a:solidFill>
          <a:ln w="6350">
            <a:solidFill>
              <a:srgbClr val="0A1525"/>
            </a:solidFill>
            <a:prstDash val="solid"/>
          </a:ln>
        </p:spPr>
        <p:txBody>
          <a:bodyPr/>
          <a:lstStyle/>
          <a:p>
            <a:endParaRPr lang="en-AE"/>
          </a:p>
        </p:txBody>
      </p:sp>
      <p:sp>
        <p:nvSpPr>
          <p:cNvPr id="24" name="Text 21"/>
          <p:cNvSpPr/>
          <p:nvPr/>
        </p:nvSpPr>
        <p:spPr>
          <a:xfrm>
            <a:off x="3291840" y="2487168"/>
            <a:ext cx="1353312" cy="548640"/>
          </a:xfrm>
          <a:prstGeom prst="rect">
            <a:avLst/>
          </a:prstGeom>
          <a:noFill/>
          <a:ln/>
        </p:spPr>
        <p:txBody>
          <a:bodyPr wrap="square" lIns="0" tIns="0" rIns="0" bIns="0" rtlCol="0" anchor="ctr"/>
          <a:lstStyle/>
          <a:p>
            <a:pPr marL="0" indent="0">
              <a:buNone/>
            </a:pPr>
            <a:r>
              <a:rPr lang="en-US" sz="900" b="1" dirty="0">
                <a:solidFill>
                  <a:srgbClr val="F5F0E8"/>
                </a:solidFill>
                <a:latin typeface="Arial" pitchFamily="34" charset="0"/>
                <a:ea typeface="Arial" pitchFamily="34" charset="-122"/>
                <a:cs typeface="Arial" pitchFamily="34" charset="-120"/>
              </a:rPr>
              <a:t>Scalability</a:t>
            </a:r>
            <a:endParaRPr lang="en-US" sz="900" dirty="0"/>
          </a:p>
        </p:txBody>
      </p:sp>
      <p:sp>
        <p:nvSpPr>
          <p:cNvPr id="25" name="Text 22"/>
          <p:cNvSpPr/>
          <p:nvPr/>
        </p:nvSpPr>
        <p:spPr>
          <a:xfrm>
            <a:off x="4782312" y="2487168"/>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Limited by team size and spreadsheet capacity</a:t>
            </a:r>
            <a:endParaRPr lang="en-US" sz="800" dirty="0"/>
          </a:p>
        </p:txBody>
      </p:sp>
      <p:sp>
        <p:nvSpPr>
          <p:cNvPr id="26" name="Text 23"/>
          <p:cNvSpPr/>
          <p:nvPr/>
        </p:nvSpPr>
        <p:spPr>
          <a:xfrm>
            <a:off x="6757416" y="2487168"/>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Scales across entities, currencies, and dimensions</a:t>
            </a:r>
            <a:endParaRPr lang="en-US" sz="800" dirty="0"/>
          </a:p>
        </p:txBody>
      </p:sp>
      <p:sp>
        <p:nvSpPr>
          <p:cNvPr id="27" name="Shape 24"/>
          <p:cNvSpPr/>
          <p:nvPr/>
        </p:nvSpPr>
        <p:spPr>
          <a:xfrm>
            <a:off x="3200400" y="3136392"/>
            <a:ext cx="5486400" cy="640080"/>
          </a:xfrm>
          <a:prstGeom prst="rect">
            <a:avLst/>
          </a:prstGeom>
          <a:solidFill>
            <a:srgbClr val="111D2E"/>
          </a:solidFill>
          <a:ln w="6350">
            <a:solidFill>
              <a:srgbClr val="0A1525"/>
            </a:solidFill>
            <a:prstDash val="solid"/>
          </a:ln>
        </p:spPr>
        <p:txBody>
          <a:bodyPr/>
          <a:lstStyle/>
          <a:p>
            <a:endParaRPr lang="en-AE"/>
          </a:p>
        </p:txBody>
      </p:sp>
      <p:sp>
        <p:nvSpPr>
          <p:cNvPr id="28" name="Text 25"/>
          <p:cNvSpPr/>
          <p:nvPr/>
        </p:nvSpPr>
        <p:spPr>
          <a:xfrm>
            <a:off x="3291840" y="3182112"/>
            <a:ext cx="1353312" cy="548640"/>
          </a:xfrm>
          <a:prstGeom prst="rect">
            <a:avLst/>
          </a:prstGeom>
          <a:noFill/>
          <a:ln/>
        </p:spPr>
        <p:txBody>
          <a:bodyPr wrap="square" lIns="0" tIns="0" rIns="0" bIns="0" rtlCol="0" anchor="ctr"/>
          <a:lstStyle/>
          <a:p>
            <a:pPr marL="0" indent="0">
              <a:buNone/>
            </a:pPr>
            <a:r>
              <a:rPr lang="en-US" sz="900" b="1" dirty="0">
                <a:solidFill>
                  <a:srgbClr val="F5F0E8"/>
                </a:solidFill>
                <a:latin typeface="Arial" pitchFamily="34" charset="0"/>
                <a:ea typeface="Arial" pitchFamily="34" charset="-122"/>
                <a:cs typeface="Arial" pitchFamily="34" charset="-120"/>
              </a:rPr>
              <a:t>Real-time Insight</a:t>
            </a:r>
            <a:endParaRPr lang="en-US" sz="900" dirty="0"/>
          </a:p>
        </p:txBody>
      </p:sp>
      <p:sp>
        <p:nvSpPr>
          <p:cNvPr id="29" name="Text 26"/>
          <p:cNvSpPr/>
          <p:nvPr/>
        </p:nvSpPr>
        <p:spPr>
          <a:xfrm>
            <a:off x="4782312" y="3182112"/>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Monthly or quarterly snapshots, often stale</a:t>
            </a:r>
            <a:endParaRPr lang="en-US" sz="800" dirty="0"/>
          </a:p>
        </p:txBody>
      </p:sp>
      <p:sp>
        <p:nvSpPr>
          <p:cNvPr id="30" name="Text 27"/>
          <p:cNvSpPr/>
          <p:nvPr/>
        </p:nvSpPr>
        <p:spPr>
          <a:xfrm>
            <a:off x="6757416" y="3182112"/>
            <a:ext cx="1883664" cy="548640"/>
          </a:xfrm>
          <a:prstGeom prst="rect">
            <a:avLst/>
          </a:prstGeom>
          <a:noFill/>
          <a:ln/>
        </p:spPr>
        <p:txBody>
          <a:bodyPr wrap="square" lIns="0" tIns="0" rIns="0" bIns="0" rtlCol="0" anchor="ctr"/>
          <a:lstStyle/>
          <a:p>
            <a:pPr marL="0" indent="0">
              <a:buNone/>
            </a:pPr>
            <a:r>
              <a:rPr lang="en-US" sz="800" dirty="0">
                <a:solidFill>
                  <a:srgbClr val="8A9BB5"/>
                </a:solidFill>
                <a:latin typeface="Arial" pitchFamily="34" charset="0"/>
                <a:ea typeface="Arial" pitchFamily="34" charset="-122"/>
                <a:cs typeface="Arial" pitchFamily="34" charset="-120"/>
              </a:rPr>
              <a:t>Live dashboards with real-time variance alerts</a:t>
            </a:r>
            <a:endParaRPr lang="en-US" sz="800" dirty="0"/>
          </a:p>
        </p:txBody>
      </p:sp>
      <p:sp>
        <p:nvSpPr>
          <p:cNvPr id="31" name="Text 28"/>
          <p:cNvSpPr/>
          <p:nvPr/>
        </p:nvSpPr>
        <p:spPr>
          <a:xfrm>
            <a:off x="3200400" y="4549140"/>
            <a:ext cx="5486400" cy="274320"/>
          </a:xfrm>
          <a:prstGeom prst="rect">
            <a:avLst/>
          </a:prstGeom>
          <a:noFill/>
          <a:ln/>
        </p:spPr>
        <p:txBody>
          <a:bodyPr wrap="square" lIns="0" tIns="0" rIns="0" bIns="0" rtlCol="0" anchor="ctr"/>
          <a:lstStyle/>
          <a:p>
            <a:pPr marL="0" indent="0" algn="ctr">
              <a:buNone/>
            </a:pPr>
            <a:r>
              <a:rPr lang="en-US" sz="900" dirty="0">
                <a:solidFill>
                  <a:srgbClr val="5391D5"/>
                </a:solidFill>
                <a:latin typeface="Arial" pitchFamily="34" charset="0"/>
                <a:ea typeface="Arial" pitchFamily="34" charset="-122"/>
                <a:cs typeface="Arial" pitchFamily="34" charset="-120"/>
              </a:rPr>
              <a:t>AI-driven planning delivers faster, more accurate, and scalable financial intelligence.</a:t>
            </a:r>
            <a:endParaRPr lang="en-US" sz="900" dirty="0"/>
          </a:p>
        </p:txBody>
      </p:sp>
      <p:pic>
        <p:nvPicPr>
          <p:cNvPr id="32"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34" name="Text 29"/>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7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78000"/>
    </mc:Choice>
    <mc:Fallback>
      <p:transition spd="slow" advClick="0" advTm="7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6460"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01 &gt; Overview of AI in Finance Planning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BY THE NUMBERS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The </a:t>
            </a:r>
            <a:r>
              <a:rPr lang="en-US" sz="2200" b="1" dirty="0">
                <a:solidFill>
                  <a:srgbClr val="5391D5"/>
                </a:solidFill>
                <a:latin typeface="Arial" pitchFamily="34" charset="0"/>
                <a:ea typeface="Arial" pitchFamily="34" charset="-122"/>
                <a:cs typeface="Arial" pitchFamily="34" charset="-120"/>
              </a:rPr>
              <a:t>Measurable Impact</a:t>
            </a:r>
            <a:r>
              <a:rPr lang="en-US" sz="2200" b="1" dirty="0">
                <a:solidFill>
                  <a:srgbClr val="F5F0E8"/>
                </a:solidFill>
                <a:latin typeface="Arial" pitchFamily="34" charset="0"/>
                <a:ea typeface="Arial" pitchFamily="34" charset="-122"/>
                <a:cs typeface="Arial" pitchFamily="34" charset="-120"/>
              </a:rPr>
              <a:t> of AI in Finance</a:t>
            </a:r>
            <a:endParaRPr lang="en-US" sz="2200" dirty="0"/>
          </a:p>
        </p:txBody>
      </p:sp>
      <p:sp>
        <p:nvSpPr>
          <p:cNvPr id="11" name="Shape 8"/>
          <p:cNvSpPr/>
          <p:nvPr/>
        </p:nvSpPr>
        <p:spPr>
          <a:xfrm>
            <a:off x="3200400" y="731520"/>
            <a:ext cx="2674620" cy="1005840"/>
          </a:xfrm>
          <a:prstGeom prst="rect">
            <a:avLst/>
          </a:prstGeom>
          <a:solidFill>
            <a:srgbClr val="111D2E"/>
          </a:solidFill>
          <a:ln w="6350">
            <a:solidFill>
              <a:srgbClr val="0A1525"/>
            </a:solidFill>
            <a:prstDash val="solid"/>
          </a:ln>
        </p:spPr>
        <p:txBody>
          <a:bodyPr/>
          <a:lstStyle/>
          <a:p>
            <a:endParaRPr lang="en-AE"/>
          </a:p>
        </p:txBody>
      </p:sp>
      <p:sp>
        <p:nvSpPr>
          <p:cNvPr id="12" name="Text 9"/>
          <p:cNvSpPr/>
          <p:nvPr/>
        </p:nvSpPr>
        <p:spPr>
          <a:xfrm>
            <a:off x="3337560" y="841248"/>
            <a:ext cx="2400300" cy="457200"/>
          </a:xfrm>
          <a:prstGeom prst="rect">
            <a:avLst/>
          </a:prstGeom>
          <a:noFill/>
          <a:ln/>
        </p:spPr>
        <p:txBody>
          <a:bodyPr wrap="square" lIns="0" tIns="0" rIns="0" bIns="0" rtlCol="0" anchor="ctr"/>
          <a:lstStyle/>
          <a:p>
            <a:pPr marL="0" indent="0">
              <a:buNone/>
            </a:pPr>
            <a:r>
              <a:rPr lang="en-US" sz="2400" b="1" dirty="0">
                <a:solidFill>
                  <a:srgbClr val="5391D5"/>
                </a:solidFill>
                <a:latin typeface="Arial" pitchFamily="34" charset="0"/>
                <a:ea typeface="Arial" pitchFamily="34" charset="-122"/>
                <a:cs typeface="Arial" pitchFamily="34" charset="-120"/>
              </a:rPr>
              <a:t>70%</a:t>
            </a:r>
            <a:endParaRPr lang="en-US" sz="2400" dirty="0"/>
          </a:p>
        </p:txBody>
      </p:sp>
      <p:sp>
        <p:nvSpPr>
          <p:cNvPr id="13" name="Text 10"/>
          <p:cNvSpPr/>
          <p:nvPr/>
        </p:nvSpPr>
        <p:spPr>
          <a:xfrm>
            <a:off x="3337560" y="1280160"/>
            <a:ext cx="2400300" cy="32004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Reduction in planning cycle time</a:t>
            </a:r>
            <a:endParaRPr lang="en-US" sz="900" dirty="0"/>
          </a:p>
        </p:txBody>
      </p:sp>
      <p:sp>
        <p:nvSpPr>
          <p:cNvPr id="14" name="Shape 11"/>
          <p:cNvSpPr/>
          <p:nvPr/>
        </p:nvSpPr>
        <p:spPr>
          <a:xfrm>
            <a:off x="6012180" y="731520"/>
            <a:ext cx="2674620" cy="1005840"/>
          </a:xfrm>
          <a:prstGeom prst="rect">
            <a:avLst/>
          </a:prstGeom>
          <a:solidFill>
            <a:srgbClr val="111D2E"/>
          </a:solidFill>
          <a:ln w="6350">
            <a:solidFill>
              <a:srgbClr val="0A1525"/>
            </a:solidFill>
            <a:prstDash val="solid"/>
          </a:ln>
        </p:spPr>
        <p:txBody>
          <a:bodyPr/>
          <a:lstStyle/>
          <a:p>
            <a:endParaRPr lang="en-AE"/>
          </a:p>
        </p:txBody>
      </p:sp>
      <p:sp>
        <p:nvSpPr>
          <p:cNvPr id="15" name="Text 12"/>
          <p:cNvSpPr/>
          <p:nvPr/>
        </p:nvSpPr>
        <p:spPr>
          <a:xfrm>
            <a:off x="6149340" y="841248"/>
            <a:ext cx="2400300" cy="457200"/>
          </a:xfrm>
          <a:prstGeom prst="rect">
            <a:avLst/>
          </a:prstGeom>
          <a:noFill/>
          <a:ln/>
        </p:spPr>
        <p:txBody>
          <a:bodyPr wrap="square" lIns="0" tIns="0" rIns="0" bIns="0" rtlCol="0" anchor="ctr"/>
          <a:lstStyle/>
          <a:p>
            <a:pPr marL="0" indent="0">
              <a:buNone/>
            </a:pPr>
            <a:r>
              <a:rPr lang="en-US" sz="2400" b="1" dirty="0">
                <a:solidFill>
                  <a:srgbClr val="5391D5"/>
                </a:solidFill>
                <a:latin typeface="Arial" pitchFamily="34" charset="0"/>
                <a:ea typeface="Arial" pitchFamily="34" charset="-122"/>
                <a:cs typeface="Arial" pitchFamily="34" charset="-120"/>
              </a:rPr>
              <a:t>40-60%</a:t>
            </a:r>
            <a:endParaRPr lang="en-US" sz="2400" dirty="0"/>
          </a:p>
        </p:txBody>
      </p:sp>
      <p:sp>
        <p:nvSpPr>
          <p:cNvPr id="16" name="Text 13"/>
          <p:cNvSpPr/>
          <p:nvPr/>
        </p:nvSpPr>
        <p:spPr>
          <a:xfrm>
            <a:off x="6149340" y="1280160"/>
            <a:ext cx="2400300" cy="32004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Improvement in forecast accuracy</a:t>
            </a:r>
            <a:endParaRPr lang="en-US" sz="900" dirty="0"/>
          </a:p>
        </p:txBody>
      </p:sp>
      <p:sp>
        <p:nvSpPr>
          <p:cNvPr id="17" name="Shape 14"/>
          <p:cNvSpPr/>
          <p:nvPr/>
        </p:nvSpPr>
        <p:spPr>
          <a:xfrm>
            <a:off x="3200400" y="1874520"/>
            <a:ext cx="2674620" cy="1005840"/>
          </a:xfrm>
          <a:prstGeom prst="rect">
            <a:avLst/>
          </a:prstGeom>
          <a:solidFill>
            <a:srgbClr val="111D2E"/>
          </a:solidFill>
          <a:ln w="6350">
            <a:solidFill>
              <a:srgbClr val="0A1525"/>
            </a:solidFill>
            <a:prstDash val="solid"/>
          </a:ln>
        </p:spPr>
        <p:txBody>
          <a:bodyPr/>
          <a:lstStyle/>
          <a:p>
            <a:endParaRPr lang="en-AE"/>
          </a:p>
        </p:txBody>
      </p:sp>
      <p:sp>
        <p:nvSpPr>
          <p:cNvPr id="18" name="Text 15"/>
          <p:cNvSpPr/>
          <p:nvPr/>
        </p:nvSpPr>
        <p:spPr>
          <a:xfrm>
            <a:off x="3337560" y="1984248"/>
            <a:ext cx="2400300" cy="457200"/>
          </a:xfrm>
          <a:prstGeom prst="rect">
            <a:avLst/>
          </a:prstGeom>
          <a:noFill/>
          <a:ln/>
        </p:spPr>
        <p:txBody>
          <a:bodyPr wrap="square" lIns="0" tIns="0" rIns="0" bIns="0" rtlCol="0" anchor="ctr"/>
          <a:lstStyle/>
          <a:p>
            <a:pPr marL="0" indent="0">
              <a:buNone/>
            </a:pPr>
            <a:r>
              <a:rPr lang="en-US" sz="2400" b="1" dirty="0">
                <a:solidFill>
                  <a:srgbClr val="5391D5"/>
                </a:solidFill>
                <a:latin typeface="Arial" pitchFamily="34" charset="0"/>
                <a:ea typeface="Arial" pitchFamily="34" charset="-122"/>
                <a:cs typeface="Arial" pitchFamily="34" charset="-120"/>
              </a:rPr>
              <a:t>3x</a:t>
            </a:r>
            <a:endParaRPr lang="en-US" sz="2400" dirty="0"/>
          </a:p>
        </p:txBody>
      </p:sp>
      <p:sp>
        <p:nvSpPr>
          <p:cNvPr id="19" name="Text 16"/>
          <p:cNvSpPr/>
          <p:nvPr/>
        </p:nvSpPr>
        <p:spPr>
          <a:xfrm>
            <a:off x="3337560" y="2423160"/>
            <a:ext cx="2400300" cy="32004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Faster variance analysis and reporting</a:t>
            </a:r>
            <a:endParaRPr lang="en-US" sz="900" dirty="0"/>
          </a:p>
        </p:txBody>
      </p:sp>
      <p:sp>
        <p:nvSpPr>
          <p:cNvPr id="20" name="Shape 17"/>
          <p:cNvSpPr/>
          <p:nvPr/>
        </p:nvSpPr>
        <p:spPr>
          <a:xfrm>
            <a:off x="6012180" y="1874520"/>
            <a:ext cx="2674620" cy="1005840"/>
          </a:xfrm>
          <a:prstGeom prst="rect">
            <a:avLst/>
          </a:prstGeom>
          <a:solidFill>
            <a:srgbClr val="111D2E"/>
          </a:solidFill>
          <a:ln w="6350">
            <a:solidFill>
              <a:srgbClr val="0A1525"/>
            </a:solidFill>
            <a:prstDash val="solid"/>
          </a:ln>
        </p:spPr>
        <p:txBody>
          <a:bodyPr/>
          <a:lstStyle/>
          <a:p>
            <a:endParaRPr lang="en-AE"/>
          </a:p>
        </p:txBody>
      </p:sp>
      <p:sp>
        <p:nvSpPr>
          <p:cNvPr id="21" name="Text 18"/>
          <p:cNvSpPr/>
          <p:nvPr/>
        </p:nvSpPr>
        <p:spPr>
          <a:xfrm>
            <a:off x="6149340" y="1984248"/>
            <a:ext cx="2400300" cy="457200"/>
          </a:xfrm>
          <a:prstGeom prst="rect">
            <a:avLst/>
          </a:prstGeom>
          <a:noFill/>
          <a:ln/>
        </p:spPr>
        <p:txBody>
          <a:bodyPr wrap="square" lIns="0" tIns="0" rIns="0" bIns="0" rtlCol="0" anchor="ctr"/>
          <a:lstStyle/>
          <a:p>
            <a:pPr marL="0" indent="0">
              <a:buNone/>
            </a:pPr>
            <a:r>
              <a:rPr lang="en-US" sz="2400" b="1" dirty="0">
                <a:solidFill>
                  <a:srgbClr val="5391D5"/>
                </a:solidFill>
                <a:latin typeface="Arial" pitchFamily="34" charset="0"/>
                <a:ea typeface="Arial" pitchFamily="34" charset="-122"/>
                <a:cs typeface="Arial" pitchFamily="34" charset="-120"/>
              </a:rPr>
              <a:t>$2.1T</a:t>
            </a:r>
            <a:endParaRPr lang="en-US" sz="2400" dirty="0"/>
          </a:p>
        </p:txBody>
      </p:sp>
      <p:sp>
        <p:nvSpPr>
          <p:cNvPr id="22" name="Text 19"/>
          <p:cNvSpPr/>
          <p:nvPr/>
        </p:nvSpPr>
        <p:spPr>
          <a:xfrm>
            <a:off x="6149340" y="2423160"/>
            <a:ext cx="2400300" cy="32004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Projected global AI market value by 2030</a:t>
            </a:r>
            <a:endParaRPr lang="en-US" sz="900" dirty="0"/>
          </a:p>
        </p:txBody>
      </p:sp>
      <p:pic>
        <p:nvPicPr>
          <p:cNvPr id="2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25" name="Text 20"/>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8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65000"/>
    </mc:Choice>
    <mc:Fallback>
      <p:transition spd="slow" advClick="0" advTm="6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3555"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01 &gt; Overview of AI in Finance Planning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txBody>
          <a:bodyPr/>
          <a:lstStyle/>
          <a:p>
            <a:endParaRPr lang="en-AE"/>
          </a:p>
        </p:txBody>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txBody>
          <a:bodyPr/>
          <a:lstStyle/>
          <a:p>
            <a:endParaRPr lang="en-AE"/>
          </a:p>
        </p:txBody>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txBody>
          <a:bodyPr/>
          <a:lstStyle/>
          <a:p>
            <a:endParaRPr lang="en-AE"/>
          </a:p>
        </p:txBody>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RECAP</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Key Takeaways</a:t>
            </a:r>
            <a:endParaRPr lang="en-US" sz="2200" dirty="0"/>
          </a:p>
        </p:txBody>
      </p:sp>
      <p:sp>
        <p:nvSpPr>
          <p:cNvPr id="11" name="Shape 8"/>
          <p:cNvSpPr/>
          <p:nvPr/>
        </p:nvSpPr>
        <p:spPr>
          <a:xfrm>
            <a:off x="3200400" y="640080"/>
            <a:ext cx="5486400" cy="914400"/>
          </a:xfrm>
          <a:prstGeom prst="rect">
            <a:avLst/>
          </a:prstGeom>
          <a:solidFill>
            <a:srgbClr val="111D2E"/>
          </a:solidFill>
          <a:ln w="6350">
            <a:solidFill>
              <a:srgbClr val="0A1525"/>
            </a:solidFill>
            <a:prstDash val="solid"/>
          </a:ln>
        </p:spPr>
        <p:txBody>
          <a:bodyPr/>
          <a:lstStyle/>
          <a:p>
            <a:endParaRPr lang="en-AE"/>
          </a:p>
        </p:txBody>
      </p:sp>
      <p:sp>
        <p:nvSpPr>
          <p:cNvPr id="12" name="Shape 9"/>
          <p:cNvSpPr/>
          <p:nvPr/>
        </p:nvSpPr>
        <p:spPr>
          <a:xfrm>
            <a:off x="3310128" y="749808"/>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sp>
        <p:nvSpPr>
          <p:cNvPr id="13" name="Text 10"/>
          <p:cNvSpPr/>
          <p:nvPr/>
        </p:nvSpPr>
        <p:spPr>
          <a:xfrm>
            <a:off x="3310128" y="749808"/>
            <a:ext cx="320040" cy="320040"/>
          </a:xfrm>
          <a:prstGeom prst="rect">
            <a:avLst/>
          </a:prstGeom>
          <a:noFill/>
          <a:ln/>
        </p:spPr>
        <p:txBody>
          <a:bodyPr wrap="square" lIns="0" tIns="0" rIns="0" bIns="0" rtlCol="0" anchor="ctr"/>
          <a:lstStyle/>
          <a:p>
            <a:pPr marL="0" indent="0" algn="ctr">
              <a:buNone/>
            </a:pPr>
            <a:r>
              <a:rPr lang="en-US" sz="980" b="1" dirty="0">
                <a:solidFill>
                  <a:srgbClr val="5391D5"/>
                </a:solidFill>
                <a:latin typeface="Arial" pitchFamily="34" charset="0"/>
                <a:ea typeface="Arial" pitchFamily="34" charset="-122"/>
                <a:cs typeface="Arial" pitchFamily="34" charset="-120"/>
              </a:rPr>
              <a:t>1</a:t>
            </a:r>
            <a:endParaRPr lang="en-US" sz="980" dirty="0"/>
          </a:p>
        </p:txBody>
      </p:sp>
      <p:sp>
        <p:nvSpPr>
          <p:cNvPr id="14" name="Text 11"/>
          <p:cNvSpPr/>
          <p:nvPr/>
        </p:nvSpPr>
        <p:spPr>
          <a:xfrm>
            <a:off x="3703320" y="73152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AI is transforming finance across four key areas: automated forecasting, budget optimization, variance analysis, and cash flow prediction.</a:t>
            </a:r>
            <a:endParaRPr lang="en-US" sz="1000" dirty="0"/>
          </a:p>
        </p:txBody>
      </p:sp>
      <p:sp>
        <p:nvSpPr>
          <p:cNvPr id="15" name="Shape 12"/>
          <p:cNvSpPr/>
          <p:nvPr/>
        </p:nvSpPr>
        <p:spPr>
          <a:xfrm>
            <a:off x="3200400" y="1645920"/>
            <a:ext cx="5486400" cy="914400"/>
          </a:xfrm>
          <a:prstGeom prst="rect">
            <a:avLst/>
          </a:prstGeom>
          <a:solidFill>
            <a:srgbClr val="111D2E"/>
          </a:solidFill>
          <a:ln w="6350">
            <a:solidFill>
              <a:srgbClr val="0A1525"/>
            </a:solidFill>
            <a:prstDash val="solid"/>
          </a:ln>
        </p:spPr>
        <p:txBody>
          <a:bodyPr/>
          <a:lstStyle/>
          <a:p>
            <a:endParaRPr lang="en-AE"/>
          </a:p>
        </p:txBody>
      </p:sp>
      <p:sp>
        <p:nvSpPr>
          <p:cNvPr id="16" name="Shape 13"/>
          <p:cNvSpPr/>
          <p:nvPr/>
        </p:nvSpPr>
        <p:spPr>
          <a:xfrm>
            <a:off x="3310128" y="1755648"/>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sp>
        <p:nvSpPr>
          <p:cNvPr id="17" name="Text 14"/>
          <p:cNvSpPr/>
          <p:nvPr/>
        </p:nvSpPr>
        <p:spPr>
          <a:xfrm>
            <a:off x="3310128" y="1755648"/>
            <a:ext cx="320040" cy="320040"/>
          </a:xfrm>
          <a:prstGeom prst="rect">
            <a:avLst/>
          </a:prstGeom>
          <a:noFill/>
          <a:ln/>
        </p:spPr>
        <p:txBody>
          <a:bodyPr wrap="square" lIns="0" tIns="0" rIns="0" bIns="0" rtlCol="0" anchor="ctr"/>
          <a:lstStyle/>
          <a:p>
            <a:pPr marL="0" indent="0" algn="ctr">
              <a:buNone/>
            </a:pPr>
            <a:r>
              <a:rPr lang="en-US" sz="980" b="1" dirty="0">
                <a:solidFill>
                  <a:srgbClr val="5391D5"/>
                </a:solidFill>
                <a:latin typeface="Arial" pitchFamily="34" charset="0"/>
                <a:ea typeface="Arial" pitchFamily="34" charset="-122"/>
                <a:cs typeface="Arial" pitchFamily="34" charset="-120"/>
              </a:rPr>
              <a:t>2</a:t>
            </a:r>
            <a:endParaRPr lang="en-US" sz="980" dirty="0"/>
          </a:p>
        </p:txBody>
      </p:sp>
      <p:sp>
        <p:nvSpPr>
          <p:cNvPr id="18" name="Text 15"/>
          <p:cNvSpPr/>
          <p:nvPr/>
        </p:nvSpPr>
        <p:spPr>
          <a:xfrm>
            <a:off x="3703320" y="173736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The evolution from spreadsheets to GenAI represents a fundamental shift from descriptive to predictive and prescriptive finance.</a:t>
            </a:r>
            <a:endParaRPr lang="en-US" sz="1000" dirty="0"/>
          </a:p>
        </p:txBody>
      </p:sp>
      <p:sp>
        <p:nvSpPr>
          <p:cNvPr id="19" name="Shape 16"/>
          <p:cNvSpPr/>
          <p:nvPr/>
        </p:nvSpPr>
        <p:spPr>
          <a:xfrm>
            <a:off x="3200400" y="2651760"/>
            <a:ext cx="5486400" cy="914400"/>
          </a:xfrm>
          <a:prstGeom prst="rect">
            <a:avLst/>
          </a:prstGeom>
          <a:solidFill>
            <a:srgbClr val="111D2E"/>
          </a:solidFill>
          <a:ln w="6350">
            <a:solidFill>
              <a:srgbClr val="0A1525"/>
            </a:solidFill>
            <a:prstDash val="solid"/>
          </a:ln>
        </p:spPr>
        <p:txBody>
          <a:bodyPr/>
          <a:lstStyle/>
          <a:p>
            <a:endParaRPr lang="en-AE"/>
          </a:p>
        </p:txBody>
      </p:sp>
      <p:sp>
        <p:nvSpPr>
          <p:cNvPr id="20" name="Shape 17"/>
          <p:cNvSpPr/>
          <p:nvPr/>
        </p:nvSpPr>
        <p:spPr>
          <a:xfrm>
            <a:off x="3310128" y="2761488"/>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sp>
        <p:nvSpPr>
          <p:cNvPr id="21" name="Text 18"/>
          <p:cNvSpPr/>
          <p:nvPr/>
        </p:nvSpPr>
        <p:spPr>
          <a:xfrm>
            <a:off x="3310128" y="2761488"/>
            <a:ext cx="320040" cy="320040"/>
          </a:xfrm>
          <a:prstGeom prst="rect">
            <a:avLst/>
          </a:prstGeom>
          <a:noFill/>
          <a:ln/>
        </p:spPr>
        <p:txBody>
          <a:bodyPr wrap="square" lIns="0" tIns="0" rIns="0" bIns="0" rtlCol="0" anchor="ctr"/>
          <a:lstStyle/>
          <a:p>
            <a:pPr marL="0" indent="0" algn="ctr">
              <a:buNone/>
            </a:pPr>
            <a:r>
              <a:rPr lang="en-US" sz="980" b="1" dirty="0">
                <a:solidFill>
                  <a:srgbClr val="5391D5"/>
                </a:solidFill>
                <a:latin typeface="Arial" pitchFamily="34" charset="0"/>
                <a:ea typeface="Arial" pitchFamily="34" charset="-122"/>
                <a:cs typeface="Arial" pitchFamily="34" charset="-120"/>
              </a:rPr>
              <a:t>3</a:t>
            </a:r>
            <a:endParaRPr lang="en-US" sz="980" dirty="0"/>
          </a:p>
        </p:txBody>
      </p:sp>
      <p:sp>
        <p:nvSpPr>
          <p:cNvPr id="22" name="Text 19"/>
          <p:cNvSpPr/>
          <p:nvPr/>
        </p:nvSpPr>
        <p:spPr>
          <a:xfrm>
            <a:off x="3703320" y="274320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Four core technologies — ML, NLP, Computer Vision, and GenAI — form the AI toolkit for modern finance leaders.</a:t>
            </a:r>
            <a:endParaRPr lang="en-US" sz="1000" dirty="0"/>
          </a:p>
        </p:txBody>
      </p:sp>
      <p:sp>
        <p:nvSpPr>
          <p:cNvPr id="23" name="Shape 20"/>
          <p:cNvSpPr/>
          <p:nvPr/>
        </p:nvSpPr>
        <p:spPr>
          <a:xfrm>
            <a:off x="3200400" y="3657600"/>
            <a:ext cx="5486400" cy="914400"/>
          </a:xfrm>
          <a:prstGeom prst="rect">
            <a:avLst/>
          </a:prstGeom>
          <a:solidFill>
            <a:srgbClr val="111D2E"/>
          </a:solidFill>
          <a:ln w="6350">
            <a:solidFill>
              <a:srgbClr val="0A1525"/>
            </a:solidFill>
            <a:prstDash val="solid"/>
          </a:ln>
        </p:spPr>
        <p:txBody>
          <a:bodyPr/>
          <a:lstStyle/>
          <a:p>
            <a:endParaRPr lang="en-AE"/>
          </a:p>
        </p:txBody>
      </p:sp>
      <p:sp>
        <p:nvSpPr>
          <p:cNvPr id="24" name="Shape 21"/>
          <p:cNvSpPr/>
          <p:nvPr/>
        </p:nvSpPr>
        <p:spPr>
          <a:xfrm>
            <a:off x="3310128" y="3767328"/>
            <a:ext cx="320040" cy="320040"/>
          </a:xfrm>
          <a:prstGeom prst="ellipse">
            <a:avLst/>
          </a:prstGeom>
          <a:solidFill>
            <a:srgbClr val="5391D5">
              <a:alpha val="20000"/>
            </a:srgbClr>
          </a:solidFill>
          <a:ln w="9525">
            <a:solidFill>
              <a:srgbClr val="5391D5"/>
            </a:solidFill>
            <a:prstDash val="solid"/>
          </a:ln>
        </p:spPr>
        <p:txBody>
          <a:bodyPr/>
          <a:lstStyle/>
          <a:p>
            <a:endParaRPr lang="en-AE"/>
          </a:p>
        </p:txBody>
      </p:sp>
      <p:sp>
        <p:nvSpPr>
          <p:cNvPr id="25" name="Text 22"/>
          <p:cNvSpPr/>
          <p:nvPr/>
        </p:nvSpPr>
        <p:spPr>
          <a:xfrm>
            <a:off x="3310128" y="3767328"/>
            <a:ext cx="320040" cy="320040"/>
          </a:xfrm>
          <a:prstGeom prst="rect">
            <a:avLst/>
          </a:prstGeom>
          <a:noFill/>
          <a:ln/>
        </p:spPr>
        <p:txBody>
          <a:bodyPr wrap="square" lIns="0" tIns="0" rIns="0" bIns="0" rtlCol="0" anchor="ctr"/>
          <a:lstStyle/>
          <a:p>
            <a:pPr marL="0" indent="0" algn="ctr">
              <a:buNone/>
            </a:pPr>
            <a:r>
              <a:rPr lang="en-US" sz="980" b="1" dirty="0">
                <a:solidFill>
                  <a:srgbClr val="5391D5"/>
                </a:solidFill>
                <a:latin typeface="Arial" pitchFamily="34" charset="0"/>
                <a:ea typeface="Arial" pitchFamily="34" charset="-122"/>
                <a:cs typeface="Arial" pitchFamily="34" charset="-120"/>
              </a:rPr>
              <a:t>4</a:t>
            </a:r>
            <a:endParaRPr lang="en-US" sz="980" dirty="0"/>
          </a:p>
        </p:txBody>
      </p:sp>
      <p:sp>
        <p:nvSpPr>
          <p:cNvPr id="26" name="Text 23"/>
          <p:cNvSpPr/>
          <p:nvPr/>
        </p:nvSpPr>
        <p:spPr>
          <a:xfrm>
            <a:off x="3703320" y="374904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AI delivers measurable ROI: 70% faster planning cycles, 40-60% better accuracy, and 3x faster variance analysis.</a:t>
            </a:r>
            <a:endParaRPr lang="en-US" sz="1000" dirty="0"/>
          </a:p>
        </p:txBody>
      </p:sp>
      <p:pic>
        <p:nvPicPr>
          <p:cNvPr id="2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29" name="Text 24"/>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9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75000"/>
    </mc:Choice>
    <mc:Fallback>
      <p:transition spd="slow" advClick="0" advTm="7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340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lIns="0" tIns="0" rIns="0" bIns="0" rtlCol="0" anchor="ctr"/>
          <a:lstStyle/>
          <a:p>
            <a:pPr marL="0" indent="0" algn="ctr">
              <a:buNone/>
            </a:pPr>
            <a:r>
              <a:rPr lang="en-US" sz="3000" b="1" dirty="0">
                <a:solidFill>
                  <a:srgbClr val="F5F0E8"/>
                </a:solidFill>
                <a:latin typeface="Arial" pitchFamily="34" charset="0"/>
                <a:ea typeface="Arial" pitchFamily="34" charset="-122"/>
                <a:cs typeface="Arial" pitchFamily="34" charset="-120"/>
              </a:rPr>
              <a:t>Lesson Complete</a:t>
            </a:r>
            <a:endParaRPr lang="en-US" sz="3000" dirty="0"/>
          </a:p>
        </p:txBody>
      </p:sp>
      <p:sp>
        <p:nvSpPr>
          <p:cNvPr id="3" name="Shape 1"/>
          <p:cNvSpPr/>
          <p:nvPr/>
        </p:nvSpPr>
        <p:spPr>
          <a:xfrm>
            <a:off x="3200400" y="2286000"/>
            <a:ext cx="2743200" cy="0"/>
          </a:xfrm>
          <a:prstGeom prst="line">
            <a:avLst/>
          </a:prstGeom>
          <a:noFill/>
          <a:ln w="12700">
            <a:solidFill>
              <a:srgbClr val="5391D5"/>
            </a:solidFill>
            <a:prstDash val="solid"/>
          </a:ln>
        </p:spPr>
        <p:txBody>
          <a:bodyPr/>
          <a:lstStyle/>
          <a:p>
            <a:endParaRPr lang="en-AE"/>
          </a:p>
        </p:txBody>
      </p:sp>
      <p:sp>
        <p:nvSpPr>
          <p:cNvPr id="4" name="Text 2"/>
          <p:cNvSpPr/>
          <p:nvPr/>
        </p:nvSpPr>
        <p:spPr>
          <a:xfrm>
            <a:off x="914400" y="2560320"/>
            <a:ext cx="7315200" cy="274320"/>
          </a:xfrm>
          <a:prstGeom prst="rect">
            <a:avLst/>
          </a:prstGeom>
          <a:noFill/>
          <a:ln/>
        </p:spPr>
        <p:txBody>
          <a:bodyPr wrap="square" lIns="0" tIns="0" rIns="0" bIns="0" rtlCol="0" anchor="ctr"/>
          <a:lstStyle/>
          <a:p>
            <a:pPr marL="0" indent="0" algn="ctr">
              <a:buNone/>
            </a:pPr>
            <a:r>
              <a:rPr lang="en-US" sz="1000" kern="0" spc="300" dirty="0">
                <a:solidFill>
                  <a:srgbClr val="5391D5"/>
                </a:solidFill>
                <a:latin typeface="Arial" pitchFamily="34" charset="0"/>
                <a:ea typeface="Arial" pitchFamily="34" charset="-122"/>
                <a:cs typeface="Arial" pitchFamily="34" charset="-120"/>
              </a:rPr>
              <a:t>UP NEXT</a:t>
            </a:r>
            <a:endParaRPr lang="en-US" sz="1000" dirty="0"/>
          </a:p>
        </p:txBody>
      </p:sp>
      <p:sp>
        <p:nvSpPr>
          <p:cNvPr id="5" name="Text 3"/>
          <p:cNvSpPr/>
          <p:nvPr/>
        </p:nvSpPr>
        <p:spPr>
          <a:xfrm>
            <a:off x="914400" y="2926080"/>
            <a:ext cx="7315200" cy="457200"/>
          </a:xfrm>
          <a:prstGeom prst="rect">
            <a:avLst/>
          </a:prstGeom>
          <a:noFill/>
          <a:ln/>
        </p:spPr>
        <p:txBody>
          <a:bodyPr wrap="square" lIns="0" tIns="0" rIns="0" bIns="0" rtlCol="0" anchor="ctr"/>
          <a:lstStyle/>
          <a:p>
            <a:pPr marL="0" indent="0" algn="ctr">
              <a:buNone/>
            </a:pPr>
            <a:r>
              <a:rPr lang="en-US" sz="1600" dirty="0">
                <a:solidFill>
                  <a:srgbClr val="8A9BB5"/>
                </a:solidFill>
                <a:latin typeface="Arial" pitchFamily="34" charset="0"/>
                <a:ea typeface="Arial" pitchFamily="34" charset="-122"/>
                <a:cs typeface="Arial" pitchFamily="34" charset="-120"/>
              </a:rPr>
              <a:t>Automating Forecasting and Budgeting</a:t>
            </a:r>
            <a:endParaRPr lang="en-US" sz="1600" dirty="0"/>
          </a:p>
        </p:txBody>
      </p:sp>
      <p:pic>
        <p:nvPicPr>
          <p:cNvPr id="6"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txBody>
          <a:bodyPr/>
          <a:lstStyle/>
          <a:p>
            <a:endParaRPr lang="en-AE"/>
          </a:p>
        </p:txBody>
      </p:sp>
      <p:pic>
        <p:nvPicPr>
          <p:cNvPr id="8"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10 / 10</a:t>
            </a:r>
            <a:endParaRPr lang="en-US" sz="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33000"/>
    </mc:Choice>
    <mc:Fallback>
      <p:transition spd="slow" advClick="0" advTm="3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373"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2290</Words>
  <Application>Microsoft Office PowerPoint</Application>
  <PresentationFormat>On-screen Show (16:9)</PresentationFormat>
  <Paragraphs>124</Paragraphs>
  <Slides>10</Slides>
  <Notes>10</Notes>
  <HiddenSlides>0</HiddenSlides>
  <MMClips>10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Certified AI Finance Leader</dc:title>
  <dc:subject>PptxGenJS Presentation</dc:subject>
  <dc:creator>Virginia Institute of Finance and Management</dc:creator>
  <cp:lastModifiedBy>Aiman Sadeq</cp:lastModifiedBy>
  <cp:revision>3</cp:revision>
  <dcterms:created xsi:type="dcterms:W3CDTF">2026-03-05T02:47:31Z</dcterms:created>
  <dcterms:modified xsi:type="dcterms:W3CDTF">2026-03-05T03:02:17Z</dcterms:modified>
</cp:coreProperties>
</file>