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fourth and final lesson of Module Two. Over the past three lessons, you have built a comprehensive foundation in data visualization, descriptive analytics, and predictive modeling. Now comes the most critical step: putting it all together. In this lesson, we will explore how to architect financial dashboards that integrate both descriptive and predictive analytics, how to select the KPIs that matter most, the trade-offs between real-time and batch data processing, and perhaps most importantly, how to manage the organizational change required to ensure that people actually use what you build. Let us close this module with the practical knowledge to turn analytics into organizational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Four: Integrating Analytics into Financial Dashboards. This lesson is organized into four sections. First, we will design the architecture of an analytics-integrated dashboard. Second, we will establish a framework for KPI selection. Third, we will evaluate the trade-offs between real-time and batch data processing. And fourth, we will address the change management and adoption strategies that determine whether your dashboard investment delivers returns. Let us begin with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robust analytics dashboard is not a single tool; it is a multi-layered architecture. Layer one is data integration, where ETL or ELT pipelines connect to your ERP, general ledger, CRM, and external data sources, feeding everything into a centralized data warehouse or lakehouse. Layer two is the analytics engine, where both descriptive computations like aggregations and ratios and predictive models like forecasts and risk scores are executed on the integrated data. Layer three is the semantic and business logic layer, which is often overlooked but critically important. This layer defines KPI calculations, business rules, access controls, and governance policies, ensuring that revenue means the same thing to every person in the organization. Layer four is the visualization and interaction layer: the actual dashboards, reports, and natural language interfaces that users see. And layer five is the action and workflow layer, where automated alerts fire when KPIs breach thresholds and insights are pushed into the tools people already use, like Slack, Teams, or email. Each layer must be well-designed for the overall system to deliver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the right KPIs is arguably more important than the technology you use to display them. I recommend the SMART-F framework, which extends the classic SMART criteria with an F for forecastable. Specific means each KPI measures one clearly defined outcome. Do not use vague terms like financial health; instead use current ratio or days sales outstanding. Measurable means you can actually quantify it with data available in your systems today. Actionable means the people viewing the KPI can influence it through their decisions. Revenue growth is actionable; stock price is not something your operations team can directly control. Relevant means the KPI connects to a strategic objective. If it does not ladder up to a board-level goal, question why it is on the dashboard. Time-bound means you have defined whether this is measured daily, weekly, monthly, or quarterly, matching the cadence to the speed of the underlying process. And forecastable, the addition I recommend, means you can build a credible predictive model for this metric. The most powerful dashboards show both where a KPI has been and where it is projected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architectural decisions is whether to process data in real time or in batches. Real-time processing delivers data freshness measured in seconds or minutes, which is essential for treasury operations, fraud detection, and intraday trading positions. However, it comes with significantly higher infrastructure costs, requires streaming platforms like Kafka or Flink, and adds engineering complexity. Batch processing, on the other hand, refreshes data on scheduled cycles, typically daily or hourly. It is simpler, cheaper, and uses well-established tooling. More importantly, batch data has been fully reconciled and validated, which matters enormously for financial reporting. The practical answer for most organizations is a hybrid approach: use batch processing for core financial reporting, FP&amp;A dashboards, and anything that requires reconciled numbers, while implementing real-time feeds for treasury, risk monitoring, and operational metrics where timeliness outweighs the need for full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a practical rollout roadmap. Phase one, the foundation phase spanning weeks one through four, focuses on stakeholder interviews to define KPI requirements, auditing your data sources for quality and accessibility, designing the data architecture, and building the initial integration layer. Phase two, the core build spanning weeks five through ten, is where you implement descriptive analytics, build the semantic layer with standardized definitions, develop the first dashboard views, and train your initial predictive models. Phase three, integration and testing from weeks eleven through fourteen, is about bringing it all together: integrating predictive outputs into dashboards, configuring automated alerts, conducting user acceptance testing, and validating data against existing reports. And phase four, launch and adoption from weeks fifteen through twenty, is where the change management happens: structured training, retiring legacy reports to force adoption, establishing feedback loops, and implementing model monitoring. Notice that nearly a quarter of the timeline is dedicated to adoption. That is intentional. The best dashboard in the world delivers zero value if nobody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Meridian Financial Services, a regional bank with twelve billion dollars in assets. Meridian's reporting was fragmented. Every department maintained its own spreadsheets, which meant board meetings frequently featured conflicting numbers, and the monthly close took fifteen days. The CFO mandated a unified analytics dashboard integrating both descriptive and predictive capabilities, serving all stakeholders from the board to branch managers. The results after implementation were transformative. The monthly close dropped from fifteen days to four business days. User adoption reached ninety-two percent across all management levels within six months, which is exceptional for any technology rollout. Predictive expense analytics identified five point eight million dollars in cost savings during the first year. And perhaps most importantly, the organization finally had a single source of truth, ending years of conflicting metrics. The critical success factor was not the technology; it was the change management approach, which included executive sponsorship, structured training, and the deliberate retirement of legacy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direct about something: most dashboard projects fail not because of technology but because of adoption. Here are the four pillars of successful change management. First, executive sponsorship. The CFO or a senior finance leader must visibly use and champion the new platform. When the CEO asks a question in a board meeting and the CFO pulls up the dashboard on screen, that single moment drives more adoption than any training program. Second, role-based training. Do not give the same training to everyone. Executives need a ten-minute orientation focused on their KPI views. Analysts need deeper training on drill-downs and model interpretation. Keep all sessions under forty-five minutes with hands-on exercises. Third, and this is the hardest one: retire legacy reports. Set a firm sunset date and stick to it. Parallel running should last no more than one month. As long as the old spreadsheets are available, people will gravitate to them. Fourth, establish a feedback loop and commit to monthly improvements. Users who see their suggestions implemented become the platform's most passionate advocates.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close Module Two with a comprehensive recap across all four lessons. First, AI-powered data visualization transforms financial reporting from static tables into interactive, insight-driven experiences that actually change how decisions are made. Second, descriptive analytics provides the historical baselines that are essential both for understanding past performance and for enabling accurate predictions. Third, predictive models including regression, time series forecasting, and classification extend the finance function from hindsight to foresight, allowing you to anticipate outcomes before they materialize. Fourth, dashboard architecture must be comprehensive, spanning five layers from data integration through analytics, semantics, visualization, and action. And fifth, none of this technology delivers value without adoption, which requires executive sponsorship, role-based training, the courage to retire legacy reports, and a commitment to continuous improvement through feedback. You are now equipped with a complete analytical toolkit for the modern finance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Congratulations on completing Module Two: Descriptive and Predictive Analytics for Finance. Over these four lessons, you have mastered data visualization and AI-powered reporting, learned how to extract insights from historical performance through descriptive analytics, built your understanding of predictive models from regression to classification, and explored how to integrate all of this into dashboards that drive real organizational change. In the next module, we will apply these analytical capabilities to one of finance's most critical domains: risk management. See you in Module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FM_CONTENT">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FM_TITLE">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audio" Target="../media/media-1-2.mp3"/><Relationship Id="rId3" Type="http://schemas.microsoft.com/office/2007/relationships/media" Target="../media/media-1-2.mp3"/><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audio" Target="../media/media-2-2.mp3"/><Relationship Id="rId3" Type="http://schemas.microsoft.com/office/2007/relationships/media" Target="../media/media-2-2.mp3"/><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media-3-2.mp3"/><Relationship Id="rId3" Type="http://schemas.microsoft.com/office/2007/relationships/media" Target="../media/media-3-2.mp3"/><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audio" Target="../media/media-5-2.mp3"/><Relationship Id="rId3" Type="http://schemas.microsoft.com/office/2007/relationships/media" Target="../media/media-5-2.mp3"/><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audio" Target="../media/media-6-2.mp3"/><Relationship Id="rId3" Type="http://schemas.microsoft.com/office/2007/relationships/media" Target="../media/media-6-2.mp3"/><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audio" Target="../media/media-7-2.mp3"/><Relationship Id="rId3" Type="http://schemas.microsoft.com/office/2007/relationships/media" Target="../media/media-7-2.mp3"/><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lIns="0" tIns="0" rIns="0" bIns="0" rtlCol="0" anchor="ctr"/>
          <a:lstStyle/>
          <a:p>
            <a:pPr algn="ctr" indent="0" marL="0">
              <a:buNone/>
            </a:pPr>
            <a:r>
              <a:rPr lang="en-US" sz="1400" spc="400" kern="0" dirty="0">
                <a:solidFill>
                  <a:srgbClr val="5391D5"/>
                </a:solidFill>
                <a:latin typeface="Arial" pitchFamily="34" charset="0"/>
                <a:ea typeface="Arial" pitchFamily="34" charset="-122"/>
                <a:cs typeface="Arial" pitchFamily="34" charset="-120"/>
              </a:rPr>
              <a:t>CAIFL</a:t>
            </a:r>
            <a:endParaRPr lang="en-US" sz="1400" dirty="0"/>
          </a:p>
        </p:txBody>
      </p:sp>
      <p:sp>
        <p:nvSpPr>
          <p:cNvPr id="3" name="Text 1"/>
          <p:cNvSpPr/>
          <p:nvPr/>
        </p:nvSpPr>
        <p:spPr>
          <a:xfrm>
            <a:off x="457200" y="1371600"/>
            <a:ext cx="8229600" cy="914400"/>
          </a:xfrm>
          <a:prstGeom prst="rect">
            <a:avLst/>
          </a:prstGeom>
          <a:noFill/>
          <a:ln/>
        </p:spPr>
        <p:txBody>
          <a:bodyPr wrap="square" lIns="0" tIns="0" rIns="0" bIns="0" rtlCol="0" anchor="ctr"/>
          <a:lstStyle/>
          <a:p>
            <a:pPr algn="ctr" indent="0" marL="0">
              <a:buNone/>
            </a:pPr>
            <a:r>
              <a:rPr lang="en-US" sz="3200" b="1" dirty="0">
                <a:solidFill>
                  <a:srgbClr val="F5F0E8"/>
                </a:solidFill>
                <a:latin typeface="Arial" pitchFamily="34" charset="0"/>
                <a:ea typeface="Arial" pitchFamily="34" charset="-122"/>
                <a:cs typeface="Arial" pitchFamily="34" charset="-120"/>
              </a:rPr>
              <a:t>Certified AI Finance Leader</a:t>
            </a:r>
            <a:endParaRPr lang="en-US" sz="3200" dirty="0"/>
          </a:p>
        </p:txBody>
      </p:sp>
      <p:sp>
        <p:nvSpPr>
          <p:cNvPr id="4" name="Text 2"/>
          <p:cNvSpPr/>
          <p:nvPr/>
        </p:nvSpPr>
        <p:spPr>
          <a:xfrm>
            <a:off x="914400" y="2377440"/>
            <a:ext cx="7315200" cy="548640"/>
          </a:xfrm>
          <a:prstGeom prst="rect">
            <a:avLst/>
          </a:prstGeom>
          <a:noFill/>
          <a:ln/>
        </p:spPr>
        <p:txBody>
          <a:bodyPr wrap="square" lIns="0" tIns="0" rIns="0" bIns="0" rtlCol="0" anchor="ctr"/>
          <a:lstStyle/>
          <a:p>
            <a:pPr algn="ctr" indent="0" marL="0">
              <a:buNone/>
            </a:pPr>
            <a:r>
              <a:rPr lang="en-US" sz="1400" dirty="0">
                <a:solidFill>
                  <a:srgbClr val="8A9BB5"/>
                </a:solidFill>
                <a:latin typeface="Arial" pitchFamily="34" charset="0"/>
                <a:ea typeface="Arial" pitchFamily="34" charset="-122"/>
                <a:cs typeface="Arial" pitchFamily="34" charset="-120"/>
              </a:rPr>
              <a:t>Descriptive &amp; Predictive Analytics for Finance</a:t>
            </a:r>
            <a:endParaRPr lang="en-US" sz="1400" dirty="0"/>
          </a:p>
        </p:txBody>
      </p:sp>
      <p:sp>
        <p:nvSpPr>
          <p:cNvPr id="5" name="Text 3"/>
          <p:cNvSpPr/>
          <p:nvPr/>
        </p:nvSpPr>
        <p:spPr>
          <a:xfrm>
            <a:off x="914400" y="3108960"/>
            <a:ext cx="7315200" cy="365760"/>
          </a:xfrm>
          <a:prstGeom prst="rect">
            <a:avLst/>
          </a:prstGeom>
          <a:noFill/>
          <a:ln/>
        </p:spPr>
        <p:txBody>
          <a:bodyPr wrap="square" lIns="0" tIns="0" rIns="0" bIns="0" rtlCol="0" anchor="ctr"/>
          <a:lstStyle/>
          <a:p>
            <a:pPr algn="ctr" indent="0" marL="0">
              <a:buNone/>
            </a:pPr>
            <a:r>
              <a:rPr lang="en-US" sz="1200" dirty="0">
                <a:solidFill>
                  <a:srgbClr val="5391D5"/>
                </a:solidFill>
                <a:latin typeface="Arial" pitchFamily="34" charset="0"/>
                <a:ea typeface="Arial" pitchFamily="34" charset="-122"/>
                <a:cs typeface="Arial" pitchFamily="34" charset="-120"/>
              </a:rPr>
              <a:t>Lesson 04</a:t>
            </a:r>
            <a:endParaRPr lang="en-US" sz="1200" dirty="0"/>
          </a:p>
        </p:txBody>
      </p:sp>
      <p:sp>
        <p:nvSpPr>
          <p:cNvPr id="6" name="Shape 4"/>
          <p:cNvSpPr/>
          <p:nvPr/>
        </p:nvSpPr>
        <p:spPr>
          <a:xfrm>
            <a:off x="3200400" y="2926080"/>
            <a:ext cx="2743200" cy="0"/>
          </a:xfrm>
          <a:prstGeom prst="line">
            <a:avLst/>
          </a:prstGeom>
          <a:noFill/>
          <a:ln w="12700">
            <a:solidFill>
              <a:srgbClr val="5391D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1" name="Text 6"/>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 / 10</a:t>
            </a:r>
            <a:endParaRPr lang="en-US" sz="800" dirty="0"/>
          </a:p>
        </p:txBody>
      </p:sp>
    </p:spTree>
  </p:cSld>
  <p:clrMapOvr>
    <a:masterClrMapping/>
  </p:clrMapOvr>
  <p:transition spd="fast" advClick="0" advTm="42639">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0"/>
            <a:ext cx="8229600" cy="365760"/>
          </a:xfrm>
          <a:prstGeom prst="rect">
            <a:avLst/>
          </a:prstGeom>
          <a:noFill/>
          <a:ln/>
        </p:spPr>
        <p:txBody>
          <a:bodyPr wrap="square" lIns="0" tIns="0" rIns="0" bIns="0" rtlCol="0" anchor="ctr"/>
          <a:lstStyle/>
          <a:p>
            <a:pPr algn="ctr" indent="0" marL="0">
              <a:buNone/>
            </a:pPr>
            <a:r>
              <a:rPr lang="en-US" sz="1200" spc="400" kern="0" dirty="0">
                <a:solidFill>
                  <a:srgbClr val="5391D5"/>
                </a:solidFill>
                <a:latin typeface="Arial" pitchFamily="34" charset="0"/>
                <a:ea typeface="Arial" pitchFamily="34" charset="-122"/>
                <a:cs typeface="Arial" pitchFamily="34" charset="-120"/>
              </a:rPr>
              <a:t>MODULE 02</a:t>
            </a:r>
            <a:endParaRPr lang="en-US" sz="1200" dirty="0"/>
          </a:p>
        </p:txBody>
      </p:sp>
      <p:sp>
        <p:nvSpPr>
          <p:cNvPr id="3" name="Text 1"/>
          <p:cNvSpPr/>
          <p:nvPr/>
        </p:nvSpPr>
        <p:spPr>
          <a:xfrm>
            <a:off x="457200" y="1554480"/>
            <a:ext cx="8229600" cy="822960"/>
          </a:xfrm>
          <a:prstGeom prst="rect">
            <a:avLst/>
          </a:prstGeom>
          <a:noFill/>
          <a:ln/>
        </p:spPr>
        <p:txBody>
          <a:bodyPr wrap="square" lIns="0" tIns="0" rIns="0" bIns="0" rtlCol="0" anchor="ctr"/>
          <a:lstStyle/>
          <a:p>
            <a:pPr algn="ctr" indent="0" marL="0">
              <a:buNone/>
            </a:pPr>
            <a:r>
              <a:rPr lang="en-US" sz="2800" b="1" dirty="0">
                <a:solidFill>
                  <a:srgbClr val="F5F0E8"/>
                </a:solidFill>
                <a:latin typeface="Arial" pitchFamily="34" charset="0"/>
                <a:ea typeface="Arial" pitchFamily="34" charset="-122"/>
                <a:cs typeface="Arial" pitchFamily="34" charset="-120"/>
              </a:rPr>
              <a:t>Descriptive &amp; Predictive Analytics for Finance</a:t>
            </a:r>
            <a:endParaRPr lang="en-US" sz="2800" dirty="0"/>
          </a:p>
        </p:txBody>
      </p:sp>
      <p:sp>
        <p:nvSpPr>
          <p:cNvPr id="4" name="Shape 2"/>
          <p:cNvSpPr/>
          <p:nvPr/>
        </p:nvSpPr>
        <p:spPr>
          <a:xfrm>
            <a:off x="3200400" y="2560320"/>
            <a:ext cx="2743200" cy="0"/>
          </a:xfrm>
          <a:prstGeom prst="line">
            <a:avLst/>
          </a:prstGeom>
          <a:noFill/>
          <a:ln w="12700">
            <a:solidFill>
              <a:srgbClr val="5391D5"/>
            </a:solidFill>
            <a:prstDash val="solid"/>
          </a:ln>
        </p:spPr>
      </p:sp>
      <p:sp>
        <p:nvSpPr>
          <p:cNvPr id="5" name="Text 3"/>
          <p:cNvSpPr/>
          <p:nvPr/>
        </p:nvSpPr>
        <p:spPr>
          <a:xfrm>
            <a:off x="914400" y="2743200"/>
            <a:ext cx="7315200" cy="54864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Integrating Analytics into Financial Dashboards</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2 / 10</a:t>
            </a:r>
            <a:endParaRPr lang="en-US" sz="800" dirty="0"/>
          </a:p>
        </p:txBody>
      </p:sp>
    </p:spTree>
  </p:cSld>
  <p:clrMapOvr>
    <a:masterClrMapping/>
  </p:clrMapOvr>
  <p:transition spd="fast" advClick="0" advTm="31772">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ARCHITECTURE LAYERS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Dashboard </a:t>
            </a:r>
            <a:pPr indent="0" marL="0">
              <a:buNone/>
            </a:pPr>
            <a:r>
              <a:rPr lang="en-US" sz="2200" b="1" dirty="0">
                <a:solidFill>
                  <a:srgbClr val="5391D5"/>
                </a:solidFill>
                <a:latin typeface="Arial" pitchFamily="34" charset="0"/>
                <a:ea typeface="Arial" pitchFamily="34" charset="-122"/>
                <a:cs typeface="Arial" pitchFamily="34" charset="-120"/>
              </a:rPr>
              <a:t>Architecture</a:t>
            </a:r>
            <a:pPr indent="0" marL="0">
              <a:buNone/>
            </a:pPr>
            <a:r>
              <a:rPr lang="en-US" sz="2200" b="1" dirty="0">
                <a:solidFill>
                  <a:srgbClr val="F5F0E8"/>
                </a:solidFill>
                <a:latin typeface="Arial" pitchFamily="34" charset="0"/>
                <a:ea typeface="Arial" pitchFamily="34" charset="-122"/>
                <a:cs typeface="Arial" pitchFamily="34" charset="-120"/>
              </a:rPr>
              <a:t>: From Data to Insight</a:t>
            </a:r>
            <a:endParaRPr lang="en-US" sz="2200" dirty="0"/>
          </a:p>
        </p:txBody>
      </p:sp>
      <p:sp>
        <p:nvSpPr>
          <p:cNvPr id="11" name="Shape 8"/>
          <p:cNvSpPr/>
          <p:nvPr/>
        </p:nvSpPr>
        <p:spPr>
          <a:xfrm>
            <a:off x="3383280" y="640080"/>
            <a:ext cx="0" cy="3721608"/>
          </a:xfrm>
          <a:prstGeom prst="line">
            <a:avLst/>
          </a:prstGeom>
          <a:noFill/>
          <a:ln w="25400">
            <a:solidFill>
              <a:srgbClr val="0A1525"/>
            </a:solidFill>
            <a:prstDash val="solid"/>
          </a:ln>
        </p:spPr>
      </p:sp>
      <p:sp>
        <p:nvSpPr>
          <p:cNvPr id="12" name="Shape 9"/>
          <p:cNvSpPr/>
          <p:nvPr/>
        </p:nvSpPr>
        <p:spPr>
          <a:xfrm>
            <a:off x="3328416" y="749808"/>
            <a:ext cx="109728" cy="109728"/>
          </a:xfrm>
          <a:prstGeom prst="ellipse">
            <a:avLst/>
          </a:prstGeom>
          <a:solidFill>
            <a:srgbClr val="5391D5"/>
          </a:solidFill>
          <a:ln/>
        </p:spPr>
      </p:sp>
      <p:sp>
        <p:nvSpPr>
          <p:cNvPr id="13" name="Text 10"/>
          <p:cNvSpPr/>
          <p:nvPr/>
        </p:nvSpPr>
        <p:spPr>
          <a:xfrm>
            <a:off x="3566160" y="676656"/>
            <a:ext cx="731520" cy="228600"/>
          </a:xfrm>
          <a:prstGeom prst="rect">
            <a:avLst/>
          </a:prstGeom>
          <a:noFill/>
          <a:ln/>
        </p:spPr>
        <p:txBody>
          <a:bodyPr wrap="square" lIns="0" tIns="0" rIns="0" bIns="0" rtlCol="0" anchor="ctr"/>
          <a:lstStyle/>
          <a:p>
            <a:pPr indent="0" marL="0">
              <a:buNone/>
            </a:pPr>
            <a:r>
              <a:rPr lang="en-US" sz="900" b="1" dirty="0">
                <a:solidFill>
                  <a:srgbClr val="5391D5"/>
                </a:solidFill>
                <a:latin typeface="Arial" pitchFamily="34" charset="0"/>
                <a:ea typeface="Arial" pitchFamily="34" charset="-122"/>
                <a:cs typeface="Arial" pitchFamily="34" charset="-120"/>
              </a:rPr>
              <a:t>Layer 1</a:t>
            </a:r>
            <a:endParaRPr lang="en-US" sz="900" dirty="0"/>
          </a:p>
        </p:txBody>
      </p:sp>
      <p:sp>
        <p:nvSpPr>
          <p:cNvPr id="14" name="Text 11"/>
          <p:cNvSpPr/>
          <p:nvPr/>
        </p:nvSpPr>
        <p:spPr>
          <a:xfrm>
            <a:off x="4297680" y="676656"/>
            <a:ext cx="4297680"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Data Integration Layer</a:t>
            </a:r>
            <a:endParaRPr lang="en-US" sz="1000" dirty="0"/>
          </a:p>
        </p:txBody>
      </p:sp>
      <p:sp>
        <p:nvSpPr>
          <p:cNvPr id="15" name="Text 12"/>
          <p:cNvSpPr/>
          <p:nvPr/>
        </p:nvSpPr>
        <p:spPr>
          <a:xfrm>
            <a:off x="4297680" y="914400"/>
            <a:ext cx="4297680"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ETL/ELT pipelines connect to ERP, GL, CRM, market data feeds, and external APIs. Data is ingested into a centralized data warehouse or lakehouse.</a:t>
            </a:r>
            <a:endParaRPr lang="en-US" sz="800" dirty="0"/>
          </a:p>
        </p:txBody>
      </p:sp>
      <p:sp>
        <p:nvSpPr>
          <p:cNvPr id="16" name="Shape 13"/>
          <p:cNvSpPr/>
          <p:nvPr/>
        </p:nvSpPr>
        <p:spPr>
          <a:xfrm>
            <a:off x="3328416" y="1508760"/>
            <a:ext cx="109728" cy="109728"/>
          </a:xfrm>
          <a:prstGeom prst="ellipse">
            <a:avLst/>
          </a:prstGeom>
          <a:solidFill>
            <a:srgbClr val="5391D5"/>
          </a:solidFill>
          <a:ln/>
        </p:spPr>
      </p:sp>
      <p:sp>
        <p:nvSpPr>
          <p:cNvPr id="17" name="Text 14"/>
          <p:cNvSpPr/>
          <p:nvPr/>
        </p:nvSpPr>
        <p:spPr>
          <a:xfrm>
            <a:off x="3566160" y="1435608"/>
            <a:ext cx="731520" cy="228600"/>
          </a:xfrm>
          <a:prstGeom prst="rect">
            <a:avLst/>
          </a:prstGeom>
          <a:noFill/>
          <a:ln/>
        </p:spPr>
        <p:txBody>
          <a:bodyPr wrap="square" lIns="0" tIns="0" rIns="0" bIns="0" rtlCol="0" anchor="ctr"/>
          <a:lstStyle/>
          <a:p>
            <a:pPr indent="0" marL="0">
              <a:buNone/>
            </a:pPr>
            <a:r>
              <a:rPr lang="en-US" sz="900" b="1" dirty="0">
                <a:solidFill>
                  <a:srgbClr val="5391D5"/>
                </a:solidFill>
                <a:latin typeface="Arial" pitchFamily="34" charset="0"/>
                <a:ea typeface="Arial" pitchFamily="34" charset="-122"/>
                <a:cs typeface="Arial" pitchFamily="34" charset="-120"/>
              </a:rPr>
              <a:t>Layer 2</a:t>
            </a:r>
            <a:endParaRPr lang="en-US" sz="900" dirty="0"/>
          </a:p>
        </p:txBody>
      </p:sp>
      <p:sp>
        <p:nvSpPr>
          <p:cNvPr id="18" name="Text 15"/>
          <p:cNvSpPr/>
          <p:nvPr/>
        </p:nvSpPr>
        <p:spPr>
          <a:xfrm>
            <a:off x="4297680" y="1435608"/>
            <a:ext cx="4297680"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Analytics Engine Layer</a:t>
            </a:r>
            <a:endParaRPr lang="en-US" sz="1000" dirty="0"/>
          </a:p>
        </p:txBody>
      </p:sp>
      <p:sp>
        <p:nvSpPr>
          <p:cNvPr id="19" name="Text 16"/>
          <p:cNvSpPr/>
          <p:nvPr/>
        </p:nvSpPr>
        <p:spPr>
          <a:xfrm>
            <a:off x="4297680" y="1673352"/>
            <a:ext cx="4297680"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Descriptive computations (aggregations, ratios, trends) and predictive models (forecasts, risk scores) run on the integrated data. Results are stored in a semantic layer.</a:t>
            </a:r>
            <a:endParaRPr lang="en-US" sz="800" dirty="0"/>
          </a:p>
        </p:txBody>
      </p:sp>
      <p:sp>
        <p:nvSpPr>
          <p:cNvPr id="20" name="Shape 17"/>
          <p:cNvSpPr/>
          <p:nvPr/>
        </p:nvSpPr>
        <p:spPr>
          <a:xfrm>
            <a:off x="3328416" y="2267712"/>
            <a:ext cx="109728" cy="109728"/>
          </a:xfrm>
          <a:prstGeom prst="ellipse">
            <a:avLst/>
          </a:prstGeom>
          <a:solidFill>
            <a:srgbClr val="5391D5"/>
          </a:solidFill>
          <a:ln/>
        </p:spPr>
      </p:sp>
      <p:sp>
        <p:nvSpPr>
          <p:cNvPr id="21" name="Text 18"/>
          <p:cNvSpPr/>
          <p:nvPr/>
        </p:nvSpPr>
        <p:spPr>
          <a:xfrm>
            <a:off x="3566160" y="2194560"/>
            <a:ext cx="731520" cy="228600"/>
          </a:xfrm>
          <a:prstGeom prst="rect">
            <a:avLst/>
          </a:prstGeom>
          <a:noFill/>
          <a:ln/>
        </p:spPr>
        <p:txBody>
          <a:bodyPr wrap="square" lIns="0" tIns="0" rIns="0" bIns="0" rtlCol="0" anchor="ctr"/>
          <a:lstStyle/>
          <a:p>
            <a:pPr indent="0" marL="0">
              <a:buNone/>
            </a:pPr>
            <a:r>
              <a:rPr lang="en-US" sz="900" b="1" dirty="0">
                <a:solidFill>
                  <a:srgbClr val="5391D5"/>
                </a:solidFill>
                <a:latin typeface="Arial" pitchFamily="34" charset="0"/>
                <a:ea typeface="Arial" pitchFamily="34" charset="-122"/>
                <a:cs typeface="Arial" pitchFamily="34" charset="-120"/>
              </a:rPr>
              <a:t>Layer 3</a:t>
            </a:r>
            <a:endParaRPr lang="en-US" sz="900" dirty="0"/>
          </a:p>
        </p:txBody>
      </p:sp>
      <p:sp>
        <p:nvSpPr>
          <p:cNvPr id="22" name="Text 19"/>
          <p:cNvSpPr/>
          <p:nvPr/>
        </p:nvSpPr>
        <p:spPr>
          <a:xfrm>
            <a:off x="4297680" y="2194560"/>
            <a:ext cx="4297680"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Semantic and Business Logic Layer</a:t>
            </a:r>
            <a:endParaRPr lang="en-US" sz="1000" dirty="0"/>
          </a:p>
        </p:txBody>
      </p:sp>
      <p:sp>
        <p:nvSpPr>
          <p:cNvPr id="23" name="Text 20"/>
          <p:cNvSpPr/>
          <p:nvPr/>
        </p:nvSpPr>
        <p:spPr>
          <a:xfrm>
            <a:off x="4297680" y="2432304"/>
            <a:ext cx="4297680"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Defines KPI calculations, business rules, access controls, and data governance policies. Ensures consistent metric definitions across the organization.</a:t>
            </a:r>
            <a:endParaRPr lang="en-US" sz="800" dirty="0"/>
          </a:p>
        </p:txBody>
      </p:sp>
      <p:sp>
        <p:nvSpPr>
          <p:cNvPr id="24" name="Shape 21"/>
          <p:cNvSpPr/>
          <p:nvPr/>
        </p:nvSpPr>
        <p:spPr>
          <a:xfrm>
            <a:off x="3328416" y="3026664"/>
            <a:ext cx="109728" cy="109728"/>
          </a:xfrm>
          <a:prstGeom prst="ellipse">
            <a:avLst/>
          </a:prstGeom>
          <a:solidFill>
            <a:srgbClr val="5391D5"/>
          </a:solidFill>
          <a:ln/>
        </p:spPr>
      </p:sp>
      <p:sp>
        <p:nvSpPr>
          <p:cNvPr id="25" name="Text 22"/>
          <p:cNvSpPr/>
          <p:nvPr/>
        </p:nvSpPr>
        <p:spPr>
          <a:xfrm>
            <a:off x="3566160" y="2953512"/>
            <a:ext cx="731520" cy="228600"/>
          </a:xfrm>
          <a:prstGeom prst="rect">
            <a:avLst/>
          </a:prstGeom>
          <a:noFill/>
          <a:ln/>
        </p:spPr>
        <p:txBody>
          <a:bodyPr wrap="square" lIns="0" tIns="0" rIns="0" bIns="0" rtlCol="0" anchor="ctr"/>
          <a:lstStyle/>
          <a:p>
            <a:pPr indent="0" marL="0">
              <a:buNone/>
            </a:pPr>
            <a:r>
              <a:rPr lang="en-US" sz="900" b="1" dirty="0">
                <a:solidFill>
                  <a:srgbClr val="5391D5"/>
                </a:solidFill>
                <a:latin typeface="Arial" pitchFamily="34" charset="0"/>
                <a:ea typeface="Arial" pitchFamily="34" charset="-122"/>
                <a:cs typeface="Arial" pitchFamily="34" charset="-120"/>
              </a:rPr>
              <a:t>Layer 4</a:t>
            </a:r>
            <a:endParaRPr lang="en-US" sz="900" dirty="0"/>
          </a:p>
        </p:txBody>
      </p:sp>
      <p:sp>
        <p:nvSpPr>
          <p:cNvPr id="26" name="Text 23"/>
          <p:cNvSpPr/>
          <p:nvPr/>
        </p:nvSpPr>
        <p:spPr>
          <a:xfrm>
            <a:off x="4297680" y="2953512"/>
            <a:ext cx="4297680"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Visualization and Interaction Layer</a:t>
            </a:r>
            <a:endParaRPr lang="en-US" sz="1000" dirty="0"/>
          </a:p>
        </p:txBody>
      </p:sp>
      <p:sp>
        <p:nvSpPr>
          <p:cNvPr id="27" name="Text 24"/>
          <p:cNvSpPr/>
          <p:nvPr/>
        </p:nvSpPr>
        <p:spPr>
          <a:xfrm>
            <a:off x="4297680" y="3191256"/>
            <a:ext cx="4297680"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Dashboards, reports, alerts, and natural language Q&amp;A interfaces. Supports drill-down, filtering, and role-based views for different stakeholder groups.</a:t>
            </a:r>
            <a:endParaRPr lang="en-US" sz="800" dirty="0"/>
          </a:p>
        </p:txBody>
      </p:sp>
      <p:sp>
        <p:nvSpPr>
          <p:cNvPr id="28" name="Shape 25"/>
          <p:cNvSpPr/>
          <p:nvPr/>
        </p:nvSpPr>
        <p:spPr>
          <a:xfrm>
            <a:off x="3328416" y="3785616"/>
            <a:ext cx="109728" cy="109728"/>
          </a:xfrm>
          <a:prstGeom prst="ellipse">
            <a:avLst/>
          </a:prstGeom>
          <a:solidFill>
            <a:srgbClr val="5391D5"/>
          </a:solidFill>
          <a:ln/>
        </p:spPr>
      </p:sp>
      <p:sp>
        <p:nvSpPr>
          <p:cNvPr id="29" name="Text 26"/>
          <p:cNvSpPr/>
          <p:nvPr/>
        </p:nvSpPr>
        <p:spPr>
          <a:xfrm>
            <a:off x="3566160" y="3712464"/>
            <a:ext cx="731520" cy="228600"/>
          </a:xfrm>
          <a:prstGeom prst="rect">
            <a:avLst/>
          </a:prstGeom>
          <a:noFill/>
          <a:ln/>
        </p:spPr>
        <p:txBody>
          <a:bodyPr wrap="square" lIns="0" tIns="0" rIns="0" bIns="0" rtlCol="0" anchor="ctr"/>
          <a:lstStyle/>
          <a:p>
            <a:pPr indent="0" marL="0">
              <a:buNone/>
            </a:pPr>
            <a:r>
              <a:rPr lang="en-US" sz="900" b="1" dirty="0">
                <a:solidFill>
                  <a:srgbClr val="5391D5"/>
                </a:solidFill>
                <a:latin typeface="Arial" pitchFamily="34" charset="0"/>
                <a:ea typeface="Arial" pitchFamily="34" charset="-122"/>
                <a:cs typeface="Arial" pitchFamily="34" charset="-120"/>
              </a:rPr>
              <a:t>Layer 5</a:t>
            </a:r>
            <a:endParaRPr lang="en-US" sz="900" dirty="0"/>
          </a:p>
        </p:txBody>
      </p:sp>
      <p:sp>
        <p:nvSpPr>
          <p:cNvPr id="30" name="Text 27"/>
          <p:cNvSpPr/>
          <p:nvPr/>
        </p:nvSpPr>
        <p:spPr>
          <a:xfrm>
            <a:off x="4297680" y="3712464"/>
            <a:ext cx="4297680"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Action and Workflow Layer</a:t>
            </a:r>
            <a:endParaRPr lang="en-US" sz="1000" dirty="0"/>
          </a:p>
        </p:txBody>
      </p:sp>
      <p:sp>
        <p:nvSpPr>
          <p:cNvPr id="31" name="Text 28"/>
          <p:cNvSpPr/>
          <p:nvPr/>
        </p:nvSpPr>
        <p:spPr>
          <a:xfrm>
            <a:off x="4297680" y="3950208"/>
            <a:ext cx="4297680"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Automated alerts trigger when KPIs breach thresholds. Workflow integrations push insights into Slack, Teams, email, and task management systems.</a:t>
            </a:r>
            <a:endParaRPr lang="en-US" sz="8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4" name="Text 29"/>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3 / 10</a:t>
            </a:r>
            <a:endParaRPr lang="en-US" sz="800" dirty="0"/>
          </a:p>
        </p:txBody>
      </p:sp>
    </p:spTree>
  </p:cSld>
  <p:clrMapOvr>
    <a:masterClrMapping/>
  </p:clrMapOvr>
  <p:transition spd="fast" advClick="0" advTm="77199">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KPI SELECTION</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The </a:t>
            </a:r>
            <a:pPr indent="0" marL="0">
              <a:buNone/>
            </a:pPr>
            <a:r>
              <a:rPr lang="en-US" sz="2200" b="1" dirty="0">
                <a:solidFill>
                  <a:srgbClr val="5391D5"/>
                </a:solidFill>
                <a:latin typeface="Arial" pitchFamily="34" charset="0"/>
                <a:ea typeface="Arial" pitchFamily="34" charset="-122"/>
                <a:cs typeface="Arial" pitchFamily="34" charset="-120"/>
              </a:rPr>
              <a:t>SMART-F</a:t>
            </a:r>
            <a:pPr indent="0" marL="0">
              <a:buNone/>
            </a:pPr>
            <a:r>
              <a:rPr lang="en-US" sz="2200" b="1" dirty="0">
                <a:solidFill>
                  <a:srgbClr val="F5F0E8"/>
                </a:solidFill>
                <a:latin typeface="Arial" pitchFamily="34" charset="0"/>
                <a:ea typeface="Arial" pitchFamily="34" charset="-122"/>
                <a:cs typeface="Arial" pitchFamily="34" charset="-120"/>
              </a:rPr>
              <a:t> Framework for KPI Selection</a:t>
            </a:r>
            <a:endParaRPr lang="en-US" sz="2200" dirty="0"/>
          </a:p>
        </p:txBody>
      </p:sp>
      <p:sp>
        <p:nvSpPr>
          <p:cNvPr id="11" name="Shape 8"/>
          <p:cNvSpPr/>
          <p:nvPr/>
        </p:nvSpPr>
        <p:spPr>
          <a:xfrm>
            <a:off x="3200400" y="640080"/>
            <a:ext cx="5486400" cy="868680"/>
          </a:xfrm>
          <a:prstGeom prst="rect">
            <a:avLst>
              <a:gd name="adj" fmla="val 6316"/>
            </a:avLst>
          </a:prstGeom>
          <a:solidFill>
            <a:srgbClr val="111D2E"/>
          </a:solidFill>
          <a:ln w="6350">
            <a:solidFill>
              <a:srgbClr val="0A1525"/>
            </a:solidFill>
            <a:prstDash val="solid"/>
          </a:ln>
        </p:spPr>
      </p:sp>
      <p:sp>
        <p:nvSpPr>
          <p:cNvPr id="12" name="Shape 9"/>
          <p:cNvSpPr/>
          <p:nvPr/>
        </p:nvSpPr>
        <p:spPr>
          <a:xfrm>
            <a:off x="3337560" y="731520"/>
            <a:ext cx="365760" cy="36576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target.png">    </p:cNvPr>
          <p:cNvPicPr>
            <a:picLocks noChangeAspect="1"/>
          </p:cNvPicPr>
          <p:nvPr/>
        </p:nvPicPr>
        <p:blipFill>
          <a:blip r:embed="rId2"/>
          <a:stretch>
            <a:fillRect/>
          </a:stretch>
        </p:blipFill>
        <p:spPr>
          <a:xfrm>
            <a:off x="3418027" y="811987"/>
            <a:ext cx="204826" cy="204826"/>
          </a:xfrm>
          <a:prstGeom prst="rect">
            <a:avLst/>
          </a:prstGeom>
        </p:spPr>
      </p:pic>
      <p:sp>
        <p:nvSpPr>
          <p:cNvPr id="14" name="Text 10"/>
          <p:cNvSpPr/>
          <p:nvPr/>
        </p:nvSpPr>
        <p:spPr>
          <a:xfrm>
            <a:off x="3749040" y="731520"/>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Specific</a:t>
            </a:r>
            <a:endParaRPr lang="en-US" sz="1200" dirty="0"/>
          </a:p>
        </p:txBody>
      </p:sp>
      <p:sp>
        <p:nvSpPr>
          <p:cNvPr id="15" name="Text 11"/>
          <p:cNvSpPr/>
          <p:nvPr/>
        </p:nvSpPr>
        <p:spPr>
          <a:xfrm>
            <a:off x="3749040" y="1005840"/>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Each KPI must measure one clearly defined outcome. Avoid composite metrics that blend multiple concepts. Instead of 'financial health,' use specific metrics like current ratio or DSO.</a:t>
            </a:r>
            <a:endParaRPr lang="en-US" sz="900" dirty="0"/>
          </a:p>
        </p:txBody>
      </p:sp>
      <p:sp>
        <p:nvSpPr>
          <p:cNvPr id="16" name="Shape 12"/>
          <p:cNvSpPr/>
          <p:nvPr/>
        </p:nvSpPr>
        <p:spPr>
          <a:xfrm>
            <a:off x="3200400" y="1618488"/>
            <a:ext cx="5486400" cy="868680"/>
          </a:xfrm>
          <a:prstGeom prst="rect">
            <a:avLst>
              <a:gd name="adj" fmla="val 6316"/>
            </a:avLst>
          </a:prstGeom>
          <a:solidFill>
            <a:srgbClr val="111D2E"/>
          </a:solidFill>
          <a:ln w="6350">
            <a:solidFill>
              <a:srgbClr val="0A1525"/>
            </a:solidFill>
            <a:prstDash val="solid"/>
          </a:ln>
        </p:spPr>
      </p:sp>
      <p:sp>
        <p:nvSpPr>
          <p:cNvPr id="17" name="Shape 13"/>
          <p:cNvSpPr/>
          <p:nvPr/>
        </p:nvSpPr>
        <p:spPr>
          <a:xfrm>
            <a:off x="3337560" y="1709928"/>
            <a:ext cx="365760" cy="365760"/>
          </a:xfrm>
          <a:prstGeom prst="ellipse">
            <a:avLst/>
          </a:prstGeom>
          <a:solidFill>
            <a:srgbClr val="5391D5">
              <a:alpha val="20000"/>
            </a:srgbClr>
          </a:solidFill>
          <a:ln w="9525">
            <a:solidFill>
              <a:srgbClr val="5391D5"/>
            </a:solidFill>
            <a:prstDash val="solid"/>
          </a:ln>
        </p:spPr>
      </p:sp>
      <p:pic>
        <p:nvPicPr>
          <p:cNvPr id="18" name="Image 2" descr="C:\Users\AimanSadeq\OneDrive - Virginia Institute of Finance\VIFM eLearning Portal\vifm-elearning\scripts\lesson-generator\assets\icons\ruler.png">    </p:cNvPr>
          <p:cNvPicPr>
            <a:picLocks noChangeAspect="1"/>
          </p:cNvPicPr>
          <p:nvPr/>
        </p:nvPicPr>
        <p:blipFill>
          <a:blip r:embed="rId3"/>
          <a:stretch>
            <a:fillRect/>
          </a:stretch>
        </p:blipFill>
        <p:spPr>
          <a:xfrm>
            <a:off x="3418027" y="1790395"/>
            <a:ext cx="204826" cy="204826"/>
          </a:xfrm>
          <a:prstGeom prst="rect">
            <a:avLst/>
          </a:prstGeom>
        </p:spPr>
      </p:pic>
      <p:sp>
        <p:nvSpPr>
          <p:cNvPr id="19" name="Text 14"/>
          <p:cNvSpPr/>
          <p:nvPr/>
        </p:nvSpPr>
        <p:spPr>
          <a:xfrm>
            <a:off x="3749040" y="1709928"/>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Measurable</a:t>
            </a:r>
            <a:endParaRPr lang="en-US" sz="1200" dirty="0"/>
          </a:p>
        </p:txBody>
      </p:sp>
      <p:sp>
        <p:nvSpPr>
          <p:cNvPr id="20" name="Text 15"/>
          <p:cNvSpPr/>
          <p:nvPr/>
        </p:nvSpPr>
        <p:spPr>
          <a:xfrm>
            <a:off x="3749040" y="1984248"/>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The KPI must be quantifiable with available data. If you cannot measure it reliably with current systems, it is not a KPI; it is an aspiration. Validate data availability before committing.</a:t>
            </a:r>
            <a:endParaRPr lang="en-US" sz="900" dirty="0"/>
          </a:p>
        </p:txBody>
      </p:sp>
      <p:sp>
        <p:nvSpPr>
          <p:cNvPr id="21" name="Shape 16"/>
          <p:cNvSpPr/>
          <p:nvPr/>
        </p:nvSpPr>
        <p:spPr>
          <a:xfrm>
            <a:off x="3200400" y="2596896"/>
            <a:ext cx="5486400" cy="868680"/>
          </a:xfrm>
          <a:prstGeom prst="rect">
            <a:avLst>
              <a:gd name="adj" fmla="val 6316"/>
            </a:avLst>
          </a:prstGeom>
          <a:solidFill>
            <a:srgbClr val="111D2E"/>
          </a:solidFill>
          <a:ln w="6350">
            <a:solidFill>
              <a:srgbClr val="0A1525"/>
            </a:solidFill>
            <a:prstDash val="solid"/>
          </a:ln>
        </p:spPr>
      </p:sp>
      <p:sp>
        <p:nvSpPr>
          <p:cNvPr id="22" name="Shape 17"/>
          <p:cNvSpPr/>
          <p:nvPr/>
        </p:nvSpPr>
        <p:spPr>
          <a:xfrm>
            <a:off x="3337560" y="2688336"/>
            <a:ext cx="365760" cy="365760"/>
          </a:xfrm>
          <a:prstGeom prst="ellipse">
            <a:avLst/>
          </a:prstGeom>
          <a:solidFill>
            <a:srgbClr val="5391D5">
              <a:alpha val="20000"/>
            </a:srgbClr>
          </a:solidFill>
          <a:ln w="9525">
            <a:solidFill>
              <a:srgbClr val="5391D5"/>
            </a:solidFill>
            <a:prstDash val="solid"/>
          </a:ln>
        </p:spPr>
      </p:sp>
      <p:pic>
        <p:nvPicPr>
          <p:cNvPr id="23" name="Image 3" descr="C:\Users\AimanSadeq\OneDrive - Virginia Institute of Finance\VIFM eLearning Portal\vifm-elearning\scripts\lesson-generator\assets\icons\film.png">    </p:cNvPr>
          <p:cNvPicPr>
            <a:picLocks noChangeAspect="1"/>
          </p:cNvPicPr>
          <p:nvPr/>
        </p:nvPicPr>
        <p:blipFill>
          <a:blip r:embed="rId4"/>
          <a:stretch>
            <a:fillRect/>
          </a:stretch>
        </p:blipFill>
        <p:spPr>
          <a:xfrm>
            <a:off x="3418027" y="2768803"/>
            <a:ext cx="204826" cy="204826"/>
          </a:xfrm>
          <a:prstGeom prst="rect">
            <a:avLst/>
          </a:prstGeom>
        </p:spPr>
      </p:pic>
      <p:sp>
        <p:nvSpPr>
          <p:cNvPr id="24" name="Text 18"/>
          <p:cNvSpPr/>
          <p:nvPr/>
        </p:nvSpPr>
        <p:spPr>
          <a:xfrm>
            <a:off x="3749040" y="2688336"/>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Actionable</a:t>
            </a:r>
            <a:endParaRPr lang="en-US" sz="1200" dirty="0"/>
          </a:p>
        </p:txBody>
      </p:sp>
      <p:sp>
        <p:nvSpPr>
          <p:cNvPr id="25" name="Text 19"/>
          <p:cNvSpPr/>
          <p:nvPr/>
        </p:nvSpPr>
        <p:spPr>
          <a:xfrm>
            <a:off x="3749040" y="2962656"/>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Teams must be able to influence the metric through their decisions. Revenue growth is actionable; stock price is not (directly). Each KPI should have a clear owner and action playbook.</a:t>
            </a:r>
            <a:endParaRPr lang="en-US" sz="900" dirty="0"/>
          </a:p>
        </p:txBody>
      </p:sp>
      <p:sp>
        <p:nvSpPr>
          <p:cNvPr id="26" name="Shape 20"/>
          <p:cNvSpPr/>
          <p:nvPr/>
        </p:nvSpPr>
        <p:spPr>
          <a:xfrm>
            <a:off x="3200400" y="3575304"/>
            <a:ext cx="5486400" cy="868680"/>
          </a:xfrm>
          <a:prstGeom prst="rect">
            <a:avLst>
              <a:gd name="adj" fmla="val 6316"/>
            </a:avLst>
          </a:prstGeom>
          <a:solidFill>
            <a:srgbClr val="111D2E"/>
          </a:solidFill>
          <a:ln w="6350">
            <a:solidFill>
              <a:srgbClr val="0A1525"/>
            </a:solidFill>
            <a:prstDash val="solid"/>
          </a:ln>
        </p:spPr>
      </p:sp>
      <p:sp>
        <p:nvSpPr>
          <p:cNvPr id="27" name="Shape 21"/>
          <p:cNvSpPr/>
          <p:nvPr/>
        </p:nvSpPr>
        <p:spPr>
          <a:xfrm>
            <a:off x="3337560" y="3666744"/>
            <a:ext cx="365760" cy="365760"/>
          </a:xfrm>
          <a:prstGeom prst="ellipse">
            <a:avLst/>
          </a:prstGeom>
          <a:solidFill>
            <a:srgbClr val="5391D5">
              <a:alpha val="20000"/>
            </a:srgbClr>
          </a:solidFill>
          <a:ln w="9525">
            <a:solidFill>
              <a:srgbClr val="5391D5"/>
            </a:solidFill>
            <a:prstDash val="solid"/>
          </a:ln>
        </p:spPr>
      </p:sp>
      <p:pic>
        <p:nvPicPr>
          <p:cNvPr id="28" name="Image 4" descr="C:\Users\AimanSadeq\OneDrive - Virginia Institute of Finance\VIFM eLearning Portal\vifm-elearning\scripts\lesson-generator\assets\icons\chart.png">    </p:cNvPr>
          <p:cNvPicPr>
            <a:picLocks noChangeAspect="1"/>
          </p:cNvPicPr>
          <p:nvPr/>
        </p:nvPicPr>
        <p:blipFill>
          <a:blip r:embed="rId5"/>
          <a:stretch>
            <a:fillRect/>
          </a:stretch>
        </p:blipFill>
        <p:spPr>
          <a:xfrm>
            <a:off x="3418027" y="3747211"/>
            <a:ext cx="204826" cy="204826"/>
          </a:xfrm>
          <a:prstGeom prst="rect">
            <a:avLst/>
          </a:prstGeom>
        </p:spPr>
      </p:pic>
      <p:sp>
        <p:nvSpPr>
          <p:cNvPr id="29" name="Text 22"/>
          <p:cNvSpPr/>
          <p:nvPr/>
        </p:nvSpPr>
        <p:spPr>
          <a:xfrm>
            <a:off x="3749040" y="3666744"/>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Relevant</a:t>
            </a:r>
            <a:endParaRPr lang="en-US" sz="1200" dirty="0"/>
          </a:p>
        </p:txBody>
      </p:sp>
      <p:sp>
        <p:nvSpPr>
          <p:cNvPr id="30" name="Text 23"/>
          <p:cNvSpPr/>
          <p:nvPr/>
        </p:nvSpPr>
        <p:spPr>
          <a:xfrm>
            <a:off x="3749040" y="3941064"/>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The KPI must connect to strategic objectives. If it does not ladder up to a board-level goal or department OKR, question whether it belongs on the dashboard.</a:t>
            </a:r>
            <a:endParaRPr lang="en-US" sz="900" dirty="0"/>
          </a:p>
        </p:txBody>
      </p:sp>
      <p:sp>
        <p:nvSpPr>
          <p:cNvPr id="31" name="Shape 24"/>
          <p:cNvSpPr/>
          <p:nvPr/>
        </p:nvSpPr>
        <p:spPr>
          <a:xfrm>
            <a:off x="3200400" y="4553712"/>
            <a:ext cx="5486400" cy="868680"/>
          </a:xfrm>
          <a:prstGeom prst="rect">
            <a:avLst>
              <a:gd name="adj" fmla="val 6316"/>
            </a:avLst>
          </a:prstGeom>
          <a:solidFill>
            <a:srgbClr val="111D2E"/>
          </a:solidFill>
          <a:ln w="6350">
            <a:solidFill>
              <a:srgbClr val="0A1525"/>
            </a:solidFill>
            <a:prstDash val="solid"/>
          </a:ln>
        </p:spPr>
      </p:sp>
      <p:sp>
        <p:nvSpPr>
          <p:cNvPr id="32" name="Shape 25"/>
          <p:cNvSpPr/>
          <p:nvPr/>
        </p:nvSpPr>
        <p:spPr>
          <a:xfrm>
            <a:off x="3337560" y="4645152"/>
            <a:ext cx="365760" cy="365760"/>
          </a:xfrm>
          <a:prstGeom prst="ellipse">
            <a:avLst/>
          </a:prstGeom>
          <a:solidFill>
            <a:srgbClr val="5391D5">
              <a:alpha val="20000"/>
            </a:srgbClr>
          </a:solidFill>
          <a:ln w="9525">
            <a:solidFill>
              <a:srgbClr val="5391D5"/>
            </a:solidFill>
            <a:prstDash val="solid"/>
          </a:ln>
        </p:spPr>
      </p:sp>
      <p:pic>
        <p:nvPicPr>
          <p:cNvPr id="33" name="Image 5" descr="C:\Users\AimanSadeq\OneDrive - Virginia Institute of Finance\VIFM eLearning Portal\vifm-elearning\scripts\lesson-generator\assets\icons\clock.png">    </p:cNvPr>
          <p:cNvPicPr>
            <a:picLocks noChangeAspect="1"/>
          </p:cNvPicPr>
          <p:nvPr/>
        </p:nvPicPr>
        <p:blipFill>
          <a:blip r:embed="rId6"/>
          <a:stretch>
            <a:fillRect/>
          </a:stretch>
        </p:blipFill>
        <p:spPr>
          <a:xfrm>
            <a:off x="3418027" y="4725619"/>
            <a:ext cx="204826" cy="204826"/>
          </a:xfrm>
          <a:prstGeom prst="rect">
            <a:avLst/>
          </a:prstGeom>
        </p:spPr>
      </p:pic>
      <p:sp>
        <p:nvSpPr>
          <p:cNvPr id="34" name="Text 26"/>
          <p:cNvSpPr/>
          <p:nvPr/>
        </p:nvSpPr>
        <p:spPr>
          <a:xfrm>
            <a:off x="3749040" y="4645152"/>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Time-bound</a:t>
            </a:r>
            <a:endParaRPr lang="en-US" sz="1200" dirty="0"/>
          </a:p>
        </p:txBody>
      </p:sp>
      <p:sp>
        <p:nvSpPr>
          <p:cNvPr id="35" name="Text 27"/>
          <p:cNvSpPr/>
          <p:nvPr/>
        </p:nvSpPr>
        <p:spPr>
          <a:xfrm>
            <a:off x="3749040" y="4919472"/>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Define the measurement frequency: daily, weekly, monthly, or quarterly. The cadence should match the speed of the underlying business process.</a:t>
            </a:r>
            <a:endParaRPr lang="en-US" sz="900" dirty="0"/>
          </a:p>
        </p:txBody>
      </p:sp>
      <p:sp>
        <p:nvSpPr>
          <p:cNvPr id="36" name="Shape 28"/>
          <p:cNvSpPr/>
          <p:nvPr/>
        </p:nvSpPr>
        <p:spPr>
          <a:xfrm>
            <a:off x="3200400" y="5532120"/>
            <a:ext cx="5486400" cy="868680"/>
          </a:xfrm>
          <a:prstGeom prst="rect">
            <a:avLst>
              <a:gd name="adj" fmla="val 6316"/>
            </a:avLst>
          </a:prstGeom>
          <a:solidFill>
            <a:srgbClr val="111D2E"/>
          </a:solidFill>
          <a:ln w="6350">
            <a:solidFill>
              <a:srgbClr val="0A1525"/>
            </a:solidFill>
            <a:prstDash val="solid"/>
          </a:ln>
        </p:spPr>
      </p:sp>
      <p:sp>
        <p:nvSpPr>
          <p:cNvPr id="37" name="Shape 29"/>
          <p:cNvSpPr/>
          <p:nvPr/>
        </p:nvSpPr>
        <p:spPr>
          <a:xfrm>
            <a:off x="3337560" y="5623560"/>
            <a:ext cx="365760" cy="365760"/>
          </a:xfrm>
          <a:prstGeom prst="ellipse">
            <a:avLst/>
          </a:prstGeom>
          <a:solidFill>
            <a:srgbClr val="5391D5">
              <a:alpha val="20000"/>
            </a:srgbClr>
          </a:solidFill>
          <a:ln w="9525">
            <a:solidFill>
              <a:srgbClr val="5391D5"/>
            </a:solidFill>
            <a:prstDash val="solid"/>
          </a:ln>
        </p:spPr>
      </p:sp>
      <p:pic>
        <p:nvPicPr>
          <p:cNvPr id="38" name="Image 6" descr="C:\Users\AimanSadeq\OneDrive - Virginia Institute of Finance\VIFM eLearning Portal\vifm-elearning\scripts\lesson-generator\assets\icons\crystal.png">    </p:cNvPr>
          <p:cNvPicPr>
            <a:picLocks noChangeAspect="1"/>
          </p:cNvPicPr>
          <p:nvPr/>
        </p:nvPicPr>
        <p:blipFill>
          <a:blip r:embed="rId7"/>
          <a:stretch>
            <a:fillRect/>
          </a:stretch>
        </p:blipFill>
        <p:spPr>
          <a:xfrm>
            <a:off x="3418027" y="5704027"/>
            <a:ext cx="204826" cy="204826"/>
          </a:xfrm>
          <a:prstGeom prst="rect">
            <a:avLst/>
          </a:prstGeom>
        </p:spPr>
      </p:pic>
      <p:sp>
        <p:nvSpPr>
          <p:cNvPr id="39" name="Text 30"/>
          <p:cNvSpPr/>
          <p:nvPr/>
        </p:nvSpPr>
        <p:spPr>
          <a:xfrm>
            <a:off x="3749040" y="5623560"/>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Forecastable</a:t>
            </a:r>
            <a:endParaRPr lang="en-US" sz="1200" dirty="0"/>
          </a:p>
        </p:txBody>
      </p:sp>
      <p:sp>
        <p:nvSpPr>
          <p:cNvPr id="40" name="Text 31"/>
          <p:cNvSpPr/>
          <p:nvPr/>
        </p:nvSpPr>
        <p:spPr>
          <a:xfrm>
            <a:off x="3749040" y="5897880"/>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The best dashboard KPIs have both descriptive and predictive views. Can you build a credible forecast for this metric? If so, showing predicted vs. actual creates powerful insight.</a:t>
            </a:r>
            <a:endParaRPr lang="en-US" sz="900" dirty="0"/>
          </a:p>
        </p:txBody>
      </p:sp>
      <p:pic>
        <p:nvPicPr>
          <p:cNvPr id="10" name="Media 0">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10058400" y="6057900"/>
            <a:ext cx="9144" cy="9144"/>
          </a:xfrm>
          <a:prstGeom prst="rect">
            <a:avLst/>
          </a:prstGeom>
        </p:spPr>
      </p:pic>
      <p:sp>
        <p:nvSpPr>
          <p:cNvPr id="43" name="Text 32"/>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4 / 10</a:t>
            </a:r>
            <a:endParaRPr lang="en-US" sz="800" dirty="0"/>
          </a:p>
        </p:txBody>
      </p:sp>
    </p:spTree>
  </p:cSld>
  <p:clrMapOvr>
    <a:masterClrMapping/>
  </p:clrMapOvr>
  <p:transition spd="fast" advClick="0" advTm="71113">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PROCESSING TRADE-OFFS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5391D5"/>
                </a:solidFill>
                <a:latin typeface="Arial" pitchFamily="34" charset="0"/>
                <a:ea typeface="Arial" pitchFamily="34" charset="-122"/>
                <a:cs typeface="Arial" pitchFamily="34" charset="-120"/>
              </a:rPr>
              <a:t>Real-Time vs. Batch</a:t>
            </a:r>
            <a:pPr indent="0" marL="0">
              <a:buNone/>
            </a:pPr>
            <a:r>
              <a:rPr lang="en-US" sz="2200" b="1" dirty="0">
                <a:solidFill>
                  <a:srgbClr val="F5F0E8"/>
                </a:solidFill>
                <a:latin typeface="Arial" pitchFamily="34" charset="0"/>
                <a:ea typeface="Arial" pitchFamily="34" charset="-122"/>
                <a:cs typeface="Arial" pitchFamily="34" charset="-120"/>
              </a:rPr>
              <a:t> Data Processing</a:t>
            </a:r>
            <a:endParaRPr lang="en-US" sz="2200" dirty="0"/>
          </a:p>
        </p:txBody>
      </p:sp>
      <p:sp>
        <p:nvSpPr>
          <p:cNvPr id="11" name="Shape 8"/>
          <p:cNvSpPr/>
          <p:nvPr/>
        </p:nvSpPr>
        <p:spPr>
          <a:xfrm>
            <a:off x="3200400" y="640080"/>
            <a:ext cx="5486400" cy="320040"/>
          </a:xfrm>
          <a:prstGeom prst="rect">
            <a:avLst>
              <a:gd name="adj" fmla="val 17143"/>
            </a:avLst>
          </a:prstGeom>
          <a:solidFill>
            <a:srgbClr val="111D2E"/>
          </a:solidFill>
          <a:ln w="6350">
            <a:solidFill>
              <a:srgbClr val="0A1525"/>
            </a:solidFill>
            <a:prstDash val="solid"/>
          </a:ln>
        </p:spPr>
      </p:sp>
      <p:sp>
        <p:nvSpPr>
          <p:cNvPr id="12" name="Text 9"/>
          <p:cNvSpPr/>
          <p:nvPr/>
        </p:nvSpPr>
        <p:spPr>
          <a:xfrm>
            <a:off x="3291840" y="685800"/>
            <a:ext cx="1353312" cy="228600"/>
          </a:xfrm>
          <a:prstGeom prst="rect">
            <a:avLst/>
          </a:prstGeom>
          <a:noFill/>
          <a:ln/>
        </p:spPr>
        <p:txBody>
          <a:bodyPr wrap="square" lIns="0" tIns="0" rIns="0" bIns="0" rtlCol="0" anchor="ctr"/>
          <a:lstStyle/>
          <a:p>
            <a:pPr indent="0" marL="0">
              <a:buNone/>
            </a:pPr>
            <a:endParaRPr lang="en-US" sz="900" dirty="0"/>
          </a:p>
        </p:txBody>
      </p:sp>
      <p:sp>
        <p:nvSpPr>
          <p:cNvPr id="13" name="Text 10"/>
          <p:cNvSpPr/>
          <p:nvPr/>
        </p:nvSpPr>
        <p:spPr>
          <a:xfrm>
            <a:off x="4736592" y="685800"/>
            <a:ext cx="1975104" cy="228600"/>
          </a:xfrm>
          <a:prstGeom prst="rect">
            <a:avLst/>
          </a:prstGeom>
          <a:noFill/>
          <a:ln/>
        </p:spPr>
        <p:txBody>
          <a:bodyPr wrap="square" lIns="0" tIns="0" rIns="0" bIns="0" rtlCol="0" anchor="ctr"/>
          <a:lstStyle/>
          <a:p>
            <a:pPr algn="ctr" indent="0" marL="0">
              <a:buNone/>
            </a:pPr>
            <a:r>
              <a:rPr lang="en-US" sz="900" b="1" dirty="0">
                <a:solidFill>
                  <a:srgbClr val="5391D5"/>
                </a:solidFill>
                <a:latin typeface="Arial" pitchFamily="34" charset="0"/>
                <a:ea typeface="Arial" pitchFamily="34" charset="-122"/>
                <a:cs typeface="Arial" pitchFamily="34" charset="-120"/>
              </a:rPr>
              <a:t>Real-Time</a:t>
            </a:r>
            <a:endParaRPr lang="en-US" sz="900" dirty="0"/>
          </a:p>
        </p:txBody>
      </p:sp>
      <p:sp>
        <p:nvSpPr>
          <p:cNvPr id="14" name="Text 11"/>
          <p:cNvSpPr/>
          <p:nvPr/>
        </p:nvSpPr>
        <p:spPr>
          <a:xfrm>
            <a:off x="6711696" y="685800"/>
            <a:ext cx="1975104" cy="228600"/>
          </a:xfrm>
          <a:prstGeom prst="rect">
            <a:avLst/>
          </a:prstGeom>
          <a:noFill/>
          <a:ln/>
        </p:spPr>
        <p:txBody>
          <a:bodyPr wrap="square" lIns="0" tIns="0" rIns="0" bIns="0" rtlCol="0" anchor="ctr"/>
          <a:lstStyle/>
          <a:p>
            <a:pPr algn="ctr" indent="0" marL="0">
              <a:buNone/>
            </a:pPr>
            <a:r>
              <a:rPr lang="en-US" sz="900" b="1" dirty="0">
                <a:solidFill>
                  <a:srgbClr val="5391D5"/>
                </a:solidFill>
                <a:latin typeface="Arial" pitchFamily="34" charset="0"/>
                <a:ea typeface="Arial" pitchFamily="34" charset="-122"/>
                <a:cs typeface="Arial" pitchFamily="34" charset="-120"/>
              </a:rPr>
              <a:t>Batch</a:t>
            </a:r>
            <a:endParaRPr lang="en-US" sz="900" dirty="0"/>
          </a:p>
        </p:txBody>
      </p:sp>
      <p:sp>
        <p:nvSpPr>
          <p:cNvPr id="15" name="Shape 12"/>
          <p:cNvSpPr/>
          <p:nvPr/>
        </p:nvSpPr>
        <p:spPr>
          <a:xfrm>
            <a:off x="3200400" y="1051560"/>
            <a:ext cx="5486400" cy="502920"/>
          </a:xfrm>
          <a:prstGeom prst="rect">
            <a:avLst>
              <a:gd name="adj" fmla="val 10909"/>
            </a:avLst>
          </a:prstGeom>
          <a:solidFill>
            <a:srgbClr val="111D2E"/>
          </a:solidFill>
          <a:ln w="6350">
            <a:solidFill>
              <a:srgbClr val="0A1525"/>
            </a:solidFill>
            <a:prstDash val="solid"/>
          </a:ln>
        </p:spPr>
      </p:sp>
      <p:sp>
        <p:nvSpPr>
          <p:cNvPr id="16" name="Text 13"/>
          <p:cNvSpPr/>
          <p:nvPr/>
        </p:nvSpPr>
        <p:spPr>
          <a:xfrm>
            <a:off x="3291840" y="1097280"/>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Data Freshness</a:t>
            </a:r>
            <a:endParaRPr lang="en-US" sz="900" dirty="0"/>
          </a:p>
        </p:txBody>
      </p:sp>
      <p:sp>
        <p:nvSpPr>
          <p:cNvPr id="17" name="Text 14"/>
          <p:cNvSpPr/>
          <p:nvPr/>
        </p:nvSpPr>
        <p:spPr>
          <a:xfrm>
            <a:off x="4782312" y="1097280"/>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Seconds to minutes latency</a:t>
            </a:r>
            <a:endParaRPr lang="en-US" sz="800" dirty="0"/>
          </a:p>
        </p:txBody>
      </p:sp>
      <p:sp>
        <p:nvSpPr>
          <p:cNvPr id="18" name="Text 15"/>
          <p:cNvSpPr/>
          <p:nvPr/>
        </p:nvSpPr>
        <p:spPr>
          <a:xfrm>
            <a:off x="6757416" y="1097280"/>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Hours to daily refresh cycles</a:t>
            </a:r>
            <a:endParaRPr lang="en-US" sz="800" dirty="0"/>
          </a:p>
        </p:txBody>
      </p:sp>
      <p:sp>
        <p:nvSpPr>
          <p:cNvPr id="19" name="Shape 16"/>
          <p:cNvSpPr/>
          <p:nvPr/>
        </p:nvSpPr>
        <p:spPr>
          <a:xfrm>
            <a:off x="3200400" y="1609344"/>
            <a:ext cx="5486400" cy="502920"/>
          </a:xfrm>
          <a:prstGeom prst="rect">
            <a:avLst>
              <a:gd name="adj" fmla="val 10909"/>
            </a:avLst>
          </a:prstGeom>
          <a:solidFill>
            <a:srgbClr val="111D2E"/>
          </a:solidFill>
          <a:ln w="6350">
            <a:solidFill>
              <a:srgbClr val="0A1525"/>
            </a:solidFill>
            <a:prstDash val="solid"/>
          </a:ln>
        </p:spPr>
      </p:sp>
      <p:sp>
        <p:nvSpPr>
          <p:cNvPr id="20" name="Text 17"/>
          <p:cNvSpPr/>
          <p:nvPr/>
        </p:nvSpPr>
        <p:spPr>
          <a:xfrm>
            <a:off x="3291840" y="1655064"/>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Infrastructure Cost</a:t>
            </a:r>
            <a:endParaRPr lang="en-US" sz="900" dirty="0"/>
          </a:p>
        </p:txBody>
      </p:sp>
      <p:sp>
        <p:nvSpPr>
          <p:cNvPr id="21" name="Text 18"/>
          <p:cNvSpPr/>
          <p:nvPr/>
        </p:nvSpPr>
        <p:spPr>
          <a:xfrm>
            <a:off x="4782312" y="1655064"/>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Higher; requires streaming platforms (Kafka, Flink)</a:t>
            </a:r>
            <a:endParaRPr lang="en-US" sz="800" dirty="0"/>
          </a:p>
        </p:txBody>
      </p:sp>
      <p:sp>
        <p:nvSpPr>
          <p:cNvPr id="22" name="Text 19"/>
          <p:cNvSpPr/>
          <p:nvPr/>
        </p:nvSpPr>
        <p:spPr>
          <a:xfrm>
            <a:off x="6757416" y="1655064"/>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Lower; runs on scheduled ETL jobs</a:t>
            </a:r>
            <a:endParaRPr lang="en-US" sz="800" dirty="0"/>
          </a:p>
        </p:txBody>
      </p:sp>
      <p:sp>
        <p:nvSpPr>
          <p:cNvPr id="23" name="Shape 20"/>
          <p:cNvSpPr/>
          <p:nvPr/>
        </p:nvSpPr>
        <p:spPr>
          <a:xfrm>
            <a:off x="3200400" y="2167128"/>
            <a:ext cx="5486400" cy="502920"/>
          </a:xfrm>
          <a:prstGeom prst="rect">
            <a:avLst>
              <a:gd name="adj" fmla="val 10909"/>
            </a:avLst>
          </a:prstGeom>
          <a:solidFill>
            <a:srgbClr val="111D2E"/>
          </a:solidFill>
          <a:ln w="6350">
            <a:solidFill>
              <a:srgbClr val="0A1525"/>
            </a:solidFill>
            <a:prstDash val="solid"/>
          </a:ln>
        </p:spPr>
      </p:sp>
      <p:sp>
        <p:nvSpPr>
          <p:cNvPr id="24" name="Text 21"/>
          <p:cNvSpPr/>
          <p:nvPr/>
        </p:nvSpPr>
        <p:spPr>
          <a:xfrm>
            <a:off x="3291840" y="2212848"/>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Complexity</a:t>
            </a:r>
            <a:endParaRPr lang="en-US" sz="900" dirty="0"/>
          </a:p>
        </p:txBody>
      </p:sp>
      <p:sp>
        <p:nvSpPr>
          <p:cNvPr id="25" name="Text 22"/>
          <p:cNvSpPr/>
          <p:nvPr/>
        </p:nvSpPr>
        <p:spPr>
          <a:xfrm>
            <a:off x="4782312" y="2212848"/>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Significant engineering overhead for pipelines and monitoring</a:t>
            </a:r>
            <a:endParaRPr lang="en-US" sz="800" dirty="0"/>
          </a:p>
        </p:txBody>
      </p:sp>
      <p:sp>
        <p:nvSpPr>
          <p:cNvPr id="26" name="Text 23"/>
          <p:cNvSpPr/>
          <p:nvPr/>
        </p:nvSpPr>
        <p:spPr>
          <a:xfrm>
            <a:off x="6757416" y="2212848"/>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Simpler architecture with well-established tooling</a:t>
            </a:r>
            <a:endParaRPr lang="en-US" sz="800" dirty="0"/>
          </a:p>
        </p:txBody>
      </p:sp>
      <p:sp>
        <p:nvSpPr>
          <p:cNvPr id="27" name="Shape 24"/>
          <p:cNvSpPr/>
          <p:nvPr/>
        </p:nvSpPr>
        <p:spPr>
          <a:xfrm>
            <a:off x="3200400" y="2724912"/>
            <a:ext cx="5486400" cy="502920"/>
          </a:xfrm>
          <a:prstGeom prst="rect">
            <a:avLst>
              <a:gd name="adj" fmla="val 10909"/>
            </a:avLst>
          </a:prstGeom>
          <a:solidFill>
            <a:srgbClr val="111D2E"/>
          </a:solidFill>
          <a:ln w="6350">
            <a:solidFill>
              <a:srgbClr val="0A1525"/>
            </a:solidFill>
            <a:prstDash val="solid"/>
          </a:ln>
        </p:spPr>
      </p:sp>
      <p:sp>
        <p:nvSpPr>
          <p:cNvPr id="28" name="Text 25"/>
          <p:cNvSpPr/>
          <p:nvPr/>
        </p:nvSpPr>
        <p:spPr>
          <a:xfrm>
            <a:off x="3291840" y="2770632"/>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Best For</a:t>
            </a:r>
            <a:endParaRPr lang="en-US" sz="900" dirty="0"/>
          </a:p>
        </p:txBody>
      </p:sp>
      <p:sp>
        <p:nvSpPr>
          <p:cNvPr id="29" name="Text 26"/>
          <p:cNvSpPr/>
          <p:nvPr/>
        </p:nvSpPr>
        <p:spPr>
          <a:xfrm>
            <a:off x="4782312" y="2770632"/>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Treasury, fraud detection, intraday trading positions</a:t>
            </a:r>
            <a:endParaRPr lang="en-US" sz="800" dirty="0"/>
          </a:p>
        </p:txBody>
      </p:sp>
      <p:sp>
        <p:nvSpPr>
          <p:cNvPr id="30" name="Text 27"/>
          <p:cNvSpPr/>
          <p:nvPr/>
        </p:nvSpPr>
        <p:spPr>
          <a:xfrm>
            <a:off x="6757416" y="2770632"/>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Monthly reporting, FP&amp;A dashboards, quarterly reviews</a:t>
            </a:r>
            <a:endParaRPr lang="en-US" sz="800" dirty="0"/>
          </a:p>
        </p:txBody>
      </p:sp>
      <p:sp>
        <p:nvSpPr>
          <p:cNvPr id="31" name="Shape 28"/>
          <p:cNvSpPr/>
          <p:nvPr/>
        </p:nvSpPr>
        <p:spPr>
          <a:xfrm>
            <a:off x="3200400" y="3282696"/>
            <a:ext cx="5486400" cy="502920"/>
          </a:xfrm>
          <a:prstGeom prst="rect">
            <a:avLst>
              <a:gd name="adj" fmla="val 10909"/>
            </a:avLst>
          </a:prstGeom>
          <a:solidFill>
            <a:srgbClr val="111D2E"/>
          </a:solidFill>
          <a:ln w="6350">
            <a:solidFill>
              <a:srgbClr val="0A1525"/>
            </a:solidFill>
            <a:prstDash val="solid"/>
          </a:ln>
        </p:spPr>
      </p:sp>
      <p:sp>
        <p:nvSpPr>
          <p:cNvPr id="32" name="Text 29"/>
          <p:cNvSpPr/>
          <p:nvPr/>
        </p:nvSpPr>
        <p:spPr>
          <a:xfrm>
            <a:off x="3291840" y="3328416"/>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Accuracy</a:t>
            </a:r>
            <a:endParaRPr lang="en-US" sz="900" dirty="0"/>
          </a:p>
        </p:txBody>
      </p:sp>
      <p:sp>
        <p:nvSpPr>
          <p:cNvPr id="33" name="Text 30"/>
          <p:cNvSpPr/>
          <p:nvPr/>
        </p:nvSpPr>
        <p:spPr>
          <a:xfrm>
            <a:off x="4782312" y="3328416"/>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May show preliminary or unreconciled data</a:t>
            </a:r>
            <a:endParaRPr lang="en-US" sz="800" dirty="0"/>
          </a:p>
        </p:txBody>
      </p:sp>
      <p:sp>
        <p:nvSpPr>
          <p:cNvPr id="34" name="Text 31"/>
          <p:cNvSpPr/>
          <p:nvPr/>
        </p:nvSpPr>
        <p:spPr>
          <a:xfrm>
            <a:off x="6757416" y="3328416"/>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Fully reconciled and validated data</a:t>
            </a:r>
            <a:endParaRPr lang="en-US" sz="800" dirty="0"/>
          </a:p>
        </p:txBody>
      </p:sp>
      <p:sp>
        <p:nvSpPr>
          <p:cNvPr id="35" name="Text 32"/>
          <p:cNvSpPr/>
          <p:nvPr/>
        </p:nvSpPr>
        <p:spPr>
          <a:xfrm>
            <a:off x="3200400" y="4549140"/>
            <a:ext cx="5486400" cy="274320"/>
          </a:xfrm>
          <a:prstGeom prst="rect">
            <a:avLst/>
          </a:prstGeom>
          <a:noFill/>
          <a:ln/>
        </p:spPr>
        <p:txBody>
          <a:bodyPr wrap="square" lIns="0" tIns="0" rIns="0" bIns="0" rtlCol="0" anchor="ctr"/>
          <a:lstStyle/>
          <a:p>
            <a:pPr algn="ctr" indent="0" marL="0">
              <a:buNone/>
            </a:pPr>
            <a:r>
              <a:rPr lang="en-US" sz="900" dirty="0">
                <a:solidFill>
                  <a:srgbClr val="5391D5"/>
                </a:solidFill>
                <a:latin typeface="Arial" pitchFamily="34" charset="0"/>
                <a:ea typeface="Arial" pitchFamily="34" charset="-122"/>
                <a:cs typeface="Arial" pitchFamily="34" charset="-120"/>
              </a:rPr>
              <a:t>Most finance dashboards benefit from a hybrid approach: batch for core financial reporting and real-time for treasury, risk, and operational metrics.</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8" name="Text 33"/>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5 / 10</a:t>
            </a:r>
            <a:endParaRPr lang="en-US" sz="800" dirty="0"/>
          </a:p>
        </p:txBody>
      </p:sp>
    </p:spTree>
  </p:cSld>
  <p:clrMapOvr>
    <a:masterClrMapping/>
  </p:clrMapOvr>
  <p:transition spd="fast" advClick="0" advTm="63877">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IMPLEMENTATION PLAN</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Dashboard </a:t>
            </a:r>
            <a:pPr indent="0" marL="0">
              <a:buNone/>
            </a:pPr>
            <a:r>
              <a:rPr lang="en-US" sz="2200" b="1" dirty="0">
                <a:solidFill>
                  <a:srgbClr val="5391D5"/>
                </a:solidFill>
                <a:latin typeface="Arial" pitchFamily="34" charset="0"/>
                <a:ea typeface="Arial" pitchFamily="34" charset="-122"/>
                <a:cs typeface="Arial" pitchFamily="34" charset="-120"/>
              </a:rPr>
              <a:t>Rollout Roadmap</a:t>
            </a:r>
            <a:endParaRPr lang="en-US" sz="2200" dirty="0"/>
          </a:p>
        </p:txBody>
      </p:sp>
      <p:sp>
        <p:nvSpPr>
          <p:cNvPr id="11" name="Shape 8"/>
          <p:cNvSpPr/>
          <p:nvPr/>
        </p:nvSpPr>
        <p:spPr>
          <a:xfrm>
            <a:off x="3200400" y="640080"/>
            <a:ext cx="1303020" cy="3657600"/>
          </a:xfrm>
          <a:prstGeom prst="rect">
            <a:avLst>
              <a:gd name="adj" fmla="val 4211"/>
            </a:avLst>
          </a:prstGeom>
          <a:solidFill>
            <a:srgbClr val="111D2E"/>
          </a:solidFill>
          <a:ln w="6350">
            <a:solidFill>
              <a:srgbClr val="0A1525"/>
            </a:solidFill>
            <a:prstDash val="solid"/>
          </a:ln>
        </p:spPr>
      </p:sp>
      <p:sp>
        <p:nvSpPr>
          <p:cNvPr id="12" name="Text 9"/>
          <p:cNvSpPr/>
          <p:nvPr/>
        </p:nvSpPr>
        <p:spPr>
          <a:xfrm>
            <a:off x="3291840" y="731520"/>
            <a:ext cx="1120140" cy="228600"/>
          </a:xfrm>
          <a:prstGeom prst="rect">
            <a:avLst/>
          </a:prstGeom>
          <a:noFill/>
          <a:ln/>
        </p:spPr>
        <p:txBody>
          <a:bodyPr wrap="square" lIns="0" tIns="0" rIns="0" bIns="0" rtlCol="0" anchor="ctr"/>
          <a:lstStyle/>
          <a:p>
            <a:pPr indent="0" marL="0">
              <a:buNone/>
            </a:pPr>
            <a:r>
              <a:rPr lang="en-US" sz="800" spc="100" kern="0" dirty="0">
                <a:solidFill>
                  <a:srgbClr val="5391D5"/>
                </a:solidFill>
                <a:latin typeface="Arial" pitchFamily="34" charset="0"/>
                <a:ea typeface="Arial" pitchFamily="34" charset="-122"/>
                <a:cs typeface="Arial" pitchFamily="34" charset="-120"/>
              </a:rPr>
              <a:t>Phase 1</a:t>
            </a:r>
            <a:endParaRPr lang="en-US" sz="800" dirty="0"/>
          </a:p>
        </p:txBody>
      </p:sp>
      <p:sp>
        <p:nvSpPr>
          <p:cNvPr id="13" name="Text 10"/>
          <p:cNvSpPr/>
          <p:nvPr/>
        </p:nvSpPr>
        <p:spPr>
          <a:xfrm>
            <a:off x="3291840" y="960120"/>
            <a:ext cx="1120140" cy="32004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Foundation (Weeks 1-4)</a:t>
            </a:r>
            <a:endParaRPr lang="en-US" sz="1000" dirty="0"/>
          </a:p>
        </p:txBody>
      </p:sp>
      <p:sp>
        <p:nvSpPr>
          <p:cNvPr id="14" name="Text 11"/>
          <p:cNvSpPr/>
          <p:nvPr/>
        </p:nvSpPr>
        <p:spPr>
          <a:xfrm>
            <a:off x="3291840" y="1325880"/>
            <a:ext cx="1120140" cy="2880360"/>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Conduct stakeholder interviews to define KPI requirements by role</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Audit data sources for quality, completeness, and accessibility</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Design data architecture and select technology platform</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Build the data integration layer with initial source connections</a:t>
            </a:r>
            <a:endParaRPr lang="en-US" sz="800" dirty="0"/>
          </a:p>
        </p:txBody>
      </p:sp>
      <p:sp>
        <p:nvSpPr>
          <p:cNvPr id="15" name="Shape 12"/>
          <p:cNvSpPr/>
          <p:nvPr/>
        </p:nvSpPr>
        <p:spPr>
          <a:xfrm>
            <a:off x="4594860" y="640080"/>
            <a:ext cx="1303020" cy="3657600"/>
          </a:xfrm>
          <a:prstGeom prst="rect">
            <a:avLst>
              <a:gd name="adj" fmla="val 4211"/>
            </a:avLst>
          </a:prstGeom>
          <a:solidFill>
            <a:srgbClr val="111D2E"/>
          </a:solidFill>
          <a:ln w="6350">
            <a:solidFill>
              <a:srgbClr val="0A1525"/>
            </a:solidFill>
            <a:prstDash val="solid"/>
          </a:ln>
        </p:spPr>
      </p:sp>
      <p:sp>
        <p:nvSpPr>
          <p:cNvPr id="16" name="Text 13"/>
          <p:cNvSpPr/>
          <p:nvPr/>
        </p:nvSpPr>
        <p:spPr>
          <a:xfrm>
            <a:off x="4686300" y="731520"/>
            <a:ext cx="1120140" cy="228600"/>
          </a:xfrm>
          <a:prstGeom prst="rect">
            <a:avLst/>
          </a:prstGeom>
          <a:noFill/>
          <a:ln/>
        </p:spPr>
        <p:txBody>
          <a:bodyPr wrap="square" lIns="0" tIns="0" rIns="0" bIns="0" rtlCol="0" anchor="ctr"/>
          <a:lstStyle/>
          <a:p>
            <a:pPr indent="0" marL="0">
              <a:buNone/>
            </a:pPr>
            <a:r>
              <a:rPr lang="en-US" sz="800" spc="100" kern="0" dirty="0">
                <a:solidFill>
                  <a:srgbClr val="5391D5"/>
                </a:solidFill>
                <a:latin typeface="Arial" pitchFamily="34" charset="0"/>
                <a:ea typeface="Arial" pitchFamily="34" charset="-122"/>
                <a:cs typeface="Arial" pitchFamily="34" charset="-120"/>
              </a:rPr>
              <a:t>Phase 2</a:t>
            </a:r>
            <a:endParaRPr lang="en-US" sz="800" dirty="0"/>
          </a:p>
        </p:txBody>
      </p:sp>
      <p:sp>
        <p:nvSpPr>
          <p:cNvPr id="17" name="Text 14"/>
          <p:cNvSpPr/>
          <p:nvPr/>
        </p:nvSpPr>
        <p:spPr>
          <a:xfrm>
            <a:off x="4686300" y="960120"/>
            <a:ext cx="1120140" cy="32004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Core Build (Weeks 5-10)</a:t>
            </a:r>
            <a:endParaRPr lang="en-US" sz="1000" dirty="0"/>
          </a:p>
        </p:txBody>
      </p:sp>
      <p:sp>
        <p:nvSpPr>
          <p:cNvPr id="18" name="Text 15"/>
          <p:cNvSpPr/>
          <p:nvPr/>
        </p:nvSpPr>
        <p:spPr>
          <a:xfrm>
            <a:off x="4686300" y="1325880"/>
            <a:ext cx="1120140" cy="2880360"/>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Implement descriptive analytics: aggregations, ratios, and trend calculations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Build the semantic layer with standardized KPI definitions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Develop the first dashboard views for the executive and FP&amp;A audiences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Train initial predictive models for three to five key forecasted KPIs</a:t>
            </a:r>
            <a:endParaRPr lang="en-US" sz="800" dirty="0"/>
          </a:p>
        </p:txBody>
      </p:sp>
      <p:sp>
        <p:nvSpPr>
          <p:cNvPr id="19" name="Shape 16"/>
          <p:cNvSpPr/>
          <p:nvPr/>
        </p:nvSpPr>
        <p:spPr>
          <a:xfrm>
            <a:off x="5989320" y="640080"/>
            <a:ext cx="1303020" cy="3657600"/>
          </a:xfrm>
          <a:prstGeom prst="rect">
            <a:avLst>
              <a:gd name="adj" fmla="val 4211"/>
            </a:avLst>
          </a:prstGeom>
          <a:solidFill>
            <a:srgbClr val="111D2E"/>
          </a:solidFill>
          <a:ln w="6350">
            <a:solidFill>
              <a:srgbClr val="0A1525"/>
            </a:solidFill>
            <a:prstDash val="solid"/>
          </a:ln>
        </p:spPr>
      </p:sp>
      <p:sp>
        <p:nvSpPr>
          <p:cNvPr id="20" name="Text 17"/>
          <p:cNvSpPr/>
          <p:nvPr/>
        </p:nvSpPr>
        <p:spPr>
          <a:xfrm>
            <a:off x="6080760" y="731520"/>
            <a:ext cx="1120140" cy="228600"/>
          </a:xfrm>
          <a:prstGeom prst="rect">
            <a:avLst/>
          </a:prstGeom>
          <a:noFill/>
          <a:ln/>
        </p:spPr>
        <p:txBody>
          <a:bodyPr wrap="square" lIns="0" tIns="0" rIns="0" bIns="0" rtlCol="0" anchor="ctr"/>
          <a:lstStyle/>
          <a:p>
            <a:pPr indent="0" marL="0">
              <a:buNone/>
            </a:pPr>
            <a:r>
              <a:rPr lang="en-US" sz="800" spc="100" kern="0" dirty="0">
                <a:solidFill>
                  <a:srgbClr val="5391D5"/>
                </a:solidFill>
                <a:latin typeface="Arial" pitchFamily="34" charset="0"/>
                <a:ea typeface="Arial" pitchFamily="34" charset="-122"/>
                <a:cs typeface="Arial" pitchFamily="34" charset="-120"/>
              </a:rPr>
              <a:t>Phase 3</a:t>
            </a:r>
            <a:endParaRPr lang="en-US" sz="800" dirty="0"/>
          </a:p>
        </p:txBody>
      </p:sp>
      <p:sp>
        <p:nvSpPr>
          <p:cNvPr id="21" name="Text 18"/>
          <p:cNvSpPr/>
          <p:nvPr/>
        </p:nvSpPr>
        <p:spPr>
          <a:xfrm>
            <a:off x="6080760" y="960120"/>
            <a:ext cx="1120140" cy="32004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Integration &amp; Testing (Weeks 11-14)</a:t>
            </a:r>
            <a:endParaRPr lang="en-US" sz="1000" dirty="0"/>
          </a:p>
        </p:txBody>
      </p:sp>
      <p:sp>
        <p:nvSpPr>
          <p:cNvPr id="22" name="Text 19"/>
          <p:cNvSpPr/>
          <p:nvPr/>
        </p:nvSpPr>
        <p:spPr>
          <a:xfrm>
            <a:off x="6080760" y="1325880"/>
            <a:ext cx="1120140" cy="2880360"/>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Integrate predictive model outputs into dashboard views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Configure automated alerts and threshold-based notifications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Conduct UAT with finance team members across all role-based views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Perform data validation and reconciliation against existing reports</a:t>
            </a:r>
            <a:endParaRPr lang="en-US" sz="800" dirty="0"/>
          </a:p>
        </p:txBody>
      </p:sp>
      <p:sp>
        <p:nvSpPr>
          <p:cNvPr id="23" name="Shape 20"/>
          <p:cNvSpPr/>
          <p:nvPr/>
        </p:nvSpPr>
        <p:spPr>
          <a:xfrm>
            <a:off x="7383780" y="640080"/>
            <a:ext cx="1303020" cy="3657600"/>
          </a:xfrm>
          <a:prstGeom prst="rect">
            <a:avLst>
              <a:gd name="adj" fmla="val 4211"/>
            </a:avLst>
          </a:prstGeom>
          <a:solidFill>
            <a:srgbClr val="111D2E"/>
          </a:solidFill>
          <a:ln w="6350">
            <a:solidFill>
              <a:srgbClr val="0A1525"/>
            </a:solidFill>
            <a:prstDash val="solid"/>
          </a:ln>
        </p:spPr>
      </p:sp>
      <p:sp>
        <p:nvSpPr>
          <p:cNvPr id="24" name="Text 21"/>
          <p:cNvSpPr/>
          <p:nvPr/>
        </p:nvSpPr>
        <p:spPr>
          <a:xfrm>
            <a:off x="7475220" y="731520"/>
            <a:ext cx="1120140" cy="228600"/>
          </a:xfrm>
          <a:prstGeom prst="rect">
            <a:avLst/>
          </a:prstGeom>
          <a:noFill/>
          <a:ln/>
        </p:spPr>
        <p:txBody>
          <a:bodyPr wrap="square" lIns="0" tIns="0" rIns="0" bIns="0" rtlCol="0" anchor="ctr"/>
          <a:lstStyle/>
          <a:p>
            <a:pPr indent="0" marL="0">
              <a:buNone/>
            </a:pPr>
            <a:r>
              <a:rPr lang="en-US" sz="800" spc="100" kern="0" dirty="0">
                <a:solidFill>
                  <a:srgbClr val="5391D5"/>
                </a:solidFill>
                <a:latin typeface="Arial" pitchFamily="34" charset="0"/>
                <a:ea typeface="Arial" pitchFamily="34" charset="-122"/>
                <a:cs typeface="Arial" pitchFamily="34" charset="-120"/>
              </a:rPr>
              <a:t>Phase 4</a:t>
            </a:r>
            <a:endParaRPr lang="en-US" sz="800" dirty="0"/>
          </a:p>
        </p:txBody>
      </p:sp>
      <p:sp>
        <p:nvSpPr>
          <p:cNvPr id="25" name="Text 22"/>
          <p:cNvSpPr/>
          <p:nvPr/>
        </p:nvSpPr>
        <p:spPr>
          <a:xfrm>
            <a:off x="7475220" y="960120"/>
            <a:ext cx="1120140" cy="32004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Launch &amp; Adoption (Weeks 15-20)</a:t>
            </a:r>
            <a:endParaRPr lang="en-US" sz="1000" dirty="0"/>
          </a:p>
        </p:txBody>
      </p:sp>
      <p:sp>
        <p:nvSpPr>
          <p:cNvPr id="26" name="Text 23"/>
          <p:cNvSpPr/>
          <p:nvPr/>
        </p:nvSpPr>
        <p:spPr>
          <a:xfrm>
            <a:off x="7475220" y="1325880"/>
            <a:ext cx="1120140" cy="2880360"/>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Conduct structured training sessions for each user group</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Retire legacy reports to drive adoption of the new platform</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Establish a feedback loop for continuous improvement</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Implement model monitoring and automated retraining pipelines</a:t>
            </a:r>
            <a:endParaRPr lang="en-US" sz="8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29" name="Text 24"/>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6 / 10</a:t>
            </a:r>
            <a:endParaRPr lang="en-US" sz="800" dirty="0"/>
          </a:p>
        </p:txBody>
      </p:sp>
    </p:spTree>
  </p:cSld>
  <p:clrMapOvr>
    <a:masterClrMapping/>
  </p:clrMapOvr>
  <p:transition spd="fast" advClick="0" advTm="77722">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CASE STUDY</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5391D5"/>
                </a:solidFill>
                <a:latin typeface="Arial" pitchFamily="34" charset="0"/>
                <a:ea typeface="Arial" pitchFamily="34" charset="-122"/>
                <a:cs typeface="Arial" pitchFamily="34" charset="-120"/>
              </a:rPr>
              <a:t>Meridian</a:t>
            </a:r>
            <a:pPr indent="0" marL="0">
              <a:buNone/>
            </a:pPr>
            <a:r>
              <a:rPr lang="en-US" sz="2200" b="1" dirty="0">
                <a:solidFill>
                  <a:srgbClr val="F5F0E8"/>
                </a:solidFill>
                <a:latin typeface="Arial" pitchFamily="34" charset="0"/>
                <a:ea typeface="Arial" pitchFamily="34" charset="-122"/>
                <a:cs typeface="Arial" pitchFamily="34" charset="-120"/>
              </a:rPr>
              <a:t> Financial Services</a:t>
            </a:r>
            <a:endParaRPr lang="en-US" sz="2200" dirty="0"/>
          </a:p>
        </p:txBody>
      </p:sp>
      <p:sp>
        <p:nvSpPr>
          <p:cNvPr id="11" name="Text 8"/>
          <p:cNvSpPr/>
          <p:nvPr/>
        </p:nvSpPr>
        <p:spPr>
          <a:xfrm>
            <a:off x="457200" y="2011680"/>
            <a:ext cx="2560320" cy="137160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Meridian Financial Services, a regional bank with $12B in assets, operated with fragmented reporting. Each department maintained its own spreadsheets, leading to conflicting numbers in board meetings and a 15-day monthly close cycle.</a:t>
            </a:r>
            <a:endParaRPr lang="en-US" sz="900" dirty="0"/>
          </a:p>
        </p:txBody>
      </p:sp>
      <p:sp>
        <p:nvSpPr>
          <p:cNvPr id="12" name="Shape 9"/>
          <p:cNvSpPr/>
          <p:nvPr/>
        </p:nvSpPr>
        <p:spPr>
          <a:xfrm>
            <a:off x="3200400" y="640080"/>
            <a:ext cx="5486400" cy="1097280"/>
          </a:xfrm>
          <a:prstGeom prst="rect">
            <a:avLst>
              <a:gd name="adj" fmla="val 5000"/>
            </a:avLst>
          </a:prstGeom>
          <a:solidFill>
            <a:srgbClr val="111D2E"/>
          </a:solidFill>
          <a:ln w="6350">
            <a:solidFill>
              <a:srgbClr val="0A1525"/>
            </a:solidFill>
            <a:prstDash val="solid"/>
          </a:ln>
        </p:spPr>
      </p:sp>
      <p:sp>
        <p:nvSpPr>
          <p:cNvPr id="13" name="Text 10"/>
          <p:cNvSpPr/>
          <p:nvPr/>
        </p:nvSpPr>
        <p:spPr>
          <a:xfrm>
            <a:off x="3337560" y="713232"/>
            <a:ext cx="521208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CHALLENGE</a:t>
            </a:r>
            <a:endParaRPr lang="en-US" sz="800" dirty="0"/>
          </a:p>
        </p:txBody>
      </p:sp>
      <p:sp>
        <p:nvSpPr>
          <p:cNvPr id="14" name="Text 11"/>
          <p:cNvSpPr/>
          <p:nvPr/>
        </p:nvSpPr>
        <p:spPr>
          <a:xfrm>
            <a:off x="3337560" y="960120"/>
            <a:ext cx="5212080" cy="685800"/>
          </a:xfrm>
          <a:prstGeom prst="rect">
            <a:avLst/>
          </a:prstGeom>
          <a:noFill/>
          <a:ln/>
        </p:spPr>
        <p:txBody>
          <a:bodyPr wrap="square" lIns="0" tIns="0" rIns="0" bIns="0" rtlCol="0" anchor="t"/>
          <a:lstStyle/>
          <a:p>
            <a:pPr indent="0" marL="0">
              <a:buNone/>
            </a:pPr>
            <a:r>
              <a:rPr lang="en-US" sz="1000" dirty="0">
                <a:solidFill>
                  <a:srgbClr val="F5F0E8"/>
                </a:solidFill>
                <a:latin typeface="Arial" pitchFamily="34" charset="0"/>
                <a:ea typeface="Arial" pitchFamily="34" charset="-122"/>
                <a:cs typeface="Arial" pitchFamily="34" charset="-120"/>
              </a:rPr>
              <a:t>The CFO mandated a unified analytics dashboard that would integrate descriptive and predictive analytics, serve all stakeholder groups from the board to branch managers, and reduce the monthly close to under five business days.</a:t>
            </a:r>
            <a:endParaRPr lang="en-US" sz="1000" dirty="0"/>
          </a:p>
        </p:txBody>
      </p:sp>
      <p:sp>
        <p:nvSpPr>
          <p:cNvPr id="15" name="Shape 12"/>
          <p:cNvSpPr/>
          <p:nvPr/>
        </p:nvSpPr>
        <p:spPr>
          <a:xfrm>
            <a:off x="3200400" y="1874520"/>
            <a:ext cx="5486400" cy="594360"/>
          </a:xfrm>
          <a:prstGeom prst="rect">
            <a:avLst>
              <a:gd name="adj" fmla="val 9231"/>
            </a:avLst>
          </a:prstGeom>
          <a:solidFill>
            <a:srgbClr val="111D2E"/>
          </a:solidFill>
          <a:ln w="6350">
            <a:solidFill>
              <a:srgbClr val="0A1525"/>
            </a:solidFill>
            <a:prstDash val="solid"/>
          </a:ln>
        </p:spPr>
      </p:sp>
      <p:sp>
        <p:nvSpPr>
          <p:cNvPr id="16" name="Text 13"/>
          <p:cNvSpPr/>
          <p:nvPr/>
        </p:nvSpPr>
        <p:spPr>
          <a:xfrm>
            <a:off x="3337560" y="19293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4 days</a:t>
            </a:r>
            <a:endParaRPr lang="en-US" sz="1600" dirty="0"/>
          </a:p>
        </p:txBody>
      </p:sp>
      <p:sp>
        <p:nvSpPr>
          <p:cNvPr id="17" name="Text 14"/>
          <p:cNvSpPr/>
          <p:nvPr/>
        </p:nvSpPr>
        <p:spPr>
          <a:xfrm>
            <a:off x="3337560" y="21854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Monthly close reduced from 15 days to 4 business days</a:t>
            </a:r>
            <a:endParaRPr lang="en-US" sz="900" dirty="0"/>
          </a:p>
        </p:txBody>
      </p:sp>
      <p:sp>
        <p:nvSpPr>
          <p:cNvPr id="18" name="Shape 15"/>
          <p:cNvSpPr/>
          <p:nvPr/>
        </p:nvSpPr>
        <p:spPr>
          <a:xfrm>
            <a:off x="3200400" y="2560320"/>
            <a:ext cx="5486400" cy="594360"/>
          </a:xfrm>
          <a:prstGeom prst="rect">
            <a:avLst>
              <a:gd name="adj" fmla="val 9231"/>
            </a:avLst>
          </a:prstGeom>
          <a:solidFill>
            <a:srgbClr val="111D2E"/>
          </a:solidFill>
          <a:ln w="6350">
            <a:solidFill>
              <a:srgbClr val="0A1525"/>
            </a:solidFill>
            <a:prstDash val="solid"/>
          </a:ln>
        </p:spPr>
      </p:sp>
      <p:sp>
        <p:nvSpPr>
          <p:cNvPr id="19" name="Text 16"/>
          <p:cNvSpPr/>
          <p:nvPr/>
        </p:nvSpPr>
        <p:spPr>
          <a:xfrm>
            <a:off x="3337560" y="26151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92%</a:t>
            </a:r>
            <a:endParaRPr lang="en-US" sz="1600" dirty="0"/>
          </a:p>
        </p:txBody>
      </p:sp>
      <p:sp>
        <p:nvSpPr>
          <p:cNvPr id="20" name="Text 17"/>
          <p:cNvSpPr/>
          <p:nvPr/>
        </p:nvSpPr>
        <p:spPr>
          <a:xfrm>
            <a:off x="3337560" y="28712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User adoption rate across all management levels within six months</a:t>
            </a:r>
            <a:endParaRPr lang="en-US" sz="900" dirty="0"/>
          </a:p>
        </p:txBody>
      </p:sp>
      <p:sp>
        <p:nvSpPr>
          <p:cNvPr id="21" name="Shape 18"/>
          <p:cNvSpPr/>
          <p:nvPr/>
        </p:nvSpPr>
        <p:spPr>
          <a:xfrm>
            <a:off x="3200400" y="3246120"/>
            <a:ext cx="5486400" cy="594360"/>
          </a:xfrm>
          <a:prstGeom prst="rect">
            <a:avLst>
              <a:gd name="adj" fmla="val 9231"/>
            </a:avLst>
          </a:prstGeom>
          <a:solidFill>
            <a:srgbClr val="111D2E"/>
          </a:solidFill>
          <a:ln w="6350">
            <a:solidFill>
              <a:srgbClr val="0A1525"/>
            </a:solidFill>
            <a:prstDash val="solid"/>
          </a:ln>
        </p:spPr>
      </p:sp>
      <p:sp>
        <p:nvSpPr>
          <p:cNvPr id="22" name="Text 19"/>
          <p:cNvSpPr/>
          <p:nvPr/>
        </p:nvSpPr>
        <p:spPr>
          <a:xfrm>
            <a:off x="3337560" y="33009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$5.8M</a:t>
            </a:r>
            <a:endParaRPr lang="en-US" sz="1600" dirty="0"/>
          </a:p>
        </p:txBody>
      </p:sp>
      <p:sp>
        <p:nvSpPr>
          <p:cNvPr id="23" name="Text 20"/>
          <p:cNvSpPr/>
          <p:nvPr/>
        </p:nvSpPr>
        <p:spPr>
          <a:xfrm>
            <a:off x="3337560" y="35570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Identified in cost savings through predictive expense analytics in Year 1</a:t>
            </a:r>
            <a:endParaRPr lang="en-US" sz="900" dirty="0"/>
          </a:p>
        </p:txBody>
      </p:sp>
      <p:sp>
        <p:nvSpPr>
          <p:cNvPr id="24" name="Shape 21"/>
          <p:cNvSpPr/>
          <p:nvPr/>
        </p:nvSpPr>
        <p:spPr>
          <a:xfrm>
            <a:off x="3200400" y="3931920"/>
            <a:ext cx="5486400" cy="594360"/>
          </a:xfrm>
          <a:prstGeom prst="rect">
            <a:avLst>
              <a:gd name="adj" fmla="val 9231"/>
            </a:avLst>
          </a:prstGeom>
          <a:solidFill>
            <a:srgbClr val="111D2E"/>
          </a:solidFill>
          <a:ln w="6350">
            <a:solidFill>
              <a:srgbClr val="0A1525"/>
            </a:solidFill>
            <a:prstDash val="solid"/>
          </a:ln>
        </p:spPr>
      </p:sp>
      <p:sp>
        <p:nvSpPr>
          <p:cNvPr id="25" name="Text 22"/>
          <p:cNvSpPr/>
          <p:nvPr/>
        </p:nvSpPr>
        <p:spPr>
          <a:xfrm>
            <a:off x="3337560" y="39867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1 source</a:t>
            </a:r>
            <a:endParaRPr lang="en-US" sz="1600" dirty="0"/>
          </a:p>
        </p:txBody>
      </p:sp>
      <p:sp>
        <p:nvSpPr>
          <p:cNvPr id="26" name="Text 23"/>
          <p:cNvSpPr/>
          <p:nvPr/>
        </p:nvSpPr>
        <p:spPr>
          <a:xfrm>
            <a:off x="3337560" y="42428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Single source of truth eliminated conflicting metrics across departments</a:t>
            </a:r>
            <a:endParaRPr lang="en-US" sz="900" dirty="0"/>
          </a:p>
        </p:txBody>
      </p:sp>
      <p:sp>
        <p:nvSpPr>
          <p:cNvPr id="27" name="Text 24"/>
          <p:cNvSpPr/>
          <p:nvPr/>
        </p:nvSpPr>
        <p:spPr>
          <a:xfrm>
            <a:off x="3200400" y="4686300"/>
            <a:ext cx="548640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Source: Illustrative</a:t>
            </a:r>
            <a:endParaRPr lang="en-US" sz="7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0" name="Text 2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7 / 10</a:t>
            </a:r>
            <a:endParaRPr lang="en-US" sz="800" dirty="0"/>
          </a:p>
        </p:txBody>
      </p:sp>
    </p:spTree>
  </p:cSld>
  <p:clrMapOvr>
    <a:masterClrMapping/>
  </p:clrMapOvr>
  <p:transition spd="fast" advClick="0" advTm="6829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CHANGE MANAGEMENT</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Driving Dashboard </a:t>
            </a:r>
            <a:pPr indent="0" marL="0">
              <a:buNone/>
            </a:pPr>
            <a:r>
              <a:rPr lang="en-US" sz="2200" b="1" dirty="0">
                <a:solidFill>
                  <a:srgbClr val="5391D5"/>
                </a:solidFill>
                <a:latin typeface="Arial" pitchFamily="34" charset="0"/>
                <a:ea typeface="Arial" pitchFamily="34" charset="-122"/>
                <a:cs typeface="Arial" pitchFamily="34" charset="-120"/>
              </a:rPr>
              <a:t>Adoption</a:t>
            </a:r>
            <a:pPr indent="0" marL="0">
              <a:buNone/>
            </a:pPr>
            <a:r>
              <a:rPr lang="en-US" sz="2200" b="1" dirty="0">
                <a:solidFill>
                  <a:srgbClr val="F5F0E8"/>
                </a:solidFill>
                <a:latin typeface="Arial" pitchFamily="34" charset="0"/>
                <a:ea typeface="Arial" pitchFamily="34" charset="-122"/>
                <a:cs typeface="Arial" pitchFamily="34" charset="-120"/>
              </a:rPr>
              <a:t> Across the Organization</a:t>
            </a:r>
            <a:endParaRPr lang="en-US" sz="2200" dirty="0"/>
          </a:p>
        </p:txBody>
      </p:sp>
      <p:sp>
        <p:nvSpPr>
          <p:cNvPr id="11" name="Shape 8"/>
          <p:cNvSpPr/>
          <p:nvPr/>
        </p:nvSpPr>
        <p:spPr>
          <a:xfrm>
            <a:off x="3200400" y="640080"/>
            <a:ext cx="5486400" cy="868680"/>
          </a:xfrm>
          <a:prstGeom prst="rect">
            <a:avLst>
              <a:gd name="adj" fmla="val 6316"/>
            </a:avLst>
          </a:prstGeom>
          <a:solidFill>
            <a:srgbClr val="111D2E"/>
          </a:solidFill>
          <a:ln w="6350">
            <a:solidFill>
              <a:srgbClr val="0A1525"/>
            </a:solidFill>
            <a:prstDash val="solid"/>
          </a:ln>
        </p:spPr>
      </p:sp>
      <p:sp>
        <p:nvSpPr>
          <p:cNvPr id="12" name="Shape 9"/>
          <p:cNvSpPr/>
          <p:nvPr/>
        </p:nvSpPr>
        <p:spPr>
          <a:xfrm>
            <a:off x="3337560" y="731520"/>
            <a:ext cx="365760" cy="36576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tie.png">    </p:cNvPr>
          <p:cNvPicPr>
            <a:picLocks noChangeAspect="1"/>
          </p:cNvPicPr>
          <p:nvPr/>
        </p:nvPicPr>
        <p:blipFill>
          <a:blip r:embed="rId2"/>
          <a:stretch>
            <a:fillRect/>
          </a:stretch>
        </p:blipFill>
        <p:spPr>
          <a:xfrm>
            <a:off x="3418027" y="811987"/>
            <a:ext cx="204826" cy="204826"/>
          </a:xfrm>
          <a:prstGeom prst="rect">
            <a:avLst/>
          </a:prstGeom>
        </p:spPr>
      </p:pic>
      <p:sp>
        <p:nvSpPr>
          <p:cNvPr id="14" name="Text 10"/>
          <p:cNvSpPr/>
          <p:nvPr/>
        </p:nvSpPr>
        <p:spPr>
          <a:xfrm>
            <a:off x="3749040" y="731520"/>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Executive Sponsorship</a:t>
            </a:r>
            <a:endParaRPr lang="en-US" sz="1200" dirty="0"/>
          </a:p>
        </p:txBody>
      </p:sp>
      <p:sp>
        <p:nvSpPr>
          <p:cNvPr id="15" name="Text 11"/>
          <p:cNvSpPr/>
          <p:nvPr/>
        </p:nvSpPr>
        <p:spPr>
          <a:xfrm>
            <a:off x="3749040" y="1005840"/>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The CFO or a senior finance leader must visibly champion the new platform. When executives use the dashboard in meetings, adoption cascades through the organization.</a:t>
            </a:r>
            <a:endParaRPr lang="en-US" sz="900" dirty="0"/>
          </a:p>
        </p:txBody>
      </p:sp>
      <p:sp>
        <p:nvSpPr>
          <p:cNvPr id="16" name="Shape 12"/>
          <p:cNvSpPr/>
          <p:nvPr/>
        </p:nvSpPr>
        <p:spPr>
          <a:xfrm>
            <a:off x="3200400" y="1618488"/>
            <a:ext cx="5486400" cy="868680"/>
          </a:xfrm>
          <a:prstGeom prst="rect">
            <a:avLst>
              <a:gd name="adj" fmla="val 6316"/>
            </a:avLst>
          </a:prstGeom>
          <a:solidFill>
            <a:srgbClr val="111D2E"/>
          </a:solidFill>
          <a:ln w="6350">
            <a:solidFill>
              <a:srgbClr val="0A1525"/>
            </a:solidFill>
            <a:prstDash val="solid"/>
          </a:ln>
        </p:spPr>
      </p:sp>
      <p:sp>
        <p:nvSpPr>
          <p:cNvPr id="17" name="Shape 13"/>
          <p:cNvSpPr/>
          <p:nvPr/>
        </p:nvSpPr>
        <p:spPr>
          <a:xfrm>
            <a:off x="3337560" y="1709928"/>
            <a:ext cx="365760" cy="365760"/>
          </a:xfrm>
          <a:prstGeom prst="ellipse">
            <a:avLst/>
          </a:prstGeom>
          <a:solidFill>
            <a:srgbClr val="5391D5">
              <a:alpha val="20000"/>
            </a:srgbClr>
          </a:solidFill>
          <a:ln w="9525">
            <a:solidFill>
              <a:srgbClr val="5391D5"/>
            </a:solidFill>
            <a:prstDash val="solid"/>
          </a:ln>
        </p:spPr>
      </p:sp>
      <p:pic>
        <p:nvPicPr>
          <p:cNvPr id="18" name="Image 2" descr="C:\Users\AimanSadeq\OneDrive - Virginia Institute of Finance\VIFM eLearning Portal\vifm-elearning\scripts\lesson-generator\assets\icons\grad.png">    </p:cNvPr>
          <p:cNvPicPr>
            <a:picLocks noChangeAspect="1"/>
          </p:cNvPicPr>
          <p:nvPr/>
        </p:nvPicPr>
        <p:blipFill>
          <a:blip r:embed="rId3"/>
          <a:stretch>
            <a:fillRect/>
          </a:stretch>
        </p:blipFill>
        <p:spPr>
          <a:xfrm>
            <a:off x="3418027" y="1790395"/>
            <a:ext cx="204826" cy="204826"/>
          </a:xfrm>
          <a:prstGeom prst="rect">
            <a:avLst/>
          </a:prstGeom>
        </p:spPr>
      </p:pic>
      <p:sp>
        <p:nvSpPr>
          <p:cNvPr id="19" name="Text 14"/>
          <p:cNvSpPr/>
          <p:nvPr/>
        </p:nvSpPr>
        <p:spPr>
          <a:xfrm>
            <a:off x="3749040" y="1709928"/>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Role-Based Training</a:t>
            </a:r>
            <a:endParaRPr lang="en-US" sz="1200" dirty="0"/>
          </a:p>
        </p:txBody>
      </p:sp>
      <p:sp>
        <p:nvSpPr>
          <p:cNvPr id="20" name="Text 15"/>
          <p:cNvSpPr/>
          <p:nvPr/>
        </p:nvSpPr>
        <p:spPr>
          <a:xfrm>
            <a:off x="3749040" y="1984248"/>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Train each user group on their specific views and workflows. Executives need different training than analysts. Keep sessions under 45 minutes with hands-on exercises.</a:t>
            </a:r>
            <a:endParaRPr lang="en-US" sz="900" dirty="0"/>
          </a:p>
        </p:txBody>
      </p:sp>
      <p:sp>
        <p:nvSpPr>
          <p:cNvPr id="21" name="Shape 16"/>
          <p:cNvSpPr/>
          <p:nvPr/>
        </p:nvSpPr>
        <p:spPr>
          <a:xfrm>
            <a:off x="3200400" y="2596896"/>
            <a:ext cx="5486400" cy="868680"/>
          </a:xfrm>
          <a:prstGeom prst="rect">
            <a:avLst>
              <a:gd name="adj" fmla="val 6316"/>
            </a:avLst>
          </a:prstGeom>
          <a:solidFill>
            <a:srgbClr val="111D2E"/>
          </a:solidFill>
          <a:ln w="6350">
            <a:solidFill>
              <a:srgbClr val="0A1525"/>
            </a:solidFill>
            <a:prstDash val="solid"/>
          </a:ln>
        </p:spPr>
      </p:sp>
      <p:sp>
        <p:nvSpPr>
          <p:cNvPr id="22" name="Shape 17"/>
          <p:cNvSpPr/>
          <p:nvPr/>
        </p:nvSpPr>
        <p:spPr>
          <a:xfrm>
            <a:off x="3337560" y="2688336"/>
            <a:ext cx="365760" cy="365760"/>
          </a:xfrm>
          <a:prstGeom prst="ellipse">
            <a:avLst/>
          </a:prstGeom>
          <a:solidFill>
            <a:srgbClr val="5391D5">
              <a:alpha val="20000"/>
            </a:srgbClr>
          </a:solidFill>
          <a:ln w="9525">
            <a:solidFill>
              <a:srgbClr val="5391D5"/>
            </a:solidFill>
            <a:prstDash val="solid"/>
          </a:ln>
        </p:spPr>
      </p:sp>
      <p:pic>
        <p:nvPicPr>
          <p:cNvPr id="23" name="Image 3" descr="C:\Users\AimanSadeq\OneDrive - Virginia Institute of Finance\VIFM eLearning Portal\vifm-elearning\scripts\lesson-generator\assets\icons\no.png">    </p:cNvPr>
          <p:cNvPicPr>
            <a:picLocks noChangeAspect="1"/>
          </p:cNvPicPr>
          <p:nvPr/>
        </p:nvPicPr>
        <p:blipFill>
          <a:blip r:embed="rId4"/>
          <a:stretch>
            <a:fillRect/>
          </a:stretch>
        </p:blipFill>
        <p:spPr>
          <a:xfrm>
            <a:off x="3418027" y="2768803"/>
            <a:ext cx="204826" cy="204826"/>
          </a:xfrm>
          <a:prstGeom prst="rect">
            <a:avLst/>
          </a:prstGeom>
        </p:spPr>
      </p:pic>
      <p:sp>
        <p:nvSpPr>
          <p:cNvPr id="24" name="Text 18"/>
          <p:cNvSpPr/>
          <p:nvPr/>
        </p:nvSpPr>
        <p:spPr>
          <a:xfrm>
            <a:off x="3749040" y="2688336"/>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Legacy Report Retirement</a:t>
            </a:r>
            <a:endParaRPr lang="en-US" sz="1200" dirty="0"/>
          </a:p>
        </p:txBody>
      </p:sp>
      <p:sp>
        <p:nvSpPr>
          <p:cNvPr id="25" name="Text 19"/>
          <p:cNvSpPr/>
          <p:nvPr/>
        </p:nvSpPr>
        <p:spPr>
          <a:xfrm>
            <a:off x="3749040" y="2962656"/>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Set a firm sunset date for old reports and spreadsheets. Parallel running should last no more than one month. People will not adopt new tools if old ones remain available.</a:t>
            </a:r>
            <a:endParaRPr lang="en-US" sz="900" dirty="0"/>
          </a:p>
        </p:txBody>
      </p:sp>
      <p:sp>
        <p:nvSpPr>
          <p:cNvPr id="26" name="Shape 20"/>
          <p:cNvSpPr/>
          <p:nvPr/>
        </p:nvSpPr>
        <p:spPr>
          <a:xfrm>
            <a:off x="3200400" y="3575304"/>
            <a:ext cx="5486400" cy="868680"/>
          </a:xfrm>
          <a:prstGeom prst="rect">
            <a:avLst>
              <a:gd name="adj" fmla="val 6316"/>
            </a:avLst>
          </a:prstGeom>
          <a:solidFill>
            <a:srgbClr val="111D2E"/>
          </a:solidFill>
          <a:ln w="6350">
            <a:solidFill>
              <a:srgbClr val="0A1525"/>
            </a:solidFill>
            <a:prstDash val="solid"/>
          </a:ln>
        </p:spPr>
      </p:sp>
      <p:sp>
        <p:nvSpPr>
          <p:cNvPr id="27" name="Shape 21"/>
          <p:cNvSpPr/>
          <p:nvPr/>
        </p:nvSpPr>
        <p:spPr>
          <a:xfrm>
            <a:off x="3337560" y="3666744"/>
            <a:ext cx="365760" cy="365760"/>
          </a:xfrm>
          <a:prstGeom prst="ellipse">
            <a:avLst/>
          </a:prstGeom>
          <a:solidFill>
            <a:srgbClr val="5391D5">
              <a:alpha val="20000"/>
            </a:srgbClr>
          </a:solidFill>
          <a:ln w="9525">
            <a:solidFill>
              <a:srgbClr val="5391D5"/>
            </a:solidFill>
            <a:prstDash val="solid"/>
          </a:ln>
        </p:spPr>
      </p:sp>
      <p:pic>
        <p:nvPicPr>
          <p:cNvPr id="28" name="Image 4" descr="C:\Users\AimanSadeq\OneDrive - Virginia Institute of Finance\VIFM eLearning Portal\vifm-elearning\scripts\lesson-generator\assets\icons\chat.png">    </p:cNvPr>
          <p:cNvPicPr>
            <a:picLocks noChangeAspect="1"/>
          </p:cNvPicPr>
          <p:nvPr/>
        </p:nvPicPr>
        <p:blipFill>
          <a:blip r:embed="rId5"/>
          <a:stretch>
            <a:fillRect/>
          </a:stretch>
        </p:blipFill>
        <p:spPr>
          <a:xfrm>
            <a:off x="3418027" y="3747211"/>
            <a:ext cx="204826" cy="204826"/>
          </a:xfrm>
          <a:prstGeom prst="rect">
            <a:avLst/>
          </a:prstGeom>
        </p:spPr>
      </p:pic>
      <p:sp>
        <p:nvSpPr>
          <p:cNvPr id="29" name="Text 22"/>
          <p:cNvSpPr/>
          <p:nvPr/>
        </p:nvSpPr>
        <p:spPr>
          <a:xfrm>
            <a:off x="3749040" y="3666744"/>
            <a:ext cx="4754880" cy="274320"/>
          </a:xfrm>
          <a:prstGeom prst="rect">
            <a:avLst/>
          </a:prstGeom>
          <a:noFill/>
          <a:ln/>
        </p:spPr>
        <p:txBody>
          <a:bodyPr wrap="square" lIns="0" tIns="0" rIns="0" bIns="0" rtlCol="0" anchor="ctr"/>
          <a:lstStyle/>
          <a:p>
            <a:pPr indent="0" marL="0">
              <a:buNone/>
            </a:pPr>
            <a:r>
              <a:rPr lang="en-US" sz="1200" b="1" dirty="0">
                <a:solidFill>
                  <a:srgbClr val="F5F0E8"/>
                </a:solidFill>
                <a:latin typeface="Arial" pitchFamily="34" charset="0"/>
                <a:ea typeface="Arial" pitchFamily="34" charset="-122"/>
                <a:cs typeface="Arial" pitchFamily="34" charset="-120"/>
              </a:rPr>
              <a:t>Feedback and Iteration</a:t>
            </a:r>
            <a:endParaRPr lang="en-US" sz="1200" dirty="0"/>
          </a:p>
        </p:txBody>
      </p:sp>
      <p:sp>
        <p:nvSpPr>
          <p:cNvPr id="30" name="Text 23"/>
          <p:cNvSpPr/>
          <p:nvPr/>
        </p:nvSpPr>
        <p:spPr>
          <a:xfrm>
            <a:off x="3749040" y="3941064"/>
            <a:ext cx="4754880" cy="41148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Establish a formal feedback channel and commit to monthly dashboard improvements. Users who see their feedback implemented become the platform's strongest advocates.</a:t>
            </a:r>
            <a:endParaRPr lang="en-US" sz="900" dirty="0"/>
          </a:p>
        </p:txBody>
      </p:sp>
      <p:sp>
        <p:nvSpPr>
          <p:cNvPr id="32" name="Text 24"/>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Integrating Analytics into Financial Dashboards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5391D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RECAP</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Module 2 Final Recap</a:t>
            </a:r>
            <a:endParaRPr lang="en-US" sz="2200" dirty="0"/>
          </a:p>
        </p:txBody>
      </p:sp>
      <p:sp>
        <p:nvSpPr>
          <p:cNvPr id="11" name="Shape 8"/>
          <p:cNvSpPr/>
          <p:nvPr/>
        </p:nvSpPr>
        <p:spPr>
          <a:xfrm>
            <a:off x="3200400" y="640080"/>
            <a:ext cx="5486400" cy="731520"/>
          </a:xfrm>
          <a:prstGeom prst="rect">
            <a:avLst>
              <a:gd name="adj" fmla="val 7500"/>
            </a:avLst>
          </a:prstGeom>
          <a:solidFill>
            <a:srgbClr val="111D2E"/>
          </a:solidFill>
          <a:ln w="6350">
            <a:solidFill>
              <a:srgbClr val="0A1525"/>
            </a:solidFill>
            <a:prstDash val="solid"/>
          </a:ln>
        </p:spPr>
      </p:sp>
      <p:sp>
        <p:nvSpPr>
          <p:cNvPr id="12" name="Shape 9"/>
          <p:cNvSpPr/>
          <p:nvPr/>
        </p:nvSpPr>
        <p:spPr>
          <a:xfrm>
            <a:off x="3310128" y="749808"/>
            <a:ext cx="320040" cy="32004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chart.png">    </p:cNvPr>
          <p:cNvPicPr>
            <a:picLocks noChangeAspect="1"/>
          </p:cNvPicPr>
          <p:nvPr/>
        </p:nvPicPr>
        <p:blipFill>
          <a:blip r:embed="rId2"/>
          <a:stretch>
            <a:fillRect/>
          </a:stretch>
        </p:blipFill>
        <p:spPr>
          <a:xfrm>
            <a:off x="3380537" y="820217"/>
            <a:ext cx="179222" cy="179222"/>
          </a:xfrm>
          <a:prstGeom prst="rect">
            <a:avLst/>
          </a:prstGeom>
        </p:spPr>
      </p:pic>
      <p:sp>
        <p:nvSpPr>
          <p:cNvPr id="14" name="Text 10"/>
          <p:cNvSpPr/>
          <p:nvPr/>
        </p:nvSpPr>
        <p:spPr>
          <a:xfrm>
            <a:off x="3703320" y="731520"/>
            <a:ext cx="4846320" cy="54864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AI-powered data visualization transforms financial reporting from static tables into interactive, insight-driven experiences</a:t>
            </a:r>
            <a:endParaRPr lang="en-US" sz="1000" dirty="0"/>
          </a:p>
        </p:txBody>
      </p:sp>
      <p:sp>
        <p:nvSpPr>
          <p:cNvPr id="15" name="Shape 11"/>
          <p:cNvSpPr/>
          <p:nvPr/>
        </p:nvSpPr>
        <p:spPr>
          <a:xfrm>
            <a:off x="3200400" y="1463040"/>
            <a:ext cx="5486400" cy="731520"/>
          </a:xfrm>
          <a:prstGeom prst="rect">
            <a:avLst>
              <a:gd name="adj" fmla="val 7500"/>
            </a:avLst>
          </a:prstGeom>
          <a:solidFill>
            <a:srgbClr val="111D2E"/>
          </a:solidFill>
          <a:ln w="6350">
            <a:solidFill>
              <a:srgbClr val="0A1525"/>
            </a:solidFill>
            <a:prstDash val="solid"/>
          </a:ln>
        </p:spPr>
      </p:sp>
      <p:sp>
        <p:nvSpPr>
          <p:cNvPr id="16" name="Shape 12"/>
          <p:cNvSpPr/>
          <p:nvPr/>
        </p:nvSpPr>
        <p:spPr>
          <a:xfrm>
            <a:off x="3310128" y="1572768"/>
            <a:ext cx="320040" cy="320040"/>
          </a:xfrm>
          <a:prstGeom prst="ellipse">
            <a:avLst/>
          </a:prstGeom>
          <a:solidFill>
            <a:srgbClr val="5391D5">
              <a:alpha val="20000"/>
            </a:srgbClr>
          </a:solidFill>
          <a:ln w="9525">
            <a:solidFill>
              <a:srgbClr val="5391D5"/>
            </a:solidFill>
            <a:prstDash val="solid"/>
          </a:ln>
        </p:spPr>
      </p:sp>
      <p:pic>
        <p:nvPicPr>
          <p:cNvPr id="17" name="Image 2" descr="C:\Users\AimanSadeq\OneDrive - Virginia Institute of Finance\VIFM eLearning Portal\vifm-elearning\scripts\lesson-generator\assets\icons\search.png">    </p:cNvPr>
          <p:cNvPicPr>
            <a:picLocks noChangeAspect="1"/>
          </p:cNvPicPr>
          <p:nvPr/>
        </p:nvPicPr>
        <p:blipFill>
          <a:blip r:embed="rId3"/>
          <a:stretch>
            <a:fillRect/>
          </a:stretch>
        </p:blipFill>
        <p:spPr>
          <a:xfrm>
            <a:off x="3380537" y="1643177"/>
            <a:ext cx="179222" cy="179222"/>
          </a:xfrm>
          <a:prstGeom prst="rect">
            <a:avLst/>
          </a:prstGeom>
        </p:spPr>
      </p:pic>
      <p:sp>
        <p:nvSpPr>
          <p:cNvPr id="18" name="Text 13"/>
          <p:cNvSpPr/>
          <p:nvPr/>
        </p:nvSpPr>
        <p:spPr>
          <a:xfrm>
            <a:off x="3703320" y="1554480"/>
            <a:ext cx="4846320" cy="54864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Descriptive analytics provides the historical baselines essential for understanding past performance and enabling predictions</a:t>
            </a:r>
            <a:endParaRPr lang="en-US" sz="1000" dirty="0"/>
          </a:p>
        </p:txBody>
      </p:sp>
      <p:sp>
        <p:nvSpPr>
          <p:cNvPr id="19" name="Shape 14"/>
          <p:cNvSpPr/>
          <p:nvPr/>
        </p:nvSpPr>
        <p:spPr>
          <a:xfrm>
            <a:off x="3200400" y="2286000"/>
            <a:ext cx="5486400" cy="731520"/>
          </a:xfrm>
          <a:prstGeom prst="rect">
            <a:avLst>
              <a:gd name="adj" fmla="val 7500"/>
            </a:avLst>
          </a:prstGeom>
          <a:solidFill>
            <a:srgbClr val="111D2E"/>
          </a:solidFill>
          <a:ln w="6350">
            <a:solidFill>
              <a:srgbClr val="0A1525"/>
            </a:solidFill>
            <a:prstDash val="solid"/>
          </a:ln>
        </p:spPr>
      </p:sp>
      <p:sp>
        <p:nvSpPr>
          <p:cNvPr id="20" name="Shape 15"/>
          <p:cNvSpPr/>
          <p:nvPr/>
        </p:nvSpPr>
        <p:spPr>
          <a:xfrm>
            <a:off x="3310128" y="2395728"/>
            <a:ext cx="320040" cy="320040"/>
          </a:xfrm>
          <a:prstGeom prst="ellipse">
            <a:avLst/>
          </a:prstGeom>
          <a:solidFill>
            <a:srgbClr val="5391D5">
              <a:alpha val="20000"/>
            </a:srgbClr>
          </a:solidFill>
          <a:ln w="9525">
            <a:solidFill>
              <a:srgbClr val="5391D5"/>
            </a:solidFill>
            <a:prstDash val="solid"/>
          </a:ln>
        </p:spPr>
      </p:sp>
      <p:pic>
        <p:nvPicPr>
          <p:cNvPr id="21" name="Image 3" descr="C:\Users\AimanSadeq\OneDrive - Virginia Institute of Finance\VIFM eLearning Portal\vifm-elearning\scripts\lesson-generator\assets\icons\crystal.png">    </p:cNvPr>
          <p:cNvPicPr>
            <a:picLocks noChangeAspect="1"/>
          </p:cNvPicPr>
          <p:nvPr/>
        </p:nvPicPr>
        <p:blipFill>
          <a:blip r:embed="rId4"/>
          <a:stretch>
            <a:fillRect/>
          </a:stretch>
        </p:blipFill>
        <p:spPr>
          <a:xfrm>
            <a:off x="3380537" y="2466137"/>
            <a:ext cx="179222" cy="179222"/>
          </a:xfrm>
          <a:prstGeom prst="rect">
            <a:avLst/>
          </a:prstGeom>
        </p:spPr>
      </p:pic>
      <p:sp>
        <p:nvSpPr>
          <p:cNvPr id="22" name="Text 16"/>
          <p:cNvSpPr/>
          <p:nvPr/>
        </p:nvSpPr>
        <p:spPr>
          <a:xfrm>
            <a:off x="3703320" y="2377440"/>
            <a:ext cx="4846320" cy="54864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Predictive models including regression, time series, and classification extend finance from hindsight to foresight</a:t>
            </a:r>
            <a:endParaRPr lang="en-US" sz="1000" dirty="0"/>
          </a:p>
        </p:txBody>
      </p:sp>
      <p:sp>
        <p:nvSpPr>
          <p:cNvPr id="23" name="Shape 17"/>
          <p:cNvSpPr/>
          <p:nvPr/>
        </p:nvSpPr>
        <p:spPr>
          <a:xfrm>
            <a:off x="3200400" y="3108960"/>
            <a:ext cx="5486400" cy="731520"/>
          </a:xfrm>
          <a:prstGeom prst="rect">
            <a:avLst>
              <a:gd name="adj" fmla="val 7500"/>
            </a:avLst>
          </a:prstGeom>
          <a:solidFill>
            <a:srgbClr val="111D2E"/>
          </a:solidFill>
          <a:ln w="6350">
            <a:solidFill>
              <a:srgbClr val="0A1525"/>
            </a:solidFill>
            <a:prstDash val="solid"/>
          </a:ln>
        </p:spPr>
      </p:sp>
      <p:sp>
        <p:nvSpPr>
          <p:cNvPr id="24" name="Shape 18"/>
          <p:cNvSpPr/>
          <p:nvPr/>
        </p:nvSpPr>
        <p:spPr>
          <a:xfrm>
            <a:off x="3310128" y="3218688"/>
            <a:ext cx="320040" cy="320040"/>
          </a:xfrm>
          <a:prstGeom prst="ellipse">
            <a:avLst/>
          </a:prstGeom>
          <a:solidFill>
            <a:srgbClr val="5391D5">
              <a:alpha val="20000"/>
            </a:srgbClr>
          </a:solidFill>
          <a:ln w="9525">
            <a:solidFill>
              <a:srgbClr val="5391D5"/>
            </a:solidFill>
            <a:prstDash val="solid"/>
          </a:ln>
        </p:spPr>
      </p:sp>
      <p:pic>
        <p:nvPicPr>
          <p:cNvPr id="25" name="Image 4" descr="C:\Users\AimanSadeq\OneDrive - Virginia Institute of Finance\VIFM eLearning Portal\vifm-elearning\scripts\lesson-generator\assets\icons\building.png">    </p:cNvPr>
          <p:cNvPicPr>
            <a:picLocks noChangeAspect="1"/>
          </p:cNvPicPr>
          <p:nvPr/>
        </p:nvPicPr>
        <p:blipFill>
          <a:blip r:embed="rId5"/>
          <a:stretch>
            <a:fillRect/>
          </a:stretch>
        </p:blipFill>
        <p:spPr>
          <a:xfrm>
            <a:off x="3380537" y="3289097"/>
            <a:ext cx="179222" cy="179222"/>
          </a:xfrm>
          <a:prstGeom prst="rect">
            <a:avLst/>
          </a:prstGeom>
        </p:spPr>
      </p:pic>
      <p:sp>
        <p:nvSpPr>
          <p:cNvPr id="26" name="Text 19"/>
          <p:cNvSpPr/>
          <p:nvPr/>
        </p:nvSpPr>
        <p:spPr>
          <a:xfrm>
            <a:off x="3703320" y="3200400"/>
            <a:ext cx="4846320" cy="54864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Dashboard architecture must span five layers from data integration through action and workflow</a:t>
            </a:r>
            <a:endParaRPr lang="en-US" sz="1000" dirty="0"/>
          </a:p>
        </p:txBody>
      </p:sp>
      <p:sp>
        <p:nvSpPr>
          <p:cNvPr id="27" name="Shape 20"/>
          <p:cNvSpPr/>
          <p:nvPr/>
        </p:nvSpPr>
        <p:spPr>
          <a:xfrm>
            <a:off x="3200400" y="3931920"/>
            <a:ext cx="5486400" cy="731520"/>
          </a:xfrm>
          <a:prstGeom prst="rect">
            <a:avLst>
              <a:gd name="adj" fmla="val 7500"/>
            </a:avLst>
          </a:prstGeom>
          <a:solidFill>
            <a:srgbClr val="111D2E"/>
          </a:solidFill>
          <a:ln w="6350">
            <a:solidFill>
              <a:srgbClr val="0A1525"/>
            </a:solidFill>
            <a:prstDash val="solid"/>
          </a:ln>
        </p:spPr>
      </p:sp>
      <p:sp>
        <p:nvSpPr>
          <p:cNvPr id="28" name="Shape 21"/>
          <p:cNvSpPr/>
          <p:nvPr/>
        </p:nvSpPr>
        <p:spPr>
          <a:xfrm>
            <a:off x="3310128" y="4041648"/>
            <a:ext cx="320040" cy="320040"/>
          </a:xfrm>
          <a:prstGeom prst="ellipse">
            <a:avLst/>
          </a:prstGeom>
          <a:solidFill>
            <a:srgbClr val="5391D5">
              <a:alpha val="20000"/>
            </a:srgbClr>
          </a:solidFill>
          <a:ln w="9525">
            <a:solidFill>
              <a:srgbClr val="5391D5"/>
            </a:solidFill>
            <a:prstDash val="solid"/>
          </a:ln>
        </p:spPr>
      </p:sp>
      <p:pic>
        <p:nvPicPr>
          <p:cNvPr id="29" name="Image 5" descr="C:\Users\AimanSadeq\OneDrive - Virginia Institute of Finance\VIFM eLearning Portal\vifm-elearning\scripts\lesson-generator\assets\icons\people.png">    </p:cNvPr>
          <p:cNvPicPr>
            <a:picLocks noChangeAspect="1"/>
          </p:cNvPicPr>
          <p:nvPr/>
        </p:nvPicPr>
        <p:blipFill>
          <a:blip r:embed="rId6"/>
          <a:stretch>
            <a:fillRect/>
          </a:stretch>
        </p:blipFill>
        <p:spPr>
          <a:xfrm>
            <a:off x="3380537" y="4112057"/>
            <a:ext cx="179222" cy="179222"/>
          </a:xfrm>
          <a:prstGeom prst="rect">
            <a:avLst/>
          </a:prstGeom>
        </p:spPr>
      </p:pic>
      <p:sp>
        <p:nvSpPr>
          <p:cNvPr id="30" name="Text 22"/>
          <p:cNvSpPr/>
          <p:nvPr/>
        </p:nvSpPr>
        <p:spPr>
          <a:xfrm>
            <a:off x="3703320" y="4023360"/>
            <a:ext cx="4846320" cy="54864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Adoption hinges on executive sponsorship, role-based training, legacy retirement, and continuous feedback</a:t>
            </a:r>
            <a:endParaRPr lang="en-US" sz="1000" dirty="0"/>
          </a:p>
        </p:txBody>
      </p:sp>
      <p:sp>
        <p:nvSpPr>
          <p:cNvPr id="32" name="Text 23"/>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lIns="0" tIns="0" rIns="0" bIns="0" rtlCol="0" anchor="ctr"/>
          <a:lstStyle/>
          <a:p>
            <a:pPr algn="ctr" indent="0" marL="0">
              <a:buNone/>
            </a:pPr>
            <a:r>
              <a:rPr lang="en-US" sz="3000" b="1" dirty="0">
                <a:solidFill>
                  <a:srgbClr val="F5F0E8"/>
                </a:solidFill>
                <a:latin typeface="Arial" pitchFamily="34" charset="0"/>
                <a:ea typeface="Arial" pitchFamily="34" charset="-122"/>
                <a:cs typeface="Arial" pitchFamily="34" charset="-120"/>
              </a:rPr>
              <a:t>Lesson Complete</a:t>
            </a:r>
            <a:endParaRPr lang="en-US" sz="3000" dirty="0"/>
          </a:p>
        </p:txBody>
      </p:sp>
      <p:sp>
        <p:nvSpPr>
          <p:cNvPr id="3" name="Shape 1"/>
          <p:cNvSpPr/>
          <p:nvPr/>
        </p:nvSpPr>
        <p:spPr>
          <a:xfrm>
            <a:off x="3200400" y="2286000"/>
            <a:ext cx="2743200" cy="0"/>
          </a:xfrm>
          <a:prstGeom prst="line">
            <a:avLst/>
          </a:prstGeom>
          <a:noFill/>
          <a:ln w="12700">
            <a:solidFill>
              <a:srgbClr val="5391D5"/>
            </a:solidFill>
            <a:prstDash val="solid"/>
          </a:ln>
        </p:spPr>
      </p:sp>
      <p:sp>
        <p:nvSpPr>
          <p:cNvPr id="4" name="Text 2"/>
          <p:cNvSpPr/>
          <p:nvPr/>
        </p:nvSpPr>
        <p:spPr>
          <a:xfrm>
            <a:off x="914400" y="2560320"/>
            <a:ext cx="7315200" cy="274320"/>
          </a:xfrm>
          <a:prstGeom prst="rect">
            <a:avLst/>
          </a:prstGeom>
          <a:noFill/>
          <a:ln/>
        </p:spPr>
        <p:txBody>
          <a:bodyPr wrap="square" lIns="0" tIns="0" rIns="0" bIns="0" rtlCol="0" anchor="ctr"/>
          <a:lstStyle/>
          <a:p>
            <a:pPr algn="ctr" indent="0" marL="0">
              <a:buNone/>
            </a:pPr>
            <a:r>
              <a:rPr lang="en-US" sz="1000" spc="300" kern="0" dirty="0">
                <a:solidFill>
                  <a:srgbClr val="5391D5"/>
                </a:solidFill>
                <a:latin typeface="Arial" pitchFamily="34" charset="0"/>
                <a:ea typeface="Arial" pitchFamily="34" charset="-122"/>
                <a:cs typeface="Arial" pitchFamily="34" charset="-120"/>
              </a:rPr>
              <a:t>UP NEXT</a:t>
            </a:r>
            <a:endParaRPr lang="en-US" sz="1000" dirty="0"/>
          </a:p>
        </p:txBody>
      </p:sp>
      <p:sp>
        <p:nvSpPr>
          <p:cNvPr id="5" name="Text 3"/>
          <p:cNvSpPr/>
          <p:nvPr/>
        </p:nvSpPr>
        <p:spPr>
          <a:xfrm>
            <a:off x="914400" y="2926080"/>
            <a:ext cx="7315200" cy="45720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Module 3: AI in Risk Management</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sp>
        <p:nvSpPr>
          <p:cNvPr id="9"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AI Finance Leader</dc:title>
  <dc:subject>PptxGenJS Presentation</dc:subject>
  <dc:creator>Virginia Institute of Finance and Management</dc:creator>
  <cp:lastModifiedBy>Virginia Institute of Finance and Management</cp:lastModifiedBy>
  <cp:revision>1</cp:revision>
  <dcterms:created xsi:type="dcterms:W3CDTF">2026-03-04T22:22:46Z</dcterms:created>
  <dcterms:modified xsi:type="dcterms:W3CDTF">2026-03-04T22:22:46Z</dcterms:modified>
</cp:coreProperties>
</file>