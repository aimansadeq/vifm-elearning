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263DA-7F54-4591-8737-0C200308C2D6}" v="30" dt="2026-03-04T22:23:51.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2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man Sadeq" userId="4a7fc818-1355-41f1-9bbc-5ac22ba7de0c" providerId="ADAL" clId="{C80A7EA4-799C-4AD2-9D6B-A73E965B232D}"/>
    <pc:docChg chg="modSld">
      <pc:chgData name="Aiman Sadeq" userId="4a7fc818-1355-41f1-9bbc-5ac22ba7de0c" providerId="ADAL" clId="{C80A7EA4-799C-4AD2-9D6B-A73E965B232D}" dt="2026-03-04T22:23:51.163" v="29"/>
      <pc:docMkLst>
        <pc:docMk/>
      </pc:docMkLst>
      <pc:sldChg chg="modAnim">
        <pc:chgData name="Aiman Sadeq" userId="4a7fc818-1355-41f1-9bbc-5ac22ba7de0c" providerId="ADAL" clId="{C80A7EA4-799C-4AD2-9D6B-A73E965B232D}" dt="2026-03-04T22:23:50.702" v="2"/>
        <pc:sldMkLst>
          <pc:docMk/>
          <pc:sldMk cId="0" sldId="256"/>
        </pc:sldMkLst>
      </pc:sldChg>
      <pc:sldChg chg="modAnim">
        <pc:chgData name="Aiman Sadeq" userId="4a7fc818-1355-41f1-9bbc-5ac22ba7de0c" providerId="ADAL" clId="{C80A7EA4-799C-4AD2-9D6B-A73E965B232D}" dt="2026-03-04T22:23:50.746" v="5"/>
        <pc:sldMkLst>
          <pc:docMk/>
          <pc:sldMk cId="0" sldId="257"/>
        </pc:sldMkLst>
      </pc:sldChg>
      <pc:sldChg chg="modAnim">
        <pc:chgData name="Aiman Sadeq" userId="4a7fc818-1355-41f1-9bbc-5ac22ba7de0c" providerId="ADAL" clId="{C80A7EA4-799C-4AD2-9D6B-A73E965B232D}" dt="2026-03-04T22:23:50.805" v="8"/>
        <pc:sldMkLst>
          <pc:docMk/>
          <pc:sldMk cId="0" sldId="258"/>
        </pc:sldMkLst>
      </pc:sldChg>
      <pc:sldChg chg="modAnim">
        <pc:chgData name="Aiman Sadeq" userId="4a7fc818-1355-41f1-9bbc-5ac22ba7de0c" providerId="ADAL" clId="{C80A7EA4-799C-4AD2-9D6B-A73E965B232D}" dt="2026-03-04T22:23:50.870" v="11"/>
        <pc:sldMkLst>
          <pc:docMk/>
          <pc:sldMk cId="0" sldId="259"/>
        </pc:sldMkLst>
      </pc:sldChg>
      <pc:sldChg chg="modAnim">
        <pc:chgData name="Aiman Sadeq" userId="4a7fc818-1355-41f1-9bbc-5ac22ba7de0c" providerId="ADAL" clId="{C80A7EA4-799C-4AD2-9D6B-A73E965B232D}" dt="2026-03-04T22:23:50.915" v="14"/>
        <pc:sldMkLst>
          <pc:docMk/>
          <pc:sldMk cId="0" sldId="260"/>
        </pc:sldMkLst>
      </pc:sldChg>
      <pc:sldChg chg="modAnim">
        <pc:chgData name="Aiman Sadeq" userId="4a7fc818-1355-41f1-9bbc-5ac22ba7de0c" providerId="ADAL" clId="{C80A7EA4-799C-4AD2-9D6B-A73E965B232D}" dt="2026-03-04T22:23:50.965" v="17"/>
        <pc:sldMkLst>
          <pc:docMk/>
          <pc:sldMk cId="0" sldId="261"/>
        </pc:sldMkLst>
      </pc:sldChg>
      <pc:sldChg chg="modAnim">
        <pc:chgData name="Aiman Sadeq" userId="4a7fc818-1355-41f1-9bbc-5ac22ba7de0c" providerId="ADAL" clId="{C80A7EA4-799C-4AD2-9D6B-A73E965B232D}" dt="2026-03-04T22:23:51.012" v="20"/>
        <pc:sldMkLst>
          <pc:docMk/>
          <pc:sldMk cId="0" sldId="262"/>
        </pc:sldMkLst>
      </pc:sldChg>
      <pc:sldChg chg="modAnim">
        <pc:chgData name="Aiman Sadeq" userId="4a7fc818-1355-41f1-9bbc-5ac22ba7de0c" providerId="ADAL" clId="{C80A7EA4-799C-4AD2-9D6B-A73E965B232D}" dt="2026-03-04T22:23:51.107" v="23"/>
        <pc:sldMkLst>
          <pc:docMk/>
          <pc:sldMk cId="0" sldId="263"/>
        </pc:sldMkLst>
      </pc:sldChg>
      <pc:sldChg chg="modAnim">
        <pc:chgData name="Aiman Sadeq" userId="4a7fc818-1355-41f1-9bbc-5ac22ba7de0c" providerId="ADAL" clId="{C80A7EA4-799C-4AD2-9D6B-A73E965B232D}" dt="2026-03-04T22:23:51.145" v="26"/>
        <pc:sldMkLst>
          <pc:docMk/>
          <pc:sldMk cId="0" sldId="264"/>
        </pc:sldMkLst>
      </pc:sldChg>
      <pc:sldChg chg="modAnim">
        <pc:chgData name="Aiman Sadeq" userId="4a7fc818-1355-41f1-9bbc-5ac22ba7de0c" providerId="ADAL" clId="{C80A7EA4-799C-4AD2-9D6B-A73E965B232D}" dt="2026-03-04T22:23:51.163" v="29"/>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9880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Two of Module Two in the Certified AI Finance Leader program. In this lesson, we turn our attention to descriptive analytics, the practice of systematically examining what has already happened in your financial data. While predictive analytics gets much of the attention today, it is worth remembering that you cannot predict the future well if you do not understand the past. Descriptive analytics provides the baseline from which all forward-looking analysis begins. We will cover the key techniques, walk through financial statement analysis, and show you how to build the performance baselines that your predictive models will later depend upon.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Two: Descriptive Analytics for Historical Performance. This lesson is structured in four parts. First, we will define what descriptive analytics is and clarify where it sits in the analytics maturity spectrum. Second, we will work through the three core techniques: trend analysis, variance decomposition, and cohort analysis. Third, we will apply these techniques to financial statement analysis. And fourth, we will discuss how to build performance baselines that serve as the foundation for all future predictive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techniques, let us establish a clear vocabulary. The analytics maturity spectrum has four levels. Descriptive analytics answers the question: what happened? It summarizes historical data through aggregation, visualization, and basic statistical measures. Diagnostic analytics goes one step further, answering why it happened by drilling into root causes using correlation analysis and hypothesis testing. Predictive analytics, which we will cover in Lesson Three, answers what will happen by building statistical and machine learning models that forecast future outcomes. And at the top is prescriptive analytics, which answers what should we do by recommending optimal actions through optimization and simulation. Most finance organizations today are strong in descriptive analytics but are still maturing in the other three areas. This lesson will ensure your descriptive foundation is rock solid.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 analytics follows a cyclical process. It begins with data collection, where you gather financial data from your ERP system, general ledger, CRM, and external sources. Next comes data cleaning, which is often the most time-consuming step. You need to standardize formats, handle missing values, and reconcile discrepancies between systems. Then aggregation, where you compute totals, averages, and distributions sliced by time period, business segment, and legal entity. Visualization follows, turning those aggregated numbers into charts and dashboards that reveal patterns the eye can detect. Interpretation is where human judgment enters, identifying the trends, anomalies, and key takeaways. And finally, baseline setting, where you establish reference benchmarks that will be used for future comparison and as inputs to predictive models. This cycle repeats continuously. Each iteration should improve data quality and deepen your understanding of the business.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examine the three core techniques in detail. Trend analysis looks at financial metrics across sequential periods to identify direction and velocity. You can apply moving averages to smooth short-term volatility, calculate compound annual growth rates to measure long-term trajectories, and decompose time series into their trend, seasonal, and residual components. Variance decomposition is the workhorse of FP&amp;A. It breaks the gap between actual and budgeted results into components: price variance, volume variance, mix variance, and in manufacturing contexts, efficiency and spending variances. The power here is attribution. You are not just measuring the gap; you are explaining it. And cohort analysis groups entities like customers, products, or business units by a shared characteristic and tracks their behavior over time. This technique is indispensable for understanding customer lifetime value, revenue retention, and whether differences in performance are structural or simply timing-related.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applying descriptive analytics to financial statements, the approach you choose depends on two dimensions: whether you are analyzing a single period or multiple periods, and whether you are working at the component level or the aggregate level. For single-period component analysis, common-size statements express every line as a percentage of revenue or total assets, making structural comparison easy. For multi-period component analysis, horizontal or trend analysis computes year-over-year growth rates, CAGR, and indexed comparisons. At the aggregate level, single-period ratio analysis covers liquidity, profitability, and leverage ratios. And for the most comprehensive multi-period aggregate view, DuPont decomposition breaks return on equity into its component drivers of margin, asset turnover, and financial leverage, then tracks each across time. Master these four lenses and you can extract insight from any set of financial statements.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performance baselines is one of the most important outputs of descriptive analytics, because these baselines become the foundation for predictive models and anomaly detection. The first step is defining what you are measuring and over what time period. Select five to ten KPIs per business unit that are controllable, measurable, and tied to strategic goals. Your historical window should cover three to five years, enough to see full business cycles and seasonal patterns. Critically, you need to adjust for one-time items, restatements, and structural changes like acquisitions that would distort the baseline. Then compute statistical baselines: not just the mean, but the median, standard deviation, and percentile ranges so you understand the full distribution of performance. And document every assumption and exclusion you make, so the baseline is auditable and reproducible.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value of descriptive analytics is well documented. According to Deloitte's CFO Signals Survey, forty-nine percent of finance teams identify descriptive analytics as their most-used analytical capability, making it the foundation upon which all other analytics are built. Accenture's Finance Operations Report found that organizations with automated descriptive analytics achieve a monthly close that is two and a half times faster than those still relying on manual processes. And McKinsey's Global Institute estimates that large enterprises save an average of four point two million dollars annually by eliminating manual data aggregation and standardizing descriptive reporting. These are not aspirational numbers. They represent the current state of best practice in finance operations.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summarize the key takeaways from this lesson. Descriptive analytics answers the question what happened, and it forms the foundation upon which diagnostic, predictive, and prescriptive analytics are built. The three core techniques you should master are trend analysis for identifying direction and velocity, variance decomposition for attributing gaps to actionable drivers, and cohort analysis for understanding behavioral patterns over time. Financial statement analysis can be structured around four complementary lenses: common-size, horizontal, ratio, and DuPont decomposition. And building robust performance baselines requires a three to five year window, adjustments for one-time items, and careful documentation of all assumptions. In the next lesson, we will build on this foundation and move into predictive modeling for financial KPIs.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Lesson Two on Descriptive Analytics for Historical Performance. You now have a thorough grounding in the techniques and frameworks that turn historical data into structured insight. Up next is Lesson Three, where we will explore predictive models: regression analysis, time series forecasting, classification for credit risk, and the critical topic of model validation. This is where analytics shifts from looking backward to looking forward. See you there.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FM_CONTENT">
    <p:bg>
      <p:bgPr>
        <a:solidFill>
          <a:srgbClr val="060A1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FM_TITLE">
    <p:bg>
      <p:bgPr>
        <a:solidFill>
          <a:srgbClr val="060A1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png"/><Relationship Id="rId10" Type="http://schemas.openxmlformats.org/officeDocument/2006/relationships/image" Target="../media/image2.png"/><Relationship Id="rId4" Type="http://schemas.openxmlformats.org/officeDocument/2006/relationships/notesSlide" Target="../notesSlides/notesSlide9.xm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lIns="0" tIns="0" rIns="0" bIns="0" rtlCol="0" anchor="ctr"/>
          <a:lstStyle/>
          <a:p>
            <a:pPr marL="0" indent="0" algn="ctr">
              <a:buNone/>
            </a:pPr>
            <a:r>
              <a:rPr lang="en-US" sz="1400" kern="0" spc="400" dirty="0">
                <a:solidFill>
                  <a:srgbClr val="5391D5"/>
                </a:solidFill>
                <a:latin typeface="Arial" pitchFamily="34" charset="0"/>
                <a:ea typeface="Arial" pitchFamily="34" charset="-122"/>
                <a:cs typeface="Arial" pitchFamily="34" charset="-120"/>
              </a:rPr>
              <a:t>CAIFL</a:t>
            </a:r>
            <a:endParaRPr lang="en-US" sz="1400" dirty="0"/>
          </a:p>
        </p:txBody>
      </p:sp>
      <p:sp>
        <p:nvSpPr>
          <p:cNvPr id="3" name="Text 1"/>
          <p:cNvSpPr/>
          <p:nvPr/>
        </p:nvSpPr>
        <p:spPr>
          <a:xfrm>
            <a:off x="457200" y="1371600"/>
            <a:ext cx="8229600" cy="914400"/>
          </a:xfrm>
          <a:prstGeom prst="rect">
            <a:avLst/>
          </a:prstGeom>
          <a:noFill/>
          <a:ln/>
        </p:spPr>
        <p:txBody>
          <a:bodyPr wrap="square" lIns="0" tIns="0" rIns="0" bIns="0" rtlCol="0" anchor="ctr"/>
          <a:lstStyle/>
          <a:p>
            <a:pPr marL="0" indent="0" algn="ctr">
              <a:buNone/>
            </a:pPr>
            <a:r>
              <a:rPr lang="en-US" sz="3200" b="1" dirty="0">
                <a:solidFill>
                  <a:srgbClr val="F5F0E8"/>
                </a:solidFill>
                <a:latin typeface="Arial" pitchFamily="34" charset="0"/>
                <a:ea typeface="Arial" pitchFamily="34" charset="-122"/>
                <a:cs typeface="Arial" pitchFamily="34" charset="-120"/>
              </a:rPr>
              <a:t>Certified AI Finance Leader</a:t>
            </a:r>
            <a:endParaRPr lang="en-US" sz="3200" dirty="0"/>
          </a:p>
        </p:txBody>
      </p:sp>
      <p:sp>
        <p:nvSpPr>
          <p:cNvPr id="4" name="Text 2"/>
          <p:cNvSpPr/>
          <p:nvPr/>
        </p:nvSpPr>
        <p:spPr>
          <a:xfrm>
            <a:off x="914400" y="2377440"/>
            <a:ext cx="7315200" cy="548640"/>
          </a:xfrm>
          <a:prstGeom prst="rect">
            <a:avLst/>
          </a:prstGeom>
          <a:noFill/>
          <a:ln/>
        </p:spPr>
        <p:txBody>
          <a:bodyPr wrap="square" lIns="0" tIns="0" rIns="0" bIns="0" rtlCol="0" anchor="ctr"/>
          <a:lstStyle/>
          <a:p>
            <a:pPr marL="0" indent="0" algn="ctr">
              <a:buNone/>
            </a:pPr>
            <a:r>
              <a:rPr lang="en-US" sz="1400" dirty="0">
                <a:solidFill>
                  <a:srgbClr val="8A9BB5"/>
                </a:solidFill>
                <a:latin typeface="Arial" pitchFamily="34" charset="0"/>
                <a:ea typeface="Arial" pitchFamily="34" charset="-122"/>
                <a:cs typeface="Arial" pitchFamily="34" charset="-120"/>
              </a:rPr>
              <a:t>Descriptive &amp; Predictive Analytics for Finance</a:t>
            </a:r>
            <a:endParaRPr lang="en-US" sz="1400" dirty="0"/>
          </a:p>
        </p:txBody>
      </p:sp>
      <p:sp>
        <p:nvSpPr>
          <p:cNvPr id="5" name="Text 3"/>
          <p:cNvSpPr/>
          <p:nvPr/>
        </p:nvSpPr>
        <p:spPr>
          <a:xfrm>
            <a:off x="914400" y="3108960"/>
            <a:ext cx="7315200" cy="365760"/>
          </a:xfrm>
          <a:prstGeom prst="rect">
            <a:avLst/>
          </a:prstGeom>
          <a:noFill/>
          <a:ln/>
        </p:spPr>
        <p:txBody>
          <a:bodyPr wrap="square" lIns="0" tIns="0" rIns="0" bIns="0" rtlCol="0" anchor="ctr"/>
          <a:lstStyle/>
          <a:p>
            <a:pPr marL="0" indent="0" algn="ctr">
              <a:buNone/>
            </a:pPr>
            <a:r>
              <a:rPr lang="en-US" sz="1200" dirty="0">
                <a:solidFill>
                  <a:srgbClr val="5391D5"/>
                </a:solidFill>
                <a:latin typeface="Arial" pitchFamily="34" charset="0"/>
                <a:ea typeface="Arial" pitchFamily="34" charset="-122"/>
                <a:cs typeface="Arial" pitchFamily="34" charset="-120"/>
              </a:rPr>
              <a:t>Lesson 02</a:t>
            </a:r>
            <a:endParaRPr lang="en-US" sz="1200" dirty="0"/>
          </a:p>
        </p:txBody>
      </p:sp>
      <p:sp>
        <p:nvSpPr>
          <p:cNvPr id="6" name="Shape 4"/>
          <p:cNvSpPr/>
          <p:nvPr/>
        </p:nvSpPr>
        <p:spPr>
          <a:xfrm>
            <a:off x="3200400" y="2926080"/>
            <a:ext cx="2743200" cy="0"/>
          </a:xfrm>
          <a:prstGeom prst="line">
            <a:avLst/>
          </a:prstGeom>
          <a:noFill/>
          <a:ln w="12700">
            <a:solidFill>
              <a:srgbClr val="5391D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pic>
        <p:nvPicPr>
          <p:cNvPr id="9"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1" name="Text 6"/>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1 / 10</a:t>
            </a:r>
            <a:endParaRPr lang="en-US" sz="800" dirty="0"/>
          </a:p>
        </p:txBody>
      </p:sp>
    </p:spTree>
  </p:cSld>
  <p:clrMapOvr>
    <a:masterClrMapping/>
  </p:clrMapOvr>
  <p:transition advClick="0" advTm="36109">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097280"/>
            <a:ext cx="8229600" cy="365760"/>
          </a:xfrm>
          <a:prstGeom prst="rect">
            <a:avLst/>
          </a:prstGeom>
          <a:noFill/>
          <a:ln/>
        </p:spPr>
        <p:txBody>
          <a:bodyPr wrap="square" lIns="0" tIns="0" rIns="0" bIns="0" rtlCol="0" anchor="ctr"/>
          <a:lstStyle/>
          <a:p>
            <a:pPr marL="0" indent="0" algn="ctr">
              <a:buNone/>
            </a:pPr>
            <a:r>
              <a:rPr lang="en-US" sz="1200" kern="0" spc="400" dirty="0">
                <a:solidFill>
                  <a:srgbClr val="5391D5"/>
                </a:solidFill>
                <a:latin typeface="Arial" pitchFamily="34" charset="0"/>
                <a:ea typeface="Arial" pitchFamily="34" charset="-122"/>
                <a:cs typeface="Arial" pitchFamily="34" charset="-120"/>
              </a:rPr>
              <a:t>MODULE 02</a:t>
            </a:r>
            <a:endParaRPr lang="en-US" sz="1200" dirty="0"/>
          </a:p>
        </p:txBody>
      </p:sp>
      <p:sp>
        <p:nvSpPr>
          <p:cNvPr id="3" name="Text 1"/>
          <p:cNvSpPr/>
          <p:nvPr/>
        </p:nvSpPr>
        <p:spPr>
          <a:xfrm>
            <a:off x="457200" y="1554480"/>
            <a:ext cx="8229600" cy="822960"/>
          </a:xfrm>
          <a:prstGeom prst="rect">
            <a:avLst/>
          </a:prstGeom>
          <a:noFill/>
          <a:ln/>
        </p:spPr>
        <p:txBody>
          <a:bodyPr wrap="square" lIns="0" tIns="0" rIns="0" bIns="0" rtlCol="0" anchor="ctr"/>
          <a:lstStyle/>
          <a:p>
            <a:pPr marL="0" indent="0" algn="ctr">
              <a:buNone/>
            </a:pPr>
            <a:r>
              <a:rPr lang="en-US" sz="2800" b="1" dirty="0">
                <a:solidFill>
                  <a:srgbClr val="F5F0E8"/>
                </a:solidFill>
                <a:latin typeface="Arial" pitchFamily="34" charset="0"/>
                <a:ea typeface="Arial" pitchFamily="34" charset="-122"/>
                <a:cs typeface="Arial" pitchFamily="34" charset="-120"/>
              </a:rPr>
              <a:t>Descriptive &amp; Predictive Analytics for Finance</a:t>
            </a:r>
            <a:endParaRPr lang="en-US" sz="2800" dirty="0"/>
          </a:p>
        </p:txBody>
      </p:sp>
      <p:sp>
        <p:nvSpPr>
          <p:cNvPr id="4" name="Shape 2"/>
          <p:cNvSpPr/>
          <p:nvPr/>
        </p:nvSpPr>
        <p:spPr>
          <a:xfrm>
            <a:off x="3200400" y="2560320"/>
            <a:ext cx="2743200" cy="0"/>
          </a:xfrm>
          <a:prstGeom prst="line">
            <a:avLst/>
          </a:prstGeom>
          <a:noFill/>
          <a:ln w="12700">
            <a:solidFill>
              <a:srgbClr val="5391D5"/>
            </a:solidFill>
            <a:prstDash val="solid"/>
          </a:ln>
        </p:spPr>
      </p:sp>
      <p:sp>
        <p:nvSpPr>
          <p:cNvPr id="5" name="Text 3"/>
          <p:cNvSpPr/>
          <p:nvPr/>
        </p:nvSpPr>
        <p:spPr>
          <a:xfrm>
            <a:off x="914400" y="2743200"/>
            <a:ext cx="7315200" cy="548640"/>
          </a:xfrm>
          <a:prstGeom prst="rect">
            <a:avLst/>
          </a:prstGeom>
          <a:noFill/>
          <a:ln/>
        </p:spPr>
        <p:txBody>
          <a:bodyPr wrap="square" lIns="0" tIns="0" rIns="0" bIns="0" rtlCol="0" anchor="ctr"/>
          <a:lstStyle/>
          <a:p>
            <a:pPr marL="0" indent="0" algn="ctr">
              <a:buNone/>
            </a:pPr>
            <a:r>
              <a:rPr lang="en-US" sz="1600" dirty="0">
                <a:solidFill>
                  <a:srgbClr val="8A9BB5"/>
                </a:solidFill>
                <a:latin typeface="Arial" pitchFamily="34" charset="0"/>
                <a:ea typeface="Arial" pitchFamily="34" charset="-122"/>
                <a:cs typeface="Arial" pitchFamily="34" charset="-120"/>
              </a:rPr>
              <a:t>Descriptive Analytics for Historical Performance</a:t>
            </a:r>
            <a:endParaRPr lang="en-US" sz="1600" dirty="0"/>
          </a:p>
        </p:txBody>
      </p:sp>
      <p:pic>
        <p:nvPicPr>
          <p:cNvPr id="6"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pic>
        <p:nvPicPr>
          <p:cNvPr id="8"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2 / 10</a:t>
            </a:r>
            <a:endParaRPr lang="en-US" sz="800" dirty="0"/>
          </a:p>
        </p:txBody>
      </p:sp>
    </p:spTree>
  </p:cSld>
  <p:clrMapOvr>
    <a:masterClrMapping/>
  </p:clrMapOvr>
  <p:transition advClick="0" advTm="35717">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02 &gt; Descriptive Analytics for Historical Performance</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DEFINITIONS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The </a:t>
            </a:r>
            <a:r>
              <a:rPr lang="en-US" sz="2200" b="1" dirty="0">
                <a:solidFill>
                  <a:srgbClr val="5391D5"/>
                </a:solidFill>
                <a:latin typeface="Arial" pitchFamily="34" charset="0"/>
                <a:ea typeface="Arial" pitchFamily="34" charset="-122"/>
                <a:cs typeface="Arial" pitchFamily="34" charset="-120"/>
              </a:rPr>
              <a:t>Analytics Maturity</a:t>
            </a:r>
            <a:r>
              <a:rPr lang="en-US" sz="2200" b="1" dirty="0">
                <a:solidFill>
                  <a:srgbClr val="F5F0E8"/>
                </a:solidFill>
                <a:latin typeface="Arial" pitchFamily="34" charset="0"/>
                <a:ea typeface="Arial" pitchFamily="34" charset="-122"/>
                <a:cs typeface="Arial" pitchFamily="34" charset="-120"/>
              </a:rPr>
              <a:t> Spectrum</a:t>
            </a:r>
            <a:endParaRPr lang="en-US" sz="2200" dirty="0"/>
          </a:p>
        </p:txBody>
      </p:sp>
      <p:sp>
        <p:nvSpPr>
          <p:cNvPr id="11" name="Shape 8"/>
          <p:cNvSpPr/>
          <p:nvPr/>
        </p:nvSpPr>
        <p:spPr>
          <a:xfrm>
            <a:off x="3200400" y="640080"/>
            <a:ext cx="2688336" cy="1737360"/>
          </a:xfrm>
          <a:prstGeom prst="rect">
            <a:avLst/>
          </a:prstGeom>
          <a:solidFill>
            <a:srgbClr val="111D2E"/>
          </a:solidFill>
          <a:ln w="6350">
            <a:solidFill>
              <a:srgbClr val="0A1525"/>
            </a:solidFill>
            <a:prstDash val="solid"/>
          </a:ln>
        </p:spPr>
      </p:sp>
      <p:sp>
        <p:nvSpPr>
          <p:cNvPr id="12" name="Text 9"/>
          <p:cNvSpPr/>
          <p:nvPr/>
        </p:nvSpPr>
        <p:spPr>
          <a:xfrm>
            <a:off x="3310128" y="731520"/>
            <a:ext cx="2468880" cy="274320"/>
          </a:xfrm>
          <a:prstGeom prst="rect">
            <a:avLst/>
          </a:prstGeom>
          <a:noFill/>
          <a:ln/>
        </p:spPr>
        <p:txBody>
          <a:bodyPr wrap="square" lIns="0" tIns="0" rIns="0" bIns="0" rtlCol="0" anchor="ctr"/>
          <a:lstStyle/>
          <a:p>
            <a:pPr marL="0" indent="0">
              <a:buNone/>
            </a:pPr>
            <a:r>
              <a:rPr lang="en-US" sz="1100" b="1" dirty="0">
                <a:solidFill>
                  <a:srgbClr val="5391D5"/>
                </a:solidFill>
                <a:latin typeface="Arial" pitchFamily="34" charset="0"/>
                <a:ea typeface="Arial" pitchFamily="34" charset="-122"/>
                <a:cs typeface="Arial" pitchFamily="34" charset="-120"/>
              </a:rPr>
              <a:t>Descriptive Analytics</a:t>
            </a:r>
            <a:endParaRPr lang="en-US" sz="1100" dirty="0"/>
          </a:p>
        </p:txBody>
      </p:sp>
      <p:sp>
        <p:nvSpPr>
          <p:cNvPr id="13" name="Text 10"/>
          <p:cNvSpPr/>
          <p:nvPr/>
        </p:nvSpPr>
        <p:spPr>
          <a:xfrm>
            <a:off x="3310128" y="1024128"/>
            <a:ext cx="2468880" cy="1261872"/>
          </a:xfrm>
          <a:prstGeom prst="rect">
            <a:avLst/>
          </a:prstGeom>
          <a:noFill/>
          <a:ln/>
        </p:spPr>
        <p:txBody>
          <a:bodyPr wrap="square" lIns="0" tIns="0" rIns="0" bIns="0" rtlCol="0" anchor="t"/>
          <a:lstStyle/>
          <a:p>
            <a:pPr marL="0" indent="0">
              <a:buNone/>
            </a:pPr>
            <a:r>
              <a:rPr lang="en-US" sz="900" dirty="0">
                <a:solidFill>
                  <a:srgbClr val="F5F0E8"/>
                </a:solidFill>
                <a:latin typeface="Arial" pitchFamily="34" charset="0"/>
                <a:ea typeface="Arial" pitchFamily="34" charset="-122"/>
                <a:cs typeface="Arial" pitchFamily="34" charset="-120"/>
              </a:rPr>
              <a:t>Answers 'What happened?' by summarizing historical data through aggregation, visualization, and statistical measures like mean, median, and standard deviation.</a:t>
            </a:r>
            <a:endParaRPr lang="en-US" sz="900" dirty="0"/>
          </a:p>
        </p:txBody>
      </p:sp>
      <p:sp>
        <p:nvSpPr>
          <p:cNvPr id="14" name="Shape 11"/>
          <p:cNvSpPr/>
          <p:nvPr/>
        </p:nvSpPr>
        <p:spPr>
          <a:xfrm>
            <a:off x="5998464" y="640080"/>
            <a:ext cx="2688336" cy="1737360"/>
          </a:xfrm>
          <a:prstGeom prst="rect">
            <a:avLst/>
          </a:prstGeom>
          <a:solidFill>
            <a:srgbClr val="111D2E"/>
          </a:solidFill>
          <a:ln w="6350">
            <a:solidFill>
              <a:srgbClr val="0A1525"/>
            </a:solidFill>
            <a:prstDash val="solid"/>
          </a:ln>
        </p:spPr>
      </p:sp>
      <p:sp>
        <p:nvSpPr>
          <p:cNvPr id="15" name="Text 12"/>
          <p:cNvSpPr/>
          <p:nvPr/>
        </p:nvSpPr>
        <p:spPr>
          <a:xfrm>
            <a:off x="6108192" y="731520"/>
            <a:ext cx="2468880" cy="274320"/>
          </a:xfrm>
          <a:prstGeom prst="rect">
            <a:avLst/>
          </a:prstGeom>
          <a:noFill/>
          <a:ln/>
        </p:spPr>
        <p:txBody>
          <a:bodyPr wrap="square" lIns="0" tIns="0" rIns="0" bIns="0" rtlCol="0" anchor="ctr"/>
          <a:lstStyle/>
          <a:p>
            <a:pPr marL="0" indent="0">
              <a:buNone/>
            </a:pPr>
            <a:r>
              <a:rPr lang="en-US" sz="1100" b="1" dirty="0">
                <a:solidFill>
                  <a:srgbClr val="5391D5"/>
                </a:solidFill>
                <a:latin typeface="Arial" pitchFamily="34" charset="0"/>
                <a:ea typeface="Arial" pitchFamily="34" charset="-122"/>
                <a:cs typeface="Arial" pitchFamily="34" charset="-120"/>
              </a:rPr>
              <a:t>Diagnostic Analytics</a:t>
            </a:r>
            <a:endParaRPr lang="en-US" sz="1100" dirty="0"/>
          </a:p>
        </p:txBody>
      </p:sp>
      <p:sp>
        <p:nvSpPr>
          <p:cNvPr id="16" name="Text 13"/>
          <p:cNvSpPr/>
          <p:nvPr/>
        </p:nvSpPr>
        <p:spPr>
          <a:xfrm>
            <a:off x="6108192" y="1024128"/>
            <a:ext cx="2468880" cy="1261872"/>
          </a:xfrm>
          <a:prstGeom prst="rect">
            <a:avLst/>
          </a:prstGeom>
          <a:noFill/>
          <a:ln/>
        </p:spPr>
        <p:txBody>
          <a:bodyPr wrap="square" lIns="0" tIns="0" rIns="0" bIns="0" rtlCol="0" anchor="t"/>
          <a:lstStyle/>
          <a:p>
            <a:pPr marL="0" indent="0">
              <a:buNone/>
            </a:pPr>
            <a:r>
              <a:rPr lang="en-US" sz="900" dirty="0">
                <a:solidFill>
                  <a:srgbClr val="F5F0E8"/>
                </a:solidFill>
                <a:latin typeface="Arial" pitchFamily="34" charset="0"/>
                <a:ea typeface="Arial" pitchFamily="34" charset="-122"/>
                <a:cs typeface="Arial" pitchFamily="34" charset="-120"/>
              </a:rPr>
              <a:t>Answers 'Why did it happen?' by drilling into data to identify root causes using correlation analysis, drill-down techniques, and hypothesis testing.</a:t>
            </a:r>
            <a:endParaRPr lang="en-US" sz="900" dirty="0"/>
          </a:p>
        </p:txBody>
      </p:sp>
      <p:sp>
        <p:nvSpPr>
          <p:cNvPr id="17" name="Shape 14"/>
          <p:cNvSpPr/>
          <p:nvPr/>
        </p:nvSpPr>
        <p:spPr>
          <a:xfrm>
            <a:off x="3200400" y="2487168"/>
            <a:ext cx="2688336" cy="1737360"/>
          </a:xfrm>
          <a:prstGeom prst="rect">
            <a:avLst/>
          </a:prstGeom>
          <a:solidFill>
            <a:srgbClr val="111D2E"/>
          </a:solidFill>
          <a:ln w="6350">
            <a:solidFill>
              <a:srgbClr val="0A1525"/>
            </a:solidFill>
            <a:prstDash val="solid"/>
          </a:ln>
        </p:spPr>
      </p:sp>
      <p:sp>
        <p:nvSpPr>
          <p:cNvPr id="18" name="Text 15"/>
          <p:cNvSpPr/>
          <p:nvPr/>
        </p:nvSpPr>
        <p:spPr>
          <a:xfrm>
            <a:off x="3310128" y="2578608"/>
            <a:ext cx="2468880" cy="274320"/>
          </a:xfrm>
          <a:prstGeom prst="rect">
            <a:avLst/>
          </a:prstGeom>
          <a:noFill/>
          <a:ln/>
        </p:spPr>
        <p:txBody>
          <a:bodyPr wrap="square" lIns="0" tIns="0" rIns="0" bIns="0" rtlCol="0" anchor="ctr"/>
          <a:lstStyle/>
          <a:p>
            <a:pPr marL="0" indent="0">
              <a:buNone/>
            </a:pPr>
            <a:r>
              <a:rPr lang="en-US" sz="1100" b="1" dirty="0">
                <a:solidFill>
                  <a:srgbClr val="5391D5"/>
                </a:solidFill>
                <a:latin typeface="Arial" pitchFamily="34" charset="0"/>
                <a:ea typeface="Arial" pitchFamily="34" charset="-122"/>
                <a:cs typeface="Arial" pitchFamily="34" charset="-120"/>
              </a:rPr>
              <a:t>Predictive Analytics</a:t>
            </a:r>
            <a:endParaRPr lang="en-US" sz="1100" dirty="0"/>
          </a:p>
        </p:txBody>
      </p:sp>
      <p:sp>
        <p:nvSpPr>
          <p:cNvPr id="19" name="Text 16"/>
          <p:cNvSpPr/>
          <p:nvPr/>
        </p:nvSpPr>
        <p:spPr>
          <a:xfrm>
            <a:off x="3310128" y="2871216"/>
            <a:ext cx="2468880" cy="1261872"/>
          </a:xfrm>
          <a:prstGeom prst="rect">
            <a:avLst/>
          </a:prstGeom>
          <a:noFill/>
          <a:ln/>
        </p:spPr>
        <p:txBody>
          <a:bodyPr wrap="square" lIns="0" tIns="0" rIns="0" bIns="0" rtlCol="0" anchor="t"/>
          <a:lstStyle/>
          <a:p>
            <a:pPr marL="0" indent="0">
              <a:buNone/>
            </a:pPr>
            <a:r>
              <a:rPr lang="en-US" sz="900" dirty="0">
                <a:solidFill>
                  <a:srgbClr val="F5F0E8"/>
                </a:solidFill>
                <a:latin typeface="Arial" pitchFamily="34" charset="0"/>
                <a:ea typeface="Arial" pitchFamily="34" charset="-122"/>
                <a:cs typeface="Arial" pitchFamily="34" charset="-120"/>
              </a:rPr>
              <a:t>Answers 'What will happen?' by applying statistical models and machine learning to historical data to forecast future outcomes and probabilities.</a:t>
            </a:r>
            <a:endParaRPr lang="en-US" sz="900" dirty="0"/>
          </a:p>
        </p:txBody>
      </p:sp>
      <p:sp>
        <p:nvSpPr>
          <p:cNvPr id="20" name="Shape 17"/>
          <p:cNvSpPr/>
          <p:nvPr/>
        </p:nvSpPr>
        <p:spPr>
          <a:xfrm>
            <a:off x="5998464" y="2487168"/>
            <a:ext cx="2688336" cy="1737360"/>
          </a:xfrm>
          <a:prstGeom prst="rect">
            <a:avLst/>
          </a:prstGeom>
          <a:solidFill>
            <a:srgbClr val="111D2E"/>
          </a:solidFill>
          <a:ln w="6350">
            <a:solidFill>
              <a:srgbClr val="0A1525"/>
            </a:solidFill>
            <a:prstDash val="solid"/>
          </a:ln>
        </p:spPr>
      </p:sp>
      <p:sp>
        <p:nvSpPr>
          <p:cNvPr id="21" name="Text 18"/>
          <p:cNvSpPr/>
          <p:nvPr/>
        </p:nvSpPr>
        <p:spPr>
          <a:xfrm>
            <a:off x="6108192" y="2578608"/>
            <a:ext cx="2468880" cy="274320"/>
          </a:xfrm>
          <a:prstGeom prst="rect">
            <a:avLst/>
          </a:prstGeom>
          <a:noFill/>
          <a:ln/>
        </p:spPr>
        <p:txBody>
          <a:bodyPr wrap="square" lIns="0" tIns="0" rIns="0" bIns="0" rtlCol="0" anchor="ctr"/>
          <a:lstStyle/>
          <a:p>
            <a:pPr marL="0" indent="0">
              <a:buNone/>
            </a:pPr>
            <a:r>
              <a:rPr lang="en-US" sz="1100" b="1" dirty="0">
                <a:solidFill>
                  <a:srgbClr val="5391D5"/>
                </a:solidFill>
                <a:latin typeface="Arial" pitchFamily="34" charset="0"/>
                <a:ea typeface="Arial" pitchFamily="34" charset="-122"/>
                <a:cs typeface="Arial" pitchFamily="34" charset="-120"/>
              </a:rPr>
              <a:t>Prescriptive Analytics</a:t>
            </a:r>
            <a:endParaRPr lang="en-US" sz="1100" dirty="0"/>
          </a:p>
        </p:txBody>
      </p:sp>
      <p:sp>
        <p:nvSpPr>
          <p:cNvPr id="22" name="Text 19"/>
          <p:cNvSpPr/>
          <p:nvPr/>
        </p:nvSpPr>
        <p:spPr>
          <a:xfrm>
            <a:off x="6108192" y="2871216"/>
            <a:ext cx="2468880" cy="1261872"/>
          </a:xfrm>
          <a:prstGeom prst="rect">
            <a:avLst/>
          </a:prstGeom>
          <a:noFill/>
          <a:ln/>
        </p:spPr>
        <p:txBody>
          <a:bodyPr wrap="square" lIns="0" tIns="0" rIns="0" bIns="0" rtlCol="0" anchor="t"/>
          <a:lstStyle/>
          <a:p>
            <a:pPr marL="0" indent="0">
              <a:buNone/>
            </a:pPr>
            <a:r>
              <a:rPr lang="en-US" sz="900" dirty="0">
                <a:solidFill>
                  <a:srgbClr val="F5F0E8"/>
                </a:solidFill>
                <a:latin typeface="Arial" pitchFamily="34" charset="0"/>
                <a:ea typeface="Arial" pitchFamily="34" charset="-122"/>
                <a:cs typeface="Arial" pitchFamily="34" charset="-120"/>
              </a:rPr>
              <a:t>Answers 'What should we do?' by recommending optimal actions using optimization algorithms, simulation, and decision-support frameworks.</a:t>
            </a:r>
            <a:endParaRPr lang="en-US" sz="900" dirty="0"/>
          </a:p>
        </p:txBody>
      </p:sp>
      <p:pic>
        <p:nvPicPr>
          <p:cNvPr id="23"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25" name="Text 20"/>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3 / 10</a:t>
            </a:r>
            <a:endParaRPr lang="en-US" sz="800" dirty="0"/>
          </a:p>
        </p:txBody>
      </p:sp>
    </p:spTree>
  </p:cSld>
  <p:clrMapOvr>
    <a:masterClrMapping/>
  </p:clrMapOvr>
  <p:transition advClick="0" advTm="557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02 &gt; Descriptive Analytics for Historical Performance</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CORE CYCLE</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The Descriptive </a:t>
            </a:r>
            <a:r>
              <a:rPr lang="en-US" sz="2200" b="1" dirty="0">
                <a:solidFill>
                  <a:srgbClr val="5391D5"/>
                </a:solidFill>
                <a:latin typeface="Arial" pitchFamily="34" charset="0"/>
                <a:ea typeface="Arial" pitchFamily="34" charset="-122"/>
                <a:cs typeface="Arial" pitchFamily="34" charset="-120"/>
              </a:rPr>
              <a:t>Analytics Cycle</a:t>
            </a:r>
            <a:endParaRPr lang="en-US" sz="2200" dirty="0"/>
          </a:p>
        </p:txBody>
      </p:sp>
      <p:sp>
        <p:nvSpPr>
          <p:cNvPr id="11" name="Shape 8"/>
          <p:cNvSpPr/>
          <p:nvPr/>
        </p:nvSpPr>
        <p:spPr>
          <a:xfrm>
            <a:off x="5486400" y="2103120"/>
            <a:ext cx="914400" cy="914400"/>
          </a:xfrm>
          <a:prstGeom prst="ellipse">
            <a:avLst/>
          </a:prstGeom>
          <a:solidFill>
            <a:srgbClr val="5391D5"/>
          </a:solidFill>
          <a:ln/>
        </p:spPr>
      </p:sp>
      <p:sp>
        <p:nvSpPr>
          <p:cNvPr id="12" name="Text 9"/>
          <p:cNvSpPr/>
          <p:nvPr/>
        </p:nvSpPr>
        <p:spPr>
          <a:xfrm>
            <a:off x="5486400" y="2103120"/>
            <a:ext cx="914400" cy="914400"/>
          </a:xfrm>
          <a:prstGeom prst="rect">
            <a:avLst/>
          </a:prstGeom>
          <a:noFill/>
          <a:ln/>
        </p:spPr>
        <p:txBody>
          <a:bodyPr wrap="square" lIns="0" tIns="0" rIns="0" bIns="0" rtlCol="0" anchor="ctr"/>
          <a:lstStyle/>
          <a:p>
            <a:pPr marL="0" indent="0" algn="ctr">
              <a:buNone/>
            </a:pPr>
            <a:r>
              <a:rPr lang="en-US" sz="900" b="1" dirty="0">
                <a:solidFill>
                  <a:srgbClr val="F5F0E8"/>
                </a:solidFill>
                <a:latin typeface="Arial" pitchFamily="34" charset="0"/>
                <a:ea typeface="Arial" pitchFamily="34" charset="-122"/>
                <a:cs typeface="Arial" pitchFamily="34" charset="-120"/>
              </a:rPr>
              <a:t>Continuous Improvement</a:t>
            </a:r>
            <a:endParaRPr lang="en-US" sz="900" dirty="0"/>
          </a:p>
        </p:txBody>
      </p:sp>
      <p:sp>
        <p:nvSpPr>
          <p:cNvPr id="13" name="Shape 10"/>
          <p:cNvSpPr/>
          <p:nvPr/>
        </p:nvSpPr>
        <p:spPr>
          <a:xfrm>
            <a:off x="5623560" y="777240"/>
            <a:ext cx="640080" cy="640080"/>
          </a:xfrm>
          <a:prstGeom prst="ellipse">
            <a:avLst/>
          </a:prstGeom>
          <a:solidFill>
            <a:srgbClr val="111D2E"/>
          </a:solidFill>
          <a:ln w="12700">
            <a:solidFill>
              <a:srgbClr val="5391D5"/>
            </a:solidFill>
            <a:prstDash val="solid"/>
          </a:ln>
        </p:spPr>
      </p:sp>
      <p:sp>
        <p:nvSpPr>
          <p:cNvPr id="14" name="Text 11"/>
          <p:cNvSpPr/>
          <p:nvPr/>
        </p:nvSpPr>
        <p:spPr>
          <a:xfrm>
            <a:off x="5623560" y="777240"/>
            <a:ext cx="640080" cy="640080"/>
          </a:xfrm>
          <a:prstGeom prst="rect">
            <a:avLst/>
          </a:prstGeom>
          <a:noFill/>
          <a:ln/>
        </p:spPr>
        <p:txBody>
          <a:bodyPr wrap="square" lIns="0" tIns="0" rIns="0" bIns="0" rtlCol="0" anchor="ctr"/>
          <a:lstStyle/>
          <a:p>
            <a:pPr marL="0" indent="0" algn="ctr">
              <a:buNone/>
            </a:pPr>
            <a:r>
              <a:rPr lang="en-US" sz="1200" b="1" dirty="0">
                <a:solidFill>
                  <a:srgbClr val="5391D5"/>
                </a:solidFill>
                <a:latin typeface="Arial" pitchFamily="34" charset="0"/>
                <a:ea typeface="Arial" pitchFamily="34" charset="-122"/>
                <a:cs typeface="Arial" pitchFamily="34" charset="-120"/>
              </a:rPr>
              <a:t>1</a:t>
            </a:r>
            <a:endParaRPr lang="en-US" sz="1200" dirty="0"/>
          </a:p>
        </p:txBody>
      </p:sp>
      <p:sp>
        <p:nvSpPr>
          <p:cNvPr id="15" name="Text 12"/>
          <p:cNvSpPr/>
          <p:nvPr/>
        </p:nvSpPr>
        <p:spPr>
          <a:xfrm>
            <a:off x="5303520" y="457200"/>
            <a:ext cx="1280160" cy="274320"/>
          </a:xfrm>
          <a:prstGeom prst="rect">
            <a:avLst/>
          </a:prstGeom>
          <a:noFill/>
          <a:ln/>
        </p:spPr>
        <p:txBody>
          <a:bodyPr wrap="square" lIns="0" tIns="0" rIns="0" bIns="0" rtlCol="0" anchor="ctr"/>
          <a:lstStyle/>
          <a:p>
            <a:pPr marL="0" indent="0" algn="ctr">
              <a:buNone/>
            </a:pPr>
            <a:r>
              <a:rPr lang="en-US" sz="800" dirty="0">
                <a:solidFill>
                  <a:srgbClr val="F5F0E8"/>
                </a:solidFill>
                <a:latin typeface="Arial" pitchFamily="34" charset="0"/>
                <a:ea typeface="Arial" pitchFamily="34" charset="-122"/>
                <a:cs typeface="Arial" pitchFamily="34" charset="-120"/>
              </a:rPr>
              <a:t>Data Collection</a:t>
            </a:r>
            <a:endParaRPr lang="en-US" sz="800" dirty="0"/>
          </a:p>
        </p:txBody>
      </p:sp>
      <p:sp>
        <p:nvSpPr>
          <p:cNvPr id="16" name="Shape 13"/>
          <p:cNvSpPr/>
          <p:nvPr/>
        </p:nvSpPr>
        <p:spPr>
          <a:xfrm>
            <a:off x="6890590" y="1508760"/>
            <a:ext cx="640080" cy="640080"/>
          </a:xfrm>
          <a:prstGeom prst="ellipse">
            <a:avLst/>
          </a:prstGeom>
          <a:solidFill>
            <a:srgbClr val="111D2E"/>
          </a:solidFill>
          <a:ln w="12700">
            <a:solidFill>
              <a:srgbClr val="5391D5"/>
            </a:solidFill>
            <a:prstDash val="solid"/>
          </a:ln>
        </p:spPr>
      </p:sp>
      <p:sp>
        <p:nvSpPr>
          <p:cNvPr id="17" name="Text 14"/>
          <p:cNvSpPr/>
          <p:nvPr/>
        </p:nvSpPr>
        <p:spPr>
          <a:xfrm>
            <a:off x="6890590" y="1508760"/>
            <a:ext cx="640080" cy="640080"/>
          </a:xfrm>
          <a:prstGeom prst="rect">
            <a:avLst/>
          </a:prstGeom>
          <a:noFill/>
          <a:ln/>
        </p:spPr>
        <p:txBody>
          <a:bodyPr wrap="square" lIns="0" tIns="0" rIns="0" bIns="0" rtlCol="0" anchor="ctr"/>
          <a:lstStyle/>
          <a:p>
            <a:pPr marL="0" indent="0" algn="ctr">
              <a:buNone/>
            </a:pPr>
            <a:r>
              <a:rPr lang="en-US" sz="1200" b="1" dirty="0">
                <a:solidFill>
                  <a:srgbClr val="5391D5"/>
                </a:solidFill>
                <a:latin typeface="Arial" pitchFamily="34" charset="0"/>
                <a:ea typeface="Arial" pitchFamily="34" charset="-122"/>
                <a:cs typeface="Arial" pitchFamily="34" charset="-120"/>
              </a:rPr>
              <a:t>2</a:t>
            </a:r>
            <a:endParaRPr lang="en-US" sz="1200" dirty="0"/>
          </a:p>
        </p:txBody>
      </p:sp>
      <p:sp>
        <p:nvSpPr>
          <p:cNvPr id="18" name="Text 15"/>
          <p:cNvSpPr/>
          <p:nvPr/>
        </p:nvSpPr>
        <p:spPr>
          <a:xfrm>
            <a:off x="7006091" y="1440180"/>
            <a:ext cx="1280160" cy="274320"/>
          </a:xfrm>
          <a:prstGeom prst="rect">
            <a:avLst/>
          </a:prstGeom>
          <a:noFill/>
          <a:ln/>
        </p:spPr>
        <p:txBody>
          <a:bodyPr wrap="square" lIns="0" tIns="0" rIns="0" bIns="0" rtlCol="0" anchor="ctr"/>
          <a:lstStyle/>
          <a:p>
            <a:pPr marL="0" indent="0" algn="ctr">
              <a:buNone/>
            </a:pPr>
            <a:r>
              <a:rPr lang="en-US" sz="800" dirty="0">
                <a:solidFill>
                  <a:srgbClr val="F5F0E8"/>
                </a:solidFill>
                <a:latin typeface="Arial" pitchFamily="34" charset="0"/>
                <a:ea typeface="Arial" pitchFamily="34" charset="-122"/>
                <a:cs typeface="Arial" pitchFamily="34" charset="-120"/>
              </a:rPr>
              <a:t>Data Cleaning</a:t>
            </a:r>
            <a:endParaRPr lang="en-US" sz="800" dirty="0"/>
          </a:p>
        </p:txBody>
      </p:sp>
      <p:sp>
        <p:nvSpPr>
          <p:cNvPr id="19" name="Shape 16"/>
          <p:cNvSpPr/>
          <p:nvPr/>
        </p:nvSpPr>
        <p:spPr>
          <a:xfrm>
            <a:off x="6890590" y="2971800"/>
            <a:ext cx="640080" cy="640080"/>
          </a:xfrm>
          <a:prstGeom prst="ellipse">
            <a:avLst/>
          </a:prstGeom>
          <a:solidFill>
            <a:srgbClr val="111D2E"/>
          </a:solidFill>
          <a:ln w="12700">
            <a:solidFill>
              <a:srgbClr val="5391D5"/>
            </a:solidFill>
            <a:prstDash val="solid"/>
          </a:ln>
        </p:spPr>
      </p:sp>
      <p:sp>
        <p:nvSpPr>
          <p:cNvPr id="20" name="Text 17"/>
          <p:cNvSpPr/>
          <p:nvPr/>
        </p:nvSpPr>
        <p:spPr>
          <a:xfrm>
            <a:off x="6890590" y="2971800"/>
            <a:ext cx="640080" cy="640080"/>
          </a:xfrm>
          <a:prstGeom prst="rect">
            <a:avLst/>
          </a:prstGeom>
          <a:noFill/>
          <a:ln/>
        </p:spPr>
        <p:txBody>
          <a:bodyPr wrap="square" lIns="0" tIns="0" rIns="0" bIns="0" rtlCol="0" anchor="ctr"/>
          <a:lstStyle/>
          <a:p>
            <a:pPr marL="0" indent="0" algn="ctr">
              <a:buNone/>
            </a:pPr>
            <a:r>
              <a:rPr lang="en-US" sz="1200" b="1" dirty="0">
                <a:solidFill>
                  <a:srgbClr val="5391D5"/>
                </a:solidFill>
                <a:latin typeface="Arial" pitchFamily="34" charset="0"/>
                <a:ea typeface="Arial" pitchFamily="34" charset="-122"/>
                <a:cs typeface="Arial" pitchFamily="34" charset="-120"/>
              </a:rPr>
              <a:t>3</a:t>
            </a:r>
            <a:endParaRPr lang="en-US" sz="1200" dirty="0"/>
          </a:p>
        </p:txBody>
      </p:sp>
      <p:sp>
        <p:nvSpPr>
          <p:cNvPr id="21" name="Text 18"/>
          <p:cNvSpPr/>
          <p:nvPr/>
        </p:nvSpPr>
        <p:spPr>
          <a:xfrm>
            <a:off x="7006091" y="3406140"/>
            <a:ext cx="1280160" cy="274320"/>
          </a:xfrm>
          <a:prstGeom prst="rect">
            <a:avLst/>
          </a:prstGeom>
          <a:noFill/>
          <a:ln/>
        </p:spPr>
        <p:txBody>
          <a:bodyPr wrap="square" lIns="0" tIns="0" rIns="0" bIns="0" rtlCol="0" anchor="ctr"/>
          <a:lstStyle/>
          <a:p>
            <a:pPr marL="0" indent="0" algn="ctr">
              <a:buNone/>
            </a:pPr>
            <a:r>
              <a:rPr lang="en-US" sz="800" dirty="0">
                <a:solidFill>
                  <a:srgbClr val="F5F0E8"/>
                </a:solidFill>
                <a:latin typeface="Arial" pitchFamily="34" charset="0"/>
                <a:ea typeface="Arial" pitchFamily="34" charset="-122"/>
                <a:cs typeface="Arial" pitchFamily="34" charset="-120"/>
              </a:rPr>
              <a:t>Aggregation</a:t>
            </a:r>
            <a:endParaRPr lang="en-US" sz="800" dirty="0"/>
          </a:p>
        </p:txBody>
      </p:sp>
      <p:sp>
        <p:nvSpPr>
          <p:cNvPr id="22" name="Shape 19"/>
          <p:cNvSpPr/>
          <p:nvPr/>
        </p:nvSpPr>
        <p:spPr>
          <a:xfrm>
            <a:off x="5623560" y="3703320"/>
            <a:ext cx="640080" cy="640080"/>
          </a:xfrm>
          <a:prstGeom prst="ellipse">
            <a:avLst/>
          </a:prstGeom>
          <a:solidFill>
            <a:srgbClr val="111D2E"/>
          </a:solidFill>
          <a:ln w="12700">
            <a:solidFill>
              <a:srgbClr val="5391D5"/>
            </a:solidFill>
            <a:prstDash val="solid"/>
          </a:ln>
        </p:spPr>
      </p:sp>
      <p:sp>
        <p:nvSpPr>
          <p:cNvPr id="23" name="Text 20"/>
          <p:cNvSpPr/>
          <p:nvPr/>
        </p:nvSpPr>
        <p:spPr>
          <a:xfrm>
            <a:off x="5623560" y="3703320"/>
            <a:ext cx="640080" cy="640080"/>
          </a:xfrm>
          <a:prstGeom prst="rect">
            <a:avLst/>
          </a:prstGeom>
          <a:noFill/>
          <a:ln/>
        </p:spPr>
        <p:txBody>
          <a:bodyPr wrap="square" lIns="0" tIns="0" rIns="0" bIns="0" rtlCol="0" anchor="ctr"/>
          <a:lstStyle/>
          <a:p>
            <a:pPr marL="0" indent="0" algn="ctr">
              <a:buNone/>
            </a:pPr>
            <a:r>
              <a:rPr lang="en-US" sz="1200" b="1" dirty="0">
                <a:solidFill>
                  <a:srgbClr val="5391D5"/>
                </a:solidFill>
                <a:latin typeface="Arial" pitchFamily="34" charset="0"/>
                <a:ea typeface="Arial" pitchFamily="34" charset="-122"/>
                <a:cs typeface="Arial" pitchFamily="34" charset="-120"/>
              </a:rPr>
              <a:t>4</a:t>
            </a:r>
            <a:endParaRPr lang="en-US" sz="1200" dirty="0"/>
          </a:p>
        </p:txBody>
      </p:sp>
      <p:sp>
        <p:nvSpPr>
          <p:cNvPr id="24" name="Text 21"/>
          <p:cNvSpPr/>
          <p:nvPr/>
        </p:nvSpPr>
        <p:spPr>
          <a:xfrm>
            <a:off x="5303520" y="4389120"/>
            <a:ext cx="1280160" cy="274320"/>
          </a:xfrm>
          <a:prstGeom prst="rect">
            <a:avLst/>
          </a:prstGeom>
          <a:noFill/>
          <a:ln/>
        </p:spPr>
        <p:txBody>
          <a:bodyPr wrap="square" lIns="0" tIns="0" rIns="0" bIns="0" rtlCol="0" anchor="ctr"/>
          <a:lstStyle/>
          <a:p>
            <a:pPr marL="0" indent="0" algn="ctr">
              <a:buNone/>
            </a:pPr>
            <a:r>
              <a:rPr lang="en-US" sz="800" dirty="0">
                <a:solidFill>
                  <a:srgbClr val="F5F0E8"/>
                </a:solidFill>
                <a:latin typeface="Arial" pitchFamily="34" charset="0"/>
                <a:ea typeface="Arial" pitchFamily="34" charset="-122"/>
                <a:cs typeface="Arial" pitchFamily="34" charset="-120"/>
              </a:rPr>
              <a:t>Visualization</a:t>
            </a:r>
            <a:endParaRPr lang="en-US" sz="800" dirty="0"/>
          </a:p>
        </p:txBody>
      </p:sp>
      <p:sp>
        <p:nvSpPr>
          <p:cNvPr id="25" name="Shape 22"/>
          <p:cNvSpPr/>
          <p:nvPr/>
        </p:nvSpPr>
        <p:spPr>
          <a:xfrm>
            <a:off x="4356530" y="2971800"/>
            <a:ext cx="640080" cy="640080"/>
          </a:xfrm>
          <a:prstGeom prst="ellipse">
            <a:avLst/>
          </a:prstGeom>
          <a:solidFill>
            <a:srgbClr val="111D2E"/>
          </a:solidFill>
          <a:ln w="12700">
            <a:solidFill>
              <a:srgbClr val="5391D5"/>
            </a:solidFill>
            <a:prstDash val="solid"/>
          </a:ln>
        </p:spPr>
      </p:sp>
      <p:sp>
        <p:nvSpPr>
          <p:cNvPr id="26" name="Text 23"/>
          <p:cNvSpPr/>
          <p:nvPr/>
        </p:nvSpPr>
        <p:spPr>
          <a:xfrm>
            <a:off x="4356530" y="2971800"/>
            <a:ext cx="640080" cy="640080"/>
          </a:xfrm>
          <a:prstGeom prst="rect">
            <a:avLst/>
          </a:prstGeom>
          <a:noFill/>
          <a:ln/>
        </p:spPr>
        <p:txBody>
          <a:bodyPr wrap="square" lIns="0" tIns="0" rIns="0" bIns="0" rtlCol="0" anchor="ctr"/>
          <a:lstStyle/>
          <a:p>
            <a:pPr marL="0" indent="0" algn="ctr">
              <a:buNone/>
            </a:pPr>
            <a:r>
              <a:rPr lang="en-US" sz="1200" b="1" dirty="0">
                <a:solidFill>
                  <a:srgbClr val="5391D5"/>
                </a:solidFill>
                <a:latin typeface="Arial" pitchFamily="34" charset="0"/>
                <a:ea typeface="Arial" pitchFamily="34" charset="-122"/>
                <a:cs typeface="Arial" pitchFamily="34" charset="-120"/>
              </a:rPr>
              <a:t>5</a:t>
            </a:r>
            <a:endParaRPr lang="en-US" sz="1200" dirty="0"/>
          </a:p>
        </p:txBody>
      </p:sp>
      <p:sp>
        <p:nvSpPr>
          <p:cNvPr id="27" name="Text 24"/>
          <p:cNvSpPr/>
          <p:nvPr/>
        </p:nvSpPr>
        <p:spPr>
          <a:xfrm>
            <a:off x="3600949" y="3406140"/>
            <a:ext cx="1280160" cy="274320"/>
          </a:xfrm>
          <a:prstGeom prst="rect">
            <a:avLst/>
          </a:prstGeom>
          <a:noFill/>
          <a:ln/>
        </p:spPr>
        <p:txBody>
          <a:bodyPr wrap="square" lIns="0" tIns="0" rIns="0" bIns="0" rtlCol="0" anchor="ctr"/>
          <a:lstStyle/>
          <a:p>
            <a:pPr marL="0" indent="0" algn="ctr">
              <a:buNone/>
            </a:pPr>
            <a:r>
              <a:rPr lang="en-US" sz="800" dirty="0">
                <a:solidFill>
                  <a:srgbClr val="F5F0E8"/>
                </a:solidFill>
                <a:latin typeface="Arial" pitchFamily="34" charset="0"/>
                <a:ea typeface="Arial" pitchFamily="34" charset="-122"/>
                <a:cs typeface="Arial" pitchFamily="34" charset="-120"/>
              </a:rPr>
              <a:t>Interpretation</a:t>
            </a:r>
            <a:endParaRPr lang="en-US" sz="800" dirty="0"/>
          </a:p>
        </p:txBody>
      </p:sp>
      <p:sp>
        <p:nvSpPr>
          <p:cNvPr id="28" name="Shape 25"/>
          <p:cNvSpPr/>
          <p:nvPr/>
        </p:nvSpPr>
        <p:spPr>
          <a:xfrm>
            <a:off x="4356530" y="1508760"/>
            <a:ext cx="640080" cy="640080"/>
          </a:xfrm>
          <a:prstGeom prst="ellipse">
            <a:avLst/>
          </a:prstGeom>
          <a:solidFill>
            <a:srgbClr val="111D2E"/>
          </a:solidFill>
          <a:ln w="12700">
            <a:solidFill>
              <a:srgbClr val="5391D5"/>
            </a:solidFill>
            <a:prstDash val="solid"/>
          </a:ln>
        </p:spPr>
      </p:sp>
      <p:sp>
        <p:nvSpPr>
          <p:cNvPr id="29" name="Text 26"/>
          <p:cNvSpPr/>
          <p:nvPr/>
        </p:nvSpPr>
        <p:spPr>
          <a:xfrm>
            <a:off x="4356530" y="1508760"/>
            <a:ext cx="640080" cy="640080"/>
          </a:xfrm>
          <a:prstGeom prst="rect">
            <a:avLst/>
          </a:prstGeom>
          <a:noFill/>
          <a:ln/>
        </p:spPr>
        <p:txBody>
          <a:bodyPr wrap="square" lIns="0" tIns="0" rIns="0" bIns="0" rtlCol="0" anchor="ctr"/>
          <a:lstStyle/>
          <a:p>
            <a:pPr marL="0" indent="0" algn="ctr">
              <a:buNone/>
            </a:pPr>
            <a:r>
              <a:rPr lang="en-US" sz="1200" b="1" dirty="0">
                <a:solidFill>
                  <a:srgbClr val="5391D5"/>
                </a:solidFill>
                <a:latin typeface="Arial" pitchFamily="34" charset="0"/>
                <a:ea typeface="Arial" pitchFamily="34" charset="-122"/>
                <a:cs typeface="Arial" pitchFamily="34" charset="-120"/>
              </a:rPr>
              <a:t>6</a:t>
            </a:r>
            <a:endParaRPr lang="en-US" sz="1200" dirty="0"/>
          </a:p>
        </p:txBody>
      </p:sp>
      <p:sp>
        <p:nvSpPr>
          <p:cNvPr id="30" name="Text 27"/>
          <p:cNvSpPr/>
          <p:nvPr/>
        </p:nvSpPr>
        <p:spPr>
          <a:xfrm>
            <a:off x="3600949" y="1440180"/>
            <a:ext cx="1280160" cy="274320"/>
          </a:xfrm>
          <a:prstGeom prst="rect">
            <a:avLst/>
          </a:prstGeom>
          <a:noFill/>
          <a:ln/>
        </p:spPr>
        <p:txBody>
          <a:bodyPr wrap="square" lIns="0" tIns="0" rIns="0" bIns="0" rtlCol="0" anchor="ctr"/>
          <a:lstStyle/>
          <a:p>
            <a:pPr marL="0" indent="0" algn="ctr">
              <a:buNone/>
            </a:pPr>
            <a:r>
              <a:rPr lang="en-US" sz="800" dirty="0">
                <a:solidFill>
                  <a:srgbClr val="F5F0E8"/>
                </a:solidFill>
                <a:latin typeface="Arial" pitchFamily="34" charset="0"/>
                <a:ea typeface="Arial" pitchFamily="34" charset="-122"/>
                <a:cs typeface="Arial" pitchFamily="34" charset="-120"/>
              </a:rPr>
              <a:t>Baseline Setting</a:t>
            </a:r>
            <a:endParaRPr lang="en-US" sz="800" dirty="0"/>
          </a:p>
        </p:txBody>
      </p:sp>
      <p:pic>
        <p:nvPicPr>
          <p:cNvPr id="31"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33" name="Text 28"/>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4 / 10</a:t>
            </a:r>
            <a:endParaRPr lang="en-US" sz="800" dirty="0"/>
          </a:p>
        </p:txBody>
      </p:sp>
    </p:spTree>
  </p:cSld>
  <p:clrMapOvr>
    <a:masterClrMapping/>
  </p:clrMapOvr>
  <p:transition advClick="0" advTm="6494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02 &gt; Descriptive Analytics for Historical Performance</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TECHNIQUE SPOTLIGHT</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Three Core Descriptive Techniques</a:t>
            </a:r>
            <a:endParaRPr lang="en-US" sz="2200" dirty="0"/>
          </a:p>
        </p:txBody>
      </p:sp>
      <p:sp>
        <p:nvSpPr>
          <p:cNvPr id="11" name="Text 8"/>
          <p:cNvSpPr/>
          <p:nvPr/>
        </p:nvSpPr>
        <p:spPr>
          <a:xfrm>
            <a:off x="457200" y="2011680"/>
            <a:ext cx="2560320" cy="731520"/>
          </a:xfrm>
          <a:prstGeom prst="rect">
            <a:avLst/>
          </a:prstGeom>
          <a:noFill/>
          <a:ln/>
        </p:spPr>
        <p:txBody>
          <a:bodyPr wrap="square" lIns="0" tIns="0" rIns="0" bIns="0" rtlCol="0" anchor="ctr"/>
          <a:lstStyle/>
          <a:p>
            <a:pPr marL="0" indent="0">
              <a:buNone/>
            </a:pPr>
            <a:r>
              <a:rPr lang="en-US" sz="1000" dirty="0">
                <a:solidFill>
                  <a:srgbClr val="8A9BB5"/>
                </a:solidFill>
                <a:latin typeface="Arial" pitchFamily="34" charset="0"/>
                <a:ea typeface="Arial" pitchFamily="34" charset="-122"/>
                <a:cs typeface="Arial" pitchFamily="34" charset="-120"/>
              </a:rPr>
              <a:t>Mastering the analytical toolkit for historical financial analysis</a:t>
            </a:r>
            <a:endParaRPr lang="en-US" sz="1000" dirty="0"/>
          </a:p>
        </p:txBody>
      </p:sp>
      <p:sp>
        <p:nvSpPr>
          <p:cNvPr id="12" name="Shape 9"/>
          <p:cNvSpPr/>
          <p:nvPr/>
        </p:nvSpPr>
        <p:spPr>
          <a:xfrm>
            <a:off x="3200400" y="640080"/>
            <a:ext cx="5486400" cy="1097280"/>
          </a:xfrm>
          <a:prstGeom prst="rect">
            <a:avLst/>
          </a:prstGeom>
          <a:solidFill>
            <a:srgbClr val="111D2E"/>
          </a:solidFill>
          <a:ln w="6350">
            <a:solidFill>
              <a:srgbClr val="0A1525"/>
            </a:solidFill>
            <a:prstDash val="solid"/>
          </a:ln>
        </p:spPr>
      </p:sp>
      <p:sp>
        <p:nvSpPr>
          <p:cNvPr id="13" name="Text 10"/>
          <p:cNvSpPr/>
          <p:nvPr/>
        </p:nvSpPr>
        <p:spPr>
          <a:xfrm>
            <a:off x="3337560" y="731520"/>
            <a:ext cx="5212080" cy="274320"/>
          </a:xfrm>
          <a:prstGeom prst="rect">
            <a:avLst/>
          </a:prstGeom>
          <a:noFill/>
          <a:ln/>
        </p:spPr>
        <p:txBody>
          <a:bodyPr wrap="square" lIns="0" tIns="0" rIns="0" bIns="0" rtlCol="0" anchor="ctr"/>
          <a:lstStyle/>
          <a:p>
            <a:pPr marL="0" indent="0">
              <a:buNone/>
            </a:pPr>
            <a:r>
              <a:rPr lang="en-US" sz="1100" b="1" dirty="0">
                <a:solidFill>
                  <a:srgbClr val="5391D5"/>
                </a:solidFill>
                <a:latin typeface="Arial" pitchFamily="34" charset="0"/>
                <a:ea typeface="Arial" pitchFamily="34" charset="-122"/>
                <a:cs typeface="Arial" pitchFamily="34" charset="-120"/>
              </a:rPr>
              <a:t>Trend Analysis</a:t>
            </a:r>
            <a:endParaRPr lang="en-US" sz="1100" dirty="0"/>
          </a:p>
        </p:txBody>
      </p:sp>
      <p:sp>
        <p:nvSpPr>
          <p:cNvPr id="14" name="Text 11"/>
          <p:cNvSpPr/>
          <p:nvPr/>
        </p:nvSpPr>
        <p:spPr>
          <a:xfrm>
            <a:off x="3337560" y="1005840"/>
            <a:ext cx="5212080" cy="640080"/>
          </a:xfrm>
          <a:prstGeom prst="rect">
            <a:avLst/>
          </a:prstGeom>
          <a:noFill/>
          <a:ln/>
        </p:spPr>
        <p:txBody>
          <a:bodyPr wrap="square" lIns="0" tIns="0" rIns="0" bIns="0" rtlCol="0" anchor="t"/>
          <a:lstStyle/>
          <a:p>
            <a:pPr marL="0" indent="0">
              <a:buNone/>
            </a:pPr>
            <a:r>
              <a:rPr lang="en-US" sz="900" dirty="0">
                <a:solidFill>
                  <a:srgbClr val="F5F0E8"/>
                </a:solidFill>
                <a:latin typeface="Arial" pitchFamily="34" charset="0"/>
                <a:ea typeface="Arial" pitchFamily="34" charset="-122"/>
                <a:cs typeface="Arial" pitchFamily="34" charset="-120"/>
              </a:rPr>
              <a:t>Trend analysis examines financial metrics over sequential time periods to identify direction, velocity, and seasonality. Apply moving averages to smooth volatility, use compound annual growth rates (CAGR) to measure long-term trajectory, and decompose time series into trend, seasonal, and residual components. Best used for revenue trajectories, expense ratios, and margin evolution.</a:t>
            </a:r>
            <a:endParaRPr lang="en-US" sz="900" dirty="0"/>
          </a:p>
        </p:txBody>
      </p:sp>
      <p:sp>
        <p:nvSpPr>
          <p:cNvPr id="15" name="Shape 12"/>
          <p:cNvSpPr/>
          <p:nvPr/>
        </p:nvSpPr>
        <p:spPr>
          <a:xfrm>
            <a:off x="3200400" y="1828800"/>
            <a:ext cx="5486400" cy="1097280"/>
          </a:xfrm>
          <a:prstGeom prst="rect">
            <a:avLst/>
          </a:prstGeom>
          <a:solidFill>
            <a:srgbClr val="111D2E"/>
          </a:solidFill>
          <a:ln w="6350">
            <a:solidFill>
              <a:srgbClr val="0A1525"/>
            </a:solidFill>
            <a:prstDash val="solid"/>
          </a:ln>
        </p:spPr>
      </p:sp>
      <p:sp>
        <p:nvSpPr>
          <p:cNvPr id="16" name="Text 13"/>
          <p:cNvSpPr/>
          <p:nvPr/>
        </p:nvSpPr>
        <p:spPr>
          <a:xfrm>
            <a:off x="3337560" y="1920240"/>
            <a:ext cx="5212080" cy="274320"/>
          </a:xfrm>
          <a:prstGeom prst="rect">
            <a:avLst/>
          </a:prstGeom>
          <a:noFill/>
          <a:ln/>
        </p:spPr>
        <p:txBody>
          <a:bodyPr wrap="square" lIns="0" tIns="0" rIns="0" bIns="0" rtlCol="0" anchor="ctr"/>
          <a:lstStyle/>
          <a:p>
            <a:pPr marL="0" indent="0">
              <a:buNone/>
            </a:pPr>
            <a:r>
              <a:rPr lang="en-US" sz="1100" b="1" dirty="0">
                <a:solidFill>
                  <a:srgbClr val="5391D5"/>
                </a:solidFill>
                <a:latin typeface="Arial" pitchFamily="34" charset="0"/>
                <a:ea typeface="Arial" pitchFamily="34" charset="-122"/>
                <a:cs typeface="Arial" pitchFamily="34" charset="-120"/>
              </a:rPr>
              <a:t>Variance Decomposition</a:t>
            </a:r>
            <a:endParaRPr lang="en-US" sz="1100" dirty="0"/>
          </a:p>
        </p:txBody>
      </p:sp>
      <p:sp>
        <p:nvSpPr>
          <p:cNvPr id="17" name="Text 14"/>
          <p:cNvSpPr/>
          <p:nvPr/>
        </p:nvSpPr>
        <p:spPr>
          <a:xfrm>
            <a:off x="3337560" y="2194560"/>
            <a:ext cx="5212080" cy="640080"/>
          </a:xfrm>
          <a:prstGeom prst="rect">
            <a:avLst/>
          </a:prstGeom>
          <a:noFill/>
          <a:ln/>
        </p:spPr>
        <p:txBody>
          <a:bodyPr wrap="square" lIns="0" tIns="0" rIns="0" bIns="0" rtlCol="0" anchor="t"/>
          <a:lstStyle/>
          <a:p>
            <a:pPr marL="0" indent="0">
              <a:buNone/>
            </a:pPr>
            <a:r>
              <a:rPr lang="en-US" sz="900" dirty="0">
                <a:solidFill>
                  <a:srgbClr val="F5F0E8"/>
                </a:solidFill>
                <a:latin typeface="Arial" pitchFamily="34" charset="0"/>
                <a:ea typeface="Arial" pitchFamily="34" charset="-122"/>
                <a:cs typeface="Arial" pitchFamily="34" charset="-120"/>
              </a:rPr>
              <a:t>Variance decomposition breaks the gap between actual and expected results into explainable components. Price variance isolates the effect of price changes, volume variance captures changes in quantity, and mix variance reveals shifts in product or customer composition. In manufacturing, add efficiency and spending variances. The goal is not just to measure the gap but to attribute it to actionable drivers.</a:t>
            </a:r>
            <a:endParaRPr lang="en-US" sz="900" dirty="0"/>
          </a:p>
        </p:txBody>
      </p:sp>
      <p:sp>
        <p:nvSpPr>
          <p:cNvPr id="18" name="Shape 15"/>
          <p:cNvSpPr/>
          <p:nvPr/>
        </p:nvSpPr>
        <p:spPr>
          <a:xfrm>
            <a:off x="3200400" y="3017520"/>
            <a:ext cx="5486400" cy="1097280"/>
          </a:xfrm>
          <a:prstGeom prst="rect">
            <a:avLst/>
          </a:prstGeom>
          <a:solidFill>
            <a:srgbClr val="111D2E"/>
          </a:solidFill>
          <a:ln w="6350">
            <a:solidFill>
              <a:srgbClr val="0A1525"/>
            </a:solidFill>
            <a:prstDash val="solid"/>
          </a:ln>
        </p:spPr>
      </p:sp>
      <p:sp>
        <p:nvSpPr>
          <p:cNvPr id="19" name="Text 16"/>
          <p:cNvSpPr/>
          <p:nvPr/>
        </p:nvSpPr>
        <p:spPr>
          <a:xfrm>
            <a:off x="3337560" y="3108960"/>
            <a:ext cx="5212080" cy="274320"/>
          </a:xfrm>
          <a:prstGeom prst="rect">
            <a:avLst/>
          </a:prstGeom>
          <a:noFill/>
          <a:ln/>
        </p:spPr>
        <p:txBody>
          <a:bodyPr wrap="square" lIns="0" tIns="0" rIns="0" bIns="0" rtlCol="0" anchor="ctr"/>
          <a:lstStyle/>
          <a:p>
            <a:pPr marL="0" indent="0">
              <a:buNone/>
            </a:pPr>
            <a:r>
              <a:rPr lang="en-US" sz="1100" b="1" dirty="0">
                <a:solidFill>
                  <a:srgbClr val="5391D5"/>
                </a:solidFill>
                <a:latin typeface="Arial" pitchFamily="34" charset="0"/>
                <a:ea typeface="Arial" pitchFamily="34" charset="-122"/>
                <a:cs typeface="Arial" pitchFamily="34" charset="-120"/>
              </a:rPr>
              <a:t>Cohort Analysis</a:t>
            </a:r>
            <a:endParaRPr lang="en-US" sz="1100" dirty="0"/>
          </a:p>
        </p:txBody>
      </p:sp>
      <p:sp>
        <p:nvSpPr>
          <p:cNvPr id="20" name="Text 17"/>
          <p:cNvSpPr/>
          <p:nvPr/>
        </p:nvSpPr>
        <p:spPr>
          <a:xfrm>
            <a:off x="3337560" y="3383280"/>
            <a:ext cx="5212080" cy="640080"/>
          </a:xfrm>
          <a:prstGeom prst="rect">
            <a:avLst/>
          </a:prstGeom>
          <a:noFill/>
          <a:ln/>
        </p:spPr>
        <p:txBody>
          <a:bodyPr wrap="square" lIns="0" tIns="0" rIns="0" bIns="0" rtlCol="0" anchor="t"/>
          <a:lstStyle/>
          <a:p>
            <a:pPr marL="0" indent="0">
              <a:buNone/>
            </a:pPr>
            <a:r>
              <a:rPr lang="en-US" sz="900" dirty="0">
                <a:solidFill>
                  <a:srgbClr val="F5F0E8"/>
                </a:solidFill>
                <a:latin typeface="Arial" pitchFamily="34" charset="0"/>
                <a:ea typeface="Arial" pitchFamily="34" charset="-122"/>
                <a:cs typeface="Arial" pitchFamily="34" charset="-120"/>
              </a:rPr>
              <a:t>Cohort analysis groups entities (customers, products, business units) by a shared characteristic or time of entry and tracks their behavior over subsequent periods. In finance, this is invaluable for analyzing customer lifetime value, revenue retention curves, and expense patterns by vintage. It reveals whether performance differences are structural or temporal.</a:t>
            </a:r>
            <a:endParaRPr lang="en-US" sz="900" dirty="0"/>
          </a:p>
        </p:txBody>
      </p:sp>
      <p:pic>
        <p:nvPicPr>
          <p:cNvPr id="21"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23" name="Text 18"/>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5 / 10</a:t>
            </a:r>
            <a:endParaRPr lang="en-US" sz="800" dirty="0"/>
          </a:p>
        </p:txBody>
      </p:sp>
    </p:spTree>
  </p:cSld>
  <p:clrMapOvr>
    <a:masterClrMapping/>
  </p:clrMapOvr>
  <p:transition advClick="0" advTm="6419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02 &gt; Descriptive Analytics for Historical Performance</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FINANCIAL STATEMENT ANALYSIS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5391D5"/>
                </a:solidFill>
                <a:latin typeface="Arial" pitchFamily="34" charset="0"/>
                <a:ea typeface="Arial" pitchFamily="34" charset="-122"/>
                <a:cs typeface="Arial" pitchFamily="34" charset="-120"/>
              </a:rPr>
              <a:t>Analytical Lens</a:t>
            </a:r>
            <a:r>
              <a:rPr lang="en-US" sz="2200" b="1" dirty="0">
                <a:solidFill>
                  <a:srgbClr val="F5F0E8"/>
                </a:solidFill>
                <a:latin typeface="Arial" pitchFamily="34" charset="0"/>
                <a:ea typeface="Arial" pitchFamily="34" charset="-122"/>
                <a:cs typeface="Arial" pitchFamily="34" charset="-120"/>
              </a:rPr>
              <a:t> for Financial Statements</a:t>
            </a:r>
            <a:endParaRPr lang="en-US" sz="2200" dirty="0"/>
          </a:p>
        </p:txBody>
      </p:sp>
      <p:sp>
        <p:nvSpPr>
          <p:cNvPr id="11" name="Text 8"/>
          <p:cNvSpPr/>
          <p:nvPr/>
        </p:nvSpPr>
        <p:spPr>
          <a:xfrm>
            <a:off x="457200" y="2011680"/>
            <a:ext cx="2560320" cy="914400"/>
          </a:xfrm>
          <a:prstGeom prst="rect">
            <a:avLst/>
          </a:prstGeom>
          <a:noFill/>
          <a:ln/>
        </p:spPr>
        <p:txBody>
          <a:bodyPr wrap="square" lIns="0" tIns="0" rIns="0" bIns="0" rtlCol="0" anchor="ctr"/>
          <a:lstStyle/>
          <a:p>
            <a:pPr marL="0" indent="0">
              <a:buNone/>
            </a:pPr>
            <a:r>
              <a:rPr lang="en-US" sz="900" dirty="0">
                <a:solidFill>
                  <a:srgbClr val="8A9BB5"/>
                </a:solidFill>
                <a:latin typeface="Arial" pitchFamily="34" charset="0"/>
                <a:ea typeface="Arial" pitchFamily="34" charset="-122"/>
                <a:cs typeface="Arial" pitchFamily="34" charset="-120"/>
              </a:rPr>
              <a:t>Selecting the right analytical approach depends on the statement being analyzed and the depth of inquiry required.</a:t>
            </a:r>
            <a:endParaRPr lang="en-US" sz="900" dirty="0"/>
          </a:p>
        </p:txBody>
      </p:sp>
      <p:sp>
        <p:nvSpPr>
          <p:cNvPr id="12" name="Shape 9"/>
          <p:cNvSpPr/>
          <p:nvPr/>
        </p:nvSpPr>
        <p:spPr>
          <a:xfrm>
            <a:off x="3200400" y="640080"/>
            <a:ext cx="2697480" cy="1691640"/>
          </a:xfrm>
          <a:prstGeom prst="rect">
            <a:avLst/>
          </a:prstGeom>
          <a:solidFill>
            <a:srgbClr val="111D2E"/>
          </a:solidFill>
          <a:ln w="6350">
            <a:solidFill>
              <a:srgbClr val="0A1525"/>
            </a:solidFill>
            <a:prstDash val="solid"/>
          </a:ln>
        </p:spPr>
      </p:sp>
      <p:sp>
        <p:nvSpPr>
          <p:cNvPr id="13" name="Text 10"/>
          <p:cNvSpPr/>
          <p:nvPr/>
        </p:nvSpPr>
        <p:spPr>
          <a:xfrm>
            <a:off x="3310128" y="713232"/>
            <a:ext cx="2478024" cy="256032"/>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Common-Size Analysis</a:t>
            </a:r>
            <a:endParaRPr lang="en-US" sz="1000" dirty="0"/>
          </a:p>
        </p:txBody>
      </p:sp>
      <p:sp>
        <p:nvSpPr>
          <p:cNvPr id="14" name="Text 11"/>
          <p:cNvSpPr/>
          <p:nvPr/>
        </p:nvSpPr>
        <p:spPr>
          <a:xfrm>
            <a:off x="3310128" y="987552"/>
            <a:ext cx="2478024" cy="1252728"/>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Each line as % of total</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Income statement as % of revenue</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Balance sheet as % of total assets</a:t>
            </a:r>
            <a:endParaRPr lang="en-US" sz="800" dirty="0"/>
          </a:p>
        </p:txBody>
      </p:sp>
      <p:sp>
        <p:nvSpPr>
          <p:cNvPr id="15" name="Shape 12"/>
          <p:cNvSpPr/>
          <p:nvPr/>
        </p:nvSpPr>
        <p:spPr>
          <a:xfrm>
            <a:off x="5989320" y="640080"/>
            <a:ext cx="2697480" cy="1691640"/>
          </a:xfrm>
          <a:prstGeom prst="rect">
            <a:avLst/>
          </a:prstGeom>
          <a:solidFill>
            <a:srgbClr val="111D2E"/>
          </a:solidFill>
          <a:ln w="6350">
            <a:solidFill>
              <a:srgbClr val="0A1525"/>
            </a:solidFill>
            <a:prstDash val="solid"/>
          </a:ln>
        </p:spPr>
      </p:sp>
      <p:sp>
        <p:nvSpPr>
          <p:cNvPr id="16" name="Text 13"/>
          <p:cNvSpPr/>
          <p:nvPr/>
        </p:nvSpPr>
        <p:spPr>
          <a:xfrm>
            <a:off x="6099048" y="713232"/>
            <a:ext cx="2478024" cy="256032"/>
          </a:xfrm>
          <a:prstGeom prst="rect">
            <a:avLst/>
          </a:prstGeom>
          <a:noFill/>
          <a:ln/>
        </p:spPr>
        <p:txBody>
          <a:bodyPr wrap="square" lIns="0" tIns="0" rIns="0" bIns="0" rtlCol="0" anchor="ctr"/>
          <a:lstStyle/>
          <a:p>
            <a:pPr marL="0" indent="0">
              <a:buNone/>
            </a:pPr>
            <a:r>
              <a:rPr lang="en-US" sz="1000" b="1" dirty="0">
                <a:solidFill>
                  <a:srgbClr val="5391D5"/>
                </a:solidFill>
                <a:latin typeface="Arial" pitchFamily="34" charset="0"/>
                <a:ea typeface="Arial" pitchFamily="34" charset="-122"/>
                <a:cs typeface="Arial" pitchFamily="34" charset="-120"/>
              </a:rPr>
              <a:t>Horizontal (Trend) Analysis</a:t>
            </a:r>
            <a:endParaRPr lang="en-US" sz="1000" dirty="0"/>
          </a:p>
        </p:txBody>
      </p:sp>
      <p:sp>
        <p:nvSpPr>
          <p:cNvPr id="17" name="Text 14"/>
          <p:cNvSpPr/>
          <p:nvPr/>
        </p:nvSpPr>
        <p:spPr>
          <a:xfrm>
            <a:off x="6099048" y="987552"/>
            <a:ext cx="2478024" cy="1252728"/>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Year-over-year growth rates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CAGR calculations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Indexed base-year comparisons</a:t>
            </a:r>
            <a:endParaRPr lang="en-US" sz="800" dirty="0"/>
          </a:p>
        </p:txBody>
      </p:sp>
      <p:sp>
        <p:nvSpPr>
          <p:cNvPr id="18" name="Shape 15"/>
          <p:cNvSpPr/>
          <p:nvPr/>
        </p:nvSpPr>
        <p:spPr>
          <a:xfrm>
            <a:off x="3200400" y="2423160"/>
            <a:ext cx="2697480" cy="1691640"/>
          </a:xfrm>
          <a:prstGeom prst="rect">
            <a:avLst/>
          </a:prstGeom>
          <a:solidFill>
            <a:srgbClr val="111D2E"/>
          </a:solidFill>
          <a:ln w="6350">
            <a:solidFill>
              <a:srgbClr val="0A1525"/>
            </a:solidFill>
            <a:prstDash val="solid"/>
          </a:ln>
        </p:spPr>
      </p:sp>
      <p:sp>
        <p:nvSpPr>
          <p:cNvPr id="19" name="Text 16"/>
          <p:cNvSpPr/>
          <p:nvPr/>
        </p:nvSpPr>
        <p:spPr>
          <a:xfrm>
            <a:off x="3310128" y="2496312"/>
            <a:ext cx="2478024" cy="256032"/>
          </a:xfrm>
          <a:prstGeom prst="rect">
            <a:avLst/>
          </a:prstGeom>
          <a:noFill/>
          <a:ln/>
        </p:spPr>
        <p:txBody>
          <a:bodyPr wrap="square" lIns="0" tIns="0" rIns="0" bIns="0" rtlCol="0" anchor="ctr"/>
          <a:lstStyle/>
          <a:p>
            <a:pPr marL="0" indent="0">
              <a:buNone/>
            </a:pPr>
            <a:r>
              <a:rPr lang="en-US" sz="1000" b="1" dirty="0">
                <a:solidFill>
                  <a:srgbClr val="F5F0E8"/>
                </a:solidFill>
                <a:latin typeface="Arial" pitchFamily="34" charset="0"/>
                <a:ea typeface="Arial" pitchFamily="34" charset="-122"/>
                <a:cs typeface="Arial" pitchFamily="34" charset="-120"/>
              </a:rPr>
              <a:t>Ratio Analysis</a:t>
            </a:r>
            <a:endParaRPr lang="en-US" sz="1000" dirty="0"/>
          </a:p>
        </p:txBody>
      </p:sp>
      <p:sp>
        <p:nvSpPr>
          <p:cNvPr id="20" name="Text 17"/>
          <p:cNvSpPr/>
          <p:nvPr/>
        </p:nvSpPr>
        <p:spPr>
          <a:xfrm>
            <a:off x="3310128" y="2770632"/>
            <a:ext cx="2478024" cy="1252728"/>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Liquidity ratios (Current, Quick)</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Profitability (ROE, ROA, margins)</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Leverage (D/E, Interest coverage)</a:t>
            </a:r>
            <a:endParaRPr lang="en-US" sz="800" dirty="0"/>
          </a:p>
        </p:txBody>
      </p:sp>
      <p:sp>
        <p:nvSpPr>
          <p:cNvPr id="21" name="Shape 18"/>
          <p:cNvSpPr/>
          <p:nvPr/>
        </p:nvSpPr>
        <p:spPr>
          <a:xfrm>
            <a:off x="5989320" y="2423160"/>
            <a:ext cx="2697480" cy="1691640"/>
          </a:xfrm>
          <a:prstGeom prst="rect">
            <a:avLst/>
          </a:prstGeom>
          <a:solidFill>
            <a:srgbClr val="111D2E"/>
          </a:solidFill>
          <a:ln w="6350">
            <a:solidFill>
              <a:srgbClr val="0A1525"/>
            </a:solidFill>
            <a:prstDash val="solid"/>
          </a:ln>
        </p:spPr>
      </p:sp>
      <p:sp>
        <p:nvSpPr>
          <p:cNvPr id="22" name="Text 19"/>
          <p:cNvSpPr/>
          <p:nvPr/>
        </p:nvSpPr>
        <p:spPr>
          <a:xfrm>
            <a:off x="6099048" y="2496312"/>
            <a:ext cx="2478024" cy="256032"/>
          </a:xfrm>
          <a:prstGeom prst="rect">
            <a:avLst/>
          </a:prstGeom>
          <a:noFill/>
          <a:ln/>
        </p:spPr>
        <p:txBody>
          <a:bodyPr wrap="square" lIns="0" tIns="0" rIns="0" bIns="0" rtlCol="0" anchor="ctr"/>
          <a:lstStyle/>
          <a:p>
            <a:pPr marL="0" indent="0">
              <a:buNone/>
            </a:pPr>
            <a:r>
              <a:rPr lang="en-US" sz="1000" b="1" dirty="0">
                <a:solidFill>
                  <a:srgbClr val="5391D5"/>
                </a:solidFill>
                <a:latin typeface="Arial" pitchFamily="34" charset="0"/>
                <a:ea typeface="Arial" pitchFamily="34" charset="-122"/>
                <a:cs typeface="Arial" pitchFamily="34" charset="-120"/>
              </a:rPr>
              <a:t>DuPont Decomposition</a:t>
            </a:r>
            <a:endParaRPr lang="en-US" sz="1000" dirty="0"/>
          </a:p>
        </p:txBody>
      </p:sp>
      <p:sp>
        <p:nvSpPr>
          <p:cNvPr id="23" name="Text 20"/>
          <p:cNvSpPr/>
          <p:nvPr/>
        </p:nvSpPr>
        <p:spPr>
          <a:xfrm>
            <a:off x="6099048" y="2770632"/>
            <a:ext cx="2478024" cy="1252728"/>
          </a:xfrm>
          <a:prstGeom prst="rect">
            <a:avLst/>
          </a:prstGeom>
          <a:noFill/>
          <a:ln/>
        </p:spPr>
        <p:txBody>
          <a:bodyPr wrap="square" lIns="0" tIns="0" rIns="0" bIns="0" rtlCol="0" anchor="t"/>
          <a:lstStyle/>
          <a:p>
            <a:pPr marL="342900" indent="-342900">
              <a:buSzPct val="100000"/>
              <a:buChar char="•"/>
            </a:pPr>
            <a:r>
              <a:rPr lang="en-US" sz="800" dirty="0">
                <a:solidFill>
                  <a:srgbClr val="8A9BB5"/>
                </a:solidFill>
                <a:latin typeface="Arial" pitchFamily="34" charset="0"/>
                <a:ea typeface="Arial" pitchFamily="34" charset="-122"/>
                <a:cs typeface="Arial" pitchFamily="34" charset="-120"/>
              </a:rPr>
              <a:t>ROE = Margin x Turnover x Leverage</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Multi-period DuPont waterfall</a:t>
            </a:r>
            <a:endParaRPr lang="en-US" sz="800" dirty="0"/>
          </a:p>
          <a:p>
            <a:pPr marL="342900" indent="-342900">
              <a:buSzPct val="100000"/>
              <a:buChar char="•"/>
            </a:pPr>
            <a:r>
              <a:rPr lang="en-US" sz="800" dirty="0">
                <a:solidFill>
                  <a:srgbClr val="8A9BB5"/>
                </a:solidFill>
                <a:latin typeface="Arial" pitchFamily="34" charset="0"/>
                <a:ea typeface="Arial" pitchFamily="34" charset="-122"/>
                <a:cs typeface="Arial" pitchFamily="34" charset="-120"/>
              </a:rPr>
              <a:t>Cross-company benchmarking</a:t>
            </a:r>
            <a:endParaRPr lang="en-US" sz="800" dirty="0"/>
          </a:p>
        </p:txBody>
      </p:sp>
      <p:sp>
        <p:nvSpPr>
          <p:cNvPr id="24" name="Text 21"/>
          <p:cNvSpPr/>
          <p:nvPr/>
        </p:nvSpPr>
        <p:spPr>
          <a:xfrm>
            <a:off x="3200400" y="4160520"/>
            <a:ext cx="2697480" cy="182880"/>
          </a:xfrm>
          <a:prstGeom prst="rect">
            <a:avLst/>
          </a:prstGeom>
          <a:noFill/>
          <a:ln/>
        </p:spPr>
        <p:txBody>
          <a:bodyPr wrap="square" lIns="0" tIns="0" rIns="0" bIns="0" rtlCol="0" anchor="ctr"/>
          <a:lstStyle/>
          <a:p>
            <a:pPr marL="0" indent="0">
              <a:buNone/>
            </a:pPr>
            <a:r>
              <a:rPr lang="en-US" sz="700" kern="0" spc="100" dirty="0">
                <a:solidFill>
                  <a:srgbClr val="8A9BB5"/>
                </a:solidFill>
                <a:latin typeface="Arial" pitchFamily="34" charset="0"/>
                <a:ea typeface="Arial" pitchFamily="34" charset="-122"/>
                <a:cs typeface="Arial" pitchFamily="34" charset="-120"/>
              </a:rPr>
              <a:t>Component Level ← → Aggregate Level</a:t>
            </a:r>
            <a:endParaRPr lang="en-US" sz="700" dirty="0"/>
          </a:p>
        </p:txBody>
      </p:sp>
      <p:sp>
        <p:nvSpPr>
          <p:cNvPr id="25" name="Text 22"/>
          <p:cNvSpPr/>
          <p:nvPr/>
        </p:nvSpPr>
        <p:spPr>
          <a:xfrm>
            <a:off x="5989320" y="4160520"/>
            <a:ext cx="2697480" cy="182880"/>
          </a:xfrm>
          <a:prstGeom prst="rect">
            <a:avLst/>
          </a:prstGeom>
          <a:noFill/>
          <a:ln/>
        </p:spPr>
        <p:txBody>
          <a:bodyPr wrap="square" lIns="0" tIns="0" rIns="0" bIns="0" rtlCol="0" anchor="ctr"/>
          <a:lstStyle/>
          <a:p>
            <a:pPr marL="0" indent="0" algn="r">
              <a:buNone/>
            </a:pPr>
            <a:r>
              <a:rPr lang="en-US" sz="700" kern="0" spc="100" dirty="0">
                <a:solidFill>
                  <a:srgbClr val="8A9BB5"/>
                </a:solidFill>
                <a:latin typeface="Arial" pitchFamily="34" charset="0"/>
                <a:ea typeface="Arial" pitchFamily="34" charset="-122"/>
                <a:cs typeface="Arial" pitchFamily="34" charset="-120"/>
              </a:rPr>
              <a:t>Single Period ← → Multi-Period</a:t>
            </a:r>
            <a:endParaRPr lang="en-US" sz="700" dirty="0"/>
          </a:p>
        </p:txBody>
      </p:sp>
      <p:pic>
        <p:nvPicPr>
          <p:cNvPr id="26"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28" name="Text 23"/>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6 / 10</a:t>
            </a:r>
            <a:endParaRPr lang="en-US" sz="800" dirty="0"/>
          </a:p>
        </p:txBody>
      </p:sp>
    </p:spTree>
  </p:cSld>
  <p:clrMapOvr>
    <a:masterClrMapping/>
  </p:clrMapOvr>
  <p:transition advClick="0" advTm="58992">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02 &gt; Descriptive Analytics for Historical Performance</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BUILDING BASELINES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Establishing Performance </a:t>
            </a:r>
            <a:r>
              <a:rPr lang="en-US" sz="2200" b="1" dirty="0">
                <a:solidFill>
                  <a:srgbClr val="5391D5"/>
                </a:solidFill>
                <a:latin typeface="Arial" pitchFamily="34" charset="0"/>
                <a:ea typeface="Arial" pitchFamily="34" charset="-122"/>
                <a:cs typeface="Arial" pitchFamily="34" charset="-120"/>
              </a:rPr>
              <a:t>Baselines</a:t>
            </a:r>
            <a:endParaRPr lang="en-US" sz="2200" dirty="0"/>
          </a:p>
        </p:txBody>
      </p:sp>
      <p:sp>
        <p:nvSpPr>
          <p:cNvPr id="11" name="Shape 8"/>
          <p:cNvSpPr/>
          <p:nvPr/>
        </p:nvSpPr>
        <p:spPr>
          <a:xfrm>
            <a:off x="731520" y="2286000"/>
            <a:ext cx="548640" cy="548640"/>
          </a:xfrm>
          <a:prstGeom prst="ellipse">
            <a:avLst/>
          </a:prstGeom>
          <a:solidFill>
            <a:srgbClr val="5391D5"/>
          </a:solidFill>
          <a:ln/>
        </p:spPr>
      </p:sp>
      <p:sp>
        <p:nvSpPr>
          <p:cNvPr id="12" name="Text 9"/>
          <p:cNvSpPr/>
          <p:nvPr/>
        </p:nvSpPr>
        <p:spPr>
          <a:xfrm>
            <a:off x="731520" y="2286000"/>
            <a:ext cx="548640" cy="548640"/>
          </a:xfrm>
          <a:prstGeom prst="rect">
            <a:avLst/>
          </a:prstGeom>
          <a:noFill/>
          <a:ln/>
        </p:spPr>
        <p:txBody>
          <a:bodyPr wrap="square" lIns="0" tIns="0" rIns="0" bIns="0" rtlCol="0" anchor="ctr"/>
          <a:lstStyle/>
          <a:p>
            <a:pPr marL="0" indent="0" algn="ctr">
              <a:buNone/>
            </a:pPr>
            <a:r>
              <a:rPr lang="en-US" sz="1800" b="1" dirty="0">
                <a:solidFill>
                  <a:srgbClr val="F5F0E8"/>
                </a:solidFill>
                <a:latin typeface="Arial" pitchFamily="34" charset="0"/>
                <a:ea typeface="Arial" pitchFamily="34" charset="-122"/>
                <a:cs typeface="Arial" pitchFamily="34" charset="-120"/>
              </a:rPr>
              <a:t>01</a:t>
            </a:r>
            <a:endParaRPr lang="en-US" sz="1800" dirty="0"/>
          </a:p>
        </p:txBody>
      </p:sp>
      <p:sp>
        <p:nvSpPr>
          <p:cNvPr id="13" name="Text 10"/>
          <p:cNvSpPr/>
          <p:nvPr/>
        </p:nvSpPr>
        <p:spPr>
          <a:xfrm>
            <a:off x="457200" y="2926080"/>
            <a:ext cx="2560320" cy="365760"/>
          </a:xfrm>
          <a:prstGeom prst="rect">
            <a:avLst/>
          </a:prstGeom>
          <a:noFill/>
          <a:ln/>
        </p:spPr>
        <p:txBody>
          <a:bodyPr wrap="square" lIns="0" tIns="0" rIns="0" bIns="0" rtlCol="0" anchor="ctr"/>
          <a:lstStyle/>
          <a:p>
            <a:pPr marL="0" indent="0">
              <a:buNone/>
            </a:pPr>
            <a:r>
              <a:rPr lang="en-US" sz="1200" b="1" dirty="0">
                <a:solidFill>
                  <a:srgbClr val="F5F0E8"/>
                </a:solidFill>
                <a:latin typeface="Arial" pitchFamily="34" charset="0"/>
                <a:ea typeface="Arial" pitchFamily="34" charset="-122"/>
                <a:cs typeface="Arial" pitchFamily="34" charset="-120"/>
              </a:rPr>
              <a:t>Define Baseline Metrics and Time Horizons</a:t>
            </a:r>
            <a:endParaRPr lang="en-US" sz="1200" dirty="0"/>
          </a:p>
        </p:txBody>
      </p:sp>
      <p:sp>
        <p:nvSpPr>
          <p:cNvPr id="14" name="Shape 11"/>
          <p:cNvSpPr/>
          <p:nvPr/>
        </p:nvSpPr>
        <p:spPr>
          <a:xfrm>
            <a:off x="3200400" y="640080"/>
            <a:ext cx="5486400" cy="1828800"/>
          </a:xfrm>
          <a:prstGeom prst="rect">
            <a:avLst/>
          </a:prstGeom>
          <a:solidFill>
            <a:srgbClr val="111D2E"/>
          </a:solidFill>
          <a:ln w="6350">
            <a:solidFill>
              <a:srgbClr val="0A1525"/>
            </a:solidFill>
            <a:prstDash val="solid"/>
          </a:ln>
        </p:spPr>
      </p:sp>
      <p:sp>
        <p:nvSpPr>
          <p:cNvPr id="15" name="Text 12"/>
          <p:cNvSpPr/>
          <p:nvPr/>
        </p:nvSpPr>
        <p:spPr>
          <a:xfrm>
            <a:off x="3337560" y="731520"/>
            <a:ext cx="5212080" cy="1645920"/>
          </a:xfrm>
          <a:prstGeom prst="rect">
            <a:avLst/>
          </a:prstGeom>
          <a:noFill/>
          <a:ln/>
        </p:spPr>
        <p:txBody>
          <a:bodyPr wrap="square" lIns="0" tIns="0" rIns="0" bIns="0" rtlCol="0" anchor="t"/>
          <a:lstStyle/>
          <a:p>
            <a:pPr marL="0" indent="0">
              <a:buNone/>
            </a:pPr>
            <a:r>
              <a:rPr lang="en-US" sz="1000" dirty="0">
                <a:solidFill>
                  <a:srgbClr val="F5F0E8"/>
                </a:solidFill>
                <a:latin typeface="Arial" pitchFamily="34" charset="0"/>
                <a:ea typeface="Arial" pitchFamily="34" charset="-122"/>
                <a:cs typeface="Arial" pitchFamily="34" charset="-120"/>
              </a:rPr>
              <a:t>The first step in building performance baselines is selecting the right metrics and the appropriate historical window. Choose metrics that are controllable, measurable, and aligned to strategic objectives. The time horizon should be long enough to capture full business cycles (typically three to five years) but recent enough to reflect current operating conditions.</a:t>
            </a:r>
            <a:endParaRPr lang="en-US" sz="1000" dirty="0"/>
          </a:p>
        </p:txBody>
      </p:sp>
      <p:sp>
        <p:nvSpPr>
          <p:cNvPr id="16" name="Text 13"/>
          <p:cNvSpPr/>
          <p:nvPr/>
        </p:nvSpPr>
        <p:spPr>
          <a:xfrm>
            <a:off x="3337560" y="2606040"/>
            <a:ext cx="5212080" cy="1828800"/>
          </a:xfrm>
          <a:prstGeom prst="rect">
            <a:avLst/>
          </a:prstGeom>
          <a:noFill/>
          <a:ln/>
        </p:spPr>
        <p:txBody>
          <a:bodyPr wrap="square" lIns="0" tIns="0" rIns="0" bIns="0" rtlCol="0" anchor="t"/>
          <a:lstStyle/>
          <a:p>
            <a:pPr marL="342900" indent="-342900">
              <a:buSzPct val="100000"/>
              <a:buChar char="•"/>
            </a:pPr>
            <a:r>
              <a:rPr lang="en-US" sz="900" dirty="0">
                <a:solidFill>
                  <a:srgbClr val="8A9BB5"/>
                </a:solidFill>
                <a:latin typeface="Arial" pitchFamily="34" charset="0"/>
                <a:ea typeface="Arial" pitchFamily="34" charset="-122"/>
                <a:cs typeface="Arial" pitchFamily="34" charset="-120"/>
              </a:rPr>
              <a:t>Identify five to ten KPIs per business unit aligned with strategic goals</a:t>
            </a:r>
            <a:endParaRPr lang="en-US" sz="900" dirty="0"/>
          </a:p>
          <a:p>
            <a:pPr marL="342900" indent="-342900">
              <a:buSzPct val="100000"/>
              <a:buChar char="•"/>
            </a:pPr>
            <a:r>
              <a:rPr lang="en-US" sz="900" dirty="0">
                <a:solidFill>
                  <a:srgbClr val="8A9BB5"/>
                </a:solidFill>
                <a:latin typeface="Arial" pitchFamily="34" charset="0"/>
                <a:ea typeface="Arial" pitchFamily="34" charset="-122"/>
                <a:cs typeface="Arial" pitchFamily="34" charset="-120"/>
              </a:rPr>
              <a:t>Select a historical window of three to five years to capture cyclicality</a:t>
            </a:r>
            <a:endParaRPr lang="en-US" sz="900" dirty="0"/>
          </a:p>
          <a:p>
            <a:pPr marL="342900" indent="-342900">
              <a:buSzPct val="100000"/>
              <a:buChar char="•"/>
            </a:pPr>
            <a:r>
              <a:rPr lang="en-US" sz="900" dirty="0">
                <a:solidFill>
                  <a:srgbClr val="8A9BB5"/>
                </a:solidFill>
                <a:latin typeface="Arial" pitchFamily="34" charset="0"/>
                <a:ea typeface="Arial" pitchFamily="34" charset="-122"/>
                <a:cs typeface="Arial" pitchFamily="34" charset="-120"/>
              </a:rPr>
              <a:t>Adjust for one-time items, restatements, and structural changes (e.g., acquisitions)</a:t>
            </a:r>
            <a:endParaRPr lang="en-US" sz="900" dirty="0"/>
          </a:p>
          <a:p>
            <a:pPr marL="342900" indent="-342900">
              <a:buSzPct val="100000"/>
              <a:buChar char="•"/>
            </a:pPr>
            <a:r>
              <a:rPr lang="en-US" sz="900" dirty="0">
                <a:solidFill>
                  <a:srgbClr val="8A9BB5"/>
                </a:solidFill>
                <a:latin typeface="Arial" pitchFamily="34" charset="0"/>
                <a:ea typeface="Arial" pitchFamily="34" charset="-122"/>
                <a:cs typeface="Arial" pitchFamily="34" charset="-120"/>
              </a:rPr>
              <a:t>Compute statistical baselines: mean, median, standard deviation, and percentile ranges</a:t>
            </a:r>
            <a:endParaRPr lang="en-US" sz="900" dirty="0"/>
          </a:p>
          <a:p>
            <a:pPr marL="342900" indent="-342900">
              <a:buSzPct val="100000"/>
              <a:buChar char="•"/>
            </a:pPr>
            <a:r>
              <a:rPr lang="en-US" sz="900" dirty="0">
                <a:solidFill>
                  <a:srgbClr val="8A9BB5"/>
                </a:solidFill>
                <a:latin typeface="Arial" pitchFamily="34" charset="0"/>
                <a:ea typeface="Arial" pitchFamily="34" charset="-122"/>
                <a:cs typeface="Arial" pitchFamily="34" charset="-120"/>
              </a:rPr>
              <a:t>Document assumptions and exclusions for auditability and future reference</a:t>
            </a:r>
            <a:endParaRPr lang="en-US" sz="900" dirty="0"/>
          </a:p>
        </p:txBody>
      </p:sp>
      <p:pic>
        <p:nvPicPr>
          <p:cNvPr id="1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9" name="Text 14"/>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7 / 10</a:t>
            </a:r>
            <a:endParaRPr lang="en-US" sz="800" dirty="0"/>
          </a:p>
        </p:txBody>
      </p:sp>
    </p:spTree>
  </p:cSld>
  <p:clrMapOvr>
    <a:masterClrMapping/>
  </p:clrMapOvr>
  <p:transition advClick="0" advTm="50868">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02 &gt; Descriptive Analytics for Historical Performance</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IMPACT METRICS</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The </a:t>
            </a:r>
            <a:r>
              <a:rPr lang="en-US" sz="2200" b="1" dirty="0">
                <a:solidFill>
                  <a:srgbClr val="5391D5"/>
                </a:solidFill>
                <a:latin typeface="Arial" pitchFamily="34" charset="0"/>
                <a:ea typeface="Arial" pitchFamily="34" charset="-122"/>
                <a:cs typeface="Arial" pitchFamily="34" charset="-120"/>
              </a:rPr>
              <a:t>Value</a:t>
            </a:r>
            <a:r>
              <a:rPr lang="en-US" sz="2200" b="1" dirty="0">
                <a:solidFill>
                  <a:srgbClr val="F5F0E8"/>
                </a:solidFill>
                <a:latin typeface="Arial" pitchFamily="34" charset="0"/>
                <a:ea typeface="Arial" pitchFamily="34" charset="-122"/>
                <a:cs typeface="Arial" pitchFamily="34" charset="-120"/>
              </a:rPr>
              <a:t> of Descriptive Analytics</a:t>
            </a:r>
            <a:endParaRPr lang="en-US" sz="2200" dirty="0"/>
          </a:p>
        </p:txBody>
      </p:sp>
      <p:sp>
        <p:nvSpPr>
          <p:cNvPr id="11" name="Shape 8"/>
          <p:cNvSpPr/>
          <p:nvPr/>
        </p:nvSpPr>
        <p:spPr>
          <a:xfrm>
            <a:off x="3200400" y="731520"/>
            <a:ext cx="2674620" cy="1005840"/>
          </a:xfrm>
          <a:prstGeom prst="rect">
            <a:avLst/>
          </a:prstGeom>
          <a:solidFill>
            <a:srgbClr val="111D2E"/>
          </a:solidFill>
          <a:ln w="6350">
            <a:solidFill>
              <a:srgbClr val="0A1525"/>
            </a:solidFill>
            <a:prstDash val="solid"/>
          </a:ln>
        </p:spPr>
      </p:sp>
      <p:sp>
        <p:nvSpPr>
          <p:cNvPr id="12" name="Text 9"/>
          <p:cNvSpPr/>
          <p:nvPr/>
        </p:nvSpPr>
        <p:spPr>
          <a:xfrm>
            <a:off x="3337560" y="841248"/>
            <a:ext cx="2400300" cy="457200"/>
          </a:xfrm>
          <a:prstGeom prst="rect">
            <a:avLst/>
          </a:prstGeom>
          <a:noFill/>
          <a:ln/>
        </p:spPr>
        <p:txBody>
          <a:bodyPr wrap="square" lIns="0" tIns="0" rIns="0" bIns="0" rtlCol="0" anchor="ctr"/>
          <a:lstStyle/>
          <a:p>
            <a:pPr marL="0" indent="0">
              <a:buNone/>
            </a:pPr>
            <a:r>
              <a:rPr lang="en-US" sz="2400" b="1" dirty="0">
                <a:solidFill>
                  <a:srgbClr val="5391D5"/>
                </a:solidFill>
                <a:latin typeface="Arial" pitchFamily="34" charset="0"/>
                <a:ea typeface="Arial" pitchFamily="34" charset="-122"/>
                <a:cs typeface="Arial" pitchFamily="34" charset="-120"/>
              </a:rPr>
              <a:t>49%</a:t>
            </a:r>
            <a:endParaRPr lang="en-US" sz="2400" dirty="0"/>
          </a:p>
        </p:txBody>
      </p:sp>
      <p:sp>
        <p:nvSpPr>
          <p:cNvPr id="13" name="Text 10"/>
          <p:cNvSpPr/>
          <p:nvPr/>
        </p:nvSpPr>
        <p:spPr>
          <a:xfrm>
            <a:off x="3337560" y="1280160"/>
            <a:ext cx="2400300" cy="32004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of finance teams say descriptive analytics is their most-used capability</a:t>
            </a:r>
            <a:endParaRPr lang="en-US" sz="900" dirty="0"/>
          </a:p>
        </p:txBody>
      </p:sp>
      <p:sp>
        <p:nvSpPr>
          <p:cNvPr id="14" name="Shape 11"/>
          <p:cNvSpPr/>
          <p:nvPr/>
        </p:nvSpPr>
        <p:spPr>
          <a:xfrm>
            <a:off x="6012180" y="731520"/>
            <a:ext cx="2674620" cy="1005840"/>
          </a:xfrm>
          <a:prstGeom prst="rect">
            <a:avLst/>
          </a:prstGeom>
          <a:solidFill>
            <a:srgbClr val="111D2E"/>
          </a:solidFill>
          <a:ln w="6350">
            <a:solidFill>
              <a:srgbClr val="0A1525"/>
            </a:solidFill>
            <a:prstDash val="solid"/>
          </a:ln>
        </p:spPr>
      </p:sp>
      <p:sp>
        <p:nvSpPr>
          <p:cNvPr id="15" name="Text 12"/>
          <p:cNvSpPr/>
          <p:nvPr/>
        </p:nvSpPr>
        <p:spPr>
          <a:xfrm>
            <a:off x="6149340" y="841248"/>
            <a:ext cx="2400300" cy="457200"/>
          </a:xfrm>
          <a:prstGeom prst="rect">
            <a:avLst/>
          </a:prstGeom>
          <a:noFill/>
          <a:ln/>
        </p:spPr>
        <p:txBody>
          <a:bodyPr wrap="square" lIns="0" tIns="0" rIns="0" bIns="0" rtlCol="0" anchor="ctr"/>
          <a:lstStyle/>
          <a:p>
            <a:pPr marL="0" indent="0">
              <a:buNone/>
            </a:pPr>
            <a:r>
              <a:rPr lang="en-US" sz="2400" b="1" dirty="0">
                <a:solidFill>
                  <a:srgbClr val="5391D5"/>
                </a:solidFill>
                <a:latin typeface="Arial" pitchFamily="34" charset="0"/>
                <a:ea typeface="Arial" pitchFamily="34" charset="-122"/>
                <a:cs typeface="Arial" pitchFamily="34" charset="-120"/>
              </a:rPr>
              <a:t>2.5x</a:t>
            </a:r>
            <a:endParaRPr lang="en-US" sz="2400" dirty="0"/>
          </a:p>
        </p:txBody>
      </p:sp>
      <p:sp>
        <p:nvSpPr>
          <p:cNvPr id="16" name="Text 13"/>
          <p:cNvSpPr/>
          <p:nvPr/>
        </p:nvSpPr>
        <p:spPr>
          <a:xfrm>
            <a:off x="6149340" y="1280160"/>
            <a:ext cx="2400300" cy="32004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faster monthly close for organizations with automated descriptive analytics</a:t>
            </a:r>
            <a:endParaRPr lang="en-US" sz="900" dirty="0"/>
          </a:p>
        </p:txBody>
      </p:sp>
      <p:sp>
        <p:nvSpPr>
          <p:cNvPr id="17" name="Shape 14"/>
          <p:cNvSpPr/>
          <p:nvPr/>
        </p:nvSpPr>
        <p:spPr>
          <a:xfrm>
            <a:off x="3200400" y="1874520"/>
            <a:ext cx="2674620" cy="1005840"/>
          </a:xfrm>
          <a:prstGeom prst="rect">
            <a:avLst/>
          </a:prstGeom>
          <a:solidFill>
            <a:srgbClr val="111D2E"/>
          </a:solidFill>
          <a:ln w="6350">
            <a:solidFill>
              <a:srgbClr val="0A1525"/>
            </a:solidFill>
            <a:prstDash val="solid"/>
          </a:ln>
        </p:spPr>
      </p:sp>
      <p:sp>
        <p:nvSpPr>
          <p:cNvPr id="18" name="Text 15"/>
          <p:cNvSpPr/>
          <p:nvPr/>
        </p:nvSpPr>
        <p:spPr>
          <a:xfrm>
            <a:off x="3337560" y="1984248"/>
            <a:ext cx="2400300" cy="457200"/>
          </a:xfrm>
          <a:prstGeom prst="rect">
            <a:avLst/>
          </a:prstGeom>
          <a:noFill/>
          <a:ln/>
        </p:spPr>
        <p:txBody>
          <a:bodyPr wrap="square" lIns="0" tIns="0" rIns="0" bIns="0" rtlCol="0" anchor="ctr"/>
          <a:lstStyle/>
          <a:p>
            <a:pPr marL="0" indent="0">
              <a:buNone/>
            </a:pPr>
            <a:r>
              <a:rPr lang="en-US" sz="2400" b="1" dirty="0">
                <a:solidFill>
                  <a:srgbClr val="5391D5"/>
                </a:solidFill>
                <a:latin typeface="Arial" pitchFamily="34" charset="0"/>
                <a:ea typeface="Arial" pitchFamily="34" charset="-122"/>
                <a:cs typeface="Arial" pitchFamily="34" charset="-120"/>
              </a:rPr>
              <a:t>$4.2M</a:t>
            </a:r>
            <a:endParaRPr lang="en-US" sz="2400" dirty="0"/>
          </a:p>
        </p:txBody>
      </p:sp>
      <p:sp>
        <p:nvSpPr>
          <p:cNvPr id="19" name="Text 16"/>
          <p:cNvSpPr/>
          <p:nvPr/>
        </p:nvSpPr>
        <p:spPr>
          <a:xfrm>
            <a:off x="3337560" y="2423160"/>
            <a:ext cx="2400300" cy="320040"/>
          </a:xfrm>
          <a:prstGeom prst="rect">
            <a:avLst/>
          </a:prstGeom>
          <a:noFill/>
          <a:ln/>
        </p:spPr>
        <p:txBody>
          <a:bodyPr wrap="square" lIns="0" tIns="0" rIns="0" bIns="0" rtlCol="0" anchor="t"/>
          <a:lstStyle/>
          <a:p>
            <a:pPr marL="0" indent="0">
              <a:buNone/>
            </a:pPr>
            <a:r>
              <a:rPr lang="en-US" sz="900" dirty="0">
                <a:solidFill>
                  <a:srgbClr val="8A9BB5"/>
                </a:solidFill>
                <a:latin typeface="Arial" pitchFamily="34" charset="0"/>
                <a:ea typeface="Arial" pitchFamily="34" charset="-122"/>
                <a:cs typeface="Arial" pitchFamily="34" charset="-120"/>
              </a:rPr>
              <a:t>average annual savings from eliminating manual data aggregation in large enterprises</a:t>
            </a:r>
            <a:endParaRPr lang="en-US" sz="900" dirty="0"/>
          </a:p>
        </p:txBody>
      </p:sp>
      <p:pic>
        <p:nvPicPr>
          <p:cNvPr id="20"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22" name="Text 17"/>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8 / 10</a:t>
            </a:r>
            <a:endParaRPr lang="en-US" sz="800" dirty="0"/>
          </a:p>
        </p:txBody>
      </p:sp>
    </p:spTree>
  </p:cSld>
  <p:clrMapOvr>
    <a:masterClrMapping/>
  </p:clrMapOvr>
  <p:transition advClick="0" advTm="48229">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6400800" cy="228600"/>
          </a:xfrm>
          <a:prstGeom prst="rect">
            <a:avLst/>
          </a:prstGeom>
          <a:noFill/>
          <a:ln/>
        </p:spPr>
        <p:txBody>
          <a:bodyPr wrap="square" lIns="0" tIns="0" rIns="0" bIns="0" rtlCol="0" anchor="ctr"/>
          <a:lstStyle/>
          <a:p>
            <a:pPr marL="0" indent="0">
              <a:buNone/>
            </a:pPr>
            <a:r>
              <a:rPr lang="en-US" sz="700" dirty="0">
                <a:solidFill>
                  <a:srgbClr val="8A9BB5"/>
                </a:solidFill>
                <a:latin typeface="Arial" pitchFamily="34" charset="0"/>
                <a:ea typeface="Arial" pitchFamily="34" charset="-122"/>
                <a:cs typeface="Arial" pitchFamily="34" charset="-120"/>
              </a:rPr>
              <a:t>CAIFL &gt; Module 02 &gt; Descriptive Analytics for Historical Performance</a:t>
            </a:r>
            <a:endParaRPr lang="en-US" sz="700" dirty="0"/>
          </a:p>
        </p:txBody>
      </p:sp>
      <p:sp>
        <p:nvSpPr>
          <p:cNvPr id="3" name="Shape 1"/>
          <p:cNvSpPr/>
          <p:nvPr/>
        </p:nvSpPr>
        <p:spPr>
          <a:xfrm>
            <a:off x="8174736" y="164592"/>
            <a:ext cx="73152" cy="73152"/>
          </a:xfrm>
          <a:prstGeom prst="ellipse">
            <a:avLst/>
          </a:prstGeom>
          <a:solidFill>
            <a:srgbClr val="5391D5"/>
          </a:solidFill>
          <a:ln w="6350">
            <a:solidFill>
              <a:srgbClr val="8A9BB5"/>
            </a:solidFill>
            <a:prstDash val="solid"/>
          </a:ln>
        </p:spPr>
      </p:sp>
      <p:sp>
        <p:nvSpPr>
          <p:cNvPr id="4" name="Shape 2"/>
          <p:cNvSpPr/>
          <p:nvPr/>
        </p:nvSpPr>
        <p:spPr>
          <a:xfrm>
            <a:off x="8302752" y="164592"/>
            <a:ext cx="73152" cy="73152"/>
          </a:xfrm>
          <a:prstGeom prst="ellipse">
            <a:avLst/>
          </a:prstGeom>
          <a:solidFill>
            <a:srgbClr val="0A1525"/>
          </a:solidFill>
          <a:ln w="6350">
            <a:solidFill>
              <a:srgbClr val="8A9BB5"/>
            </a:solidFill>
            <a:prstDash val="solid"/>
          </a:ln>
        </p:spPr>
      </p:sp>
      <p:sp>
        <p:nvSpPr>
          <p:cNvPr id="5" name="Shape 3"/>
          <p:cNvSpPr/>
          <p:nvPr/>
        </p:nvSpPr>
        <p:spPr>
          <a:xfrm>
            <a:off x="8430768" y="164592"/>
            <a:ext cx="73152" cy="73152"/>
          </a:xfrm>
          <a:prstGeom prst="ellipse">
            <a:avLst/>
          </a:prstGeom>
          <a:solidFill>
            <a:srgbClr val="0A1525"/>
          </a:solidFill>
          <a:ln w="6350">
            <a:solidFill>
              <a:srgbClr val="8A9BB5"/>
            </a:solidFill>
            <a:prstDash val="solid"/>
          </a:ln>
        </p:spPr>
      </p:sp>
      <p:sp>
        <p:nvSpPr>
          <p:cNvPr id="6" name="Shape 4"/>
          <p:cNvSpPr/>
          <p:nvPr/>
        </p:nvSpPr>
        <p:spPr>
          <a:xfrm>
            <a:off x="8558784" y="164592"/>
            <a:ext cx="73152" cy="73152"/>
          </a:xfrm>
          <a:prstGeom prst="ellipse">
            <a:avLst/>
          </a:prstGeom>
          <a:solidFill>
            <a:srgbClr val="0A1525"/>
          </a:solidFill>
          <a:ln w="6350">
            <a:solidFill>
              <a:srgbClr val="8A9BB5"/>
            </a:solidFill>
            <a:prstDash val="solid"/>
          </a:ln>
        </p:spPr>
      </p:sp>
      <p:pic>
        <p:nvPicPr>
          <p:cNvPr id="7"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8" name="Shape 5"/>
          <p:cNvSpPr/>
          <p:nvPr/>
        </p:nvSpPr>
        <p:spPr>
          <a:xfrm>
            <a:off x="0" y="5106924"/>
            <a:ext cx="9144000" cy="36576"/>
          </a:xfrm>
          <a:prstGeom prst="rect">
            <a:avLst/>
          </a:prstGeom>
          <a:solidFill>
            <a:srgbClr val="5391D5"/>
          </a:solidFill>
          <a:ln/>
        </p:spPr>
      </p:sp>
      <p:sp>
        <p:nvSpPr>
          <p:cNvPr id="9" name="Text 6"/>
          <p:cNvSpPr/>
          <p:nvPr/>
        </p:nvSpPr>
        <p:spPr>
          <a:xfrm>
            <a:off x="457200" y="640080"/>
            <a:ext cx="2560320" cy="228600"/>
          </a:xfrm>
          <a:prstGeom prst="rect">
            <a:avLst/>
          </a:prstGeom>
          <a:noFill/>
          <a:ln/>
        </p:spPr>
        <p:txBody>
          <a:bodyPr wrap="square" lIns="0" tIns="0" rIns="0" bIns="0" rtlCol="0" anchor="ctr"/>
          <a:lstStyle/>
          <a:p>
            <a:pPr marL="0" indent="0">
              <a:buNone/>
            </a:pPr>
            <a:r>
              <a:rPr lang="en-US" sz="800" kern="0" spc="200" dirty="0">
                <a:solidFill>
                  <a:srgbClr val="5391D5"/>
                </a:solidFill>
                <a:latin typeface="Arial" pitchFamily="34" charset="0"/>
                <a:ea typeface="Arial" pitchFamily="34" charset="-122"/>
                <a:cs typeface="Arial" pitchFamily="34" charset="-120"/>
              </a:rPr>
              <a:t>RECAP</a:t>
            </a:r>
            <a:endParaRPr lang="en-US" sz="800" dirty="0"/>
          </a:p>
        </p:txBody>
      </p:sp>
      <p:sp>
        <p:nvSpPr>
          <p:cNvPr id="10" name="Text 7"/>
          <p:cNvSpPr/>
          <p:nvPr/>
        </p:nvSpPr>
        <p:spPr>
          <a:xfrm>
            <a:off x="457200" y="868680"/>
            <a:ext cx="2560320" cy="1097280"/>
          </a:xfrm>
          <a:prstGeom prst="rect">
            <a:avLst/>
          </a:prstGeom>
          <a:noFill/>
          <a:ln/>
        </p:spPr>
        <p:txBody>
          <a:bodyPr wrap="square" lIns="0" tIns="0" rIns="0" bIns="0" rtlCol="0" anchor="t"/>
          <a:lstStyle/>
          <a:p>
            <a:pPr marL="0" indent="0">
              <a:buNone/>
            </a:pPr>
            <a:r>
              <a:rPr lang="en-US" sz="2200" b="1" dirty="0">
                <a:solidFill>
                  <a:srgbClr val="F5F0E8"/>
                </a:solidFill>
                <a:latin typeface="Arial" pitchFamily="34" charset="0"/>
                <a:ea typeface="Arial" pitchFamily="34" charset="-122"/>
                <a:cs typeface="Arial" pitchFamily="34" charset="-120"/>
              </a:rPr>
              <a:t>Lesson 2 Recap</a:t>
            </a:r>
            <a:endParaRPr lang="en-US" sz="2200" dirty="0"/>
          </a:p>
        </p:txBody>
      </p:sp>
      <p:sp>
        <p:nvSpPr>
          <p:cNvPr id="11" name="Shape 8"/>
          <p:cNvSpPr/>
          <p:nvPr/>
        </p:nvSpPr>
        <p:spPr>
          <a:xfrm>
            <a:off x="3200400" y="640080"/>
            <a:ext cx="5486400" cy="914400"/>
          </a:xfrm>
          <a:prstGeom prst="rect">
            <a:avLst/>
          </a:prstGeom>
          <a:solidFill>
            <a:srgbClr val="111D2E"/>
          </a:solidFill>
          <a:ln w="6350">
            <a:solidFill>
              <a:srgbClr val="0A1525"/>
            </a:solidFill>
            <a:prstDash val="solid"/>
          </a:ln>
        </p:spPr>
      </p:sp>
      <p:sp>
        <p:nvSpPr>
          <p:cNvPr id="12" name="Shape 9"/>
          <p:cNvSpPr/>
          <p:nvPr/>
        </p:nvSpPr>
        <p:spPr>
          <a:xfrm>
            <a:off x="3310128" y="749808"/>
            <a:ext cx="320040" cy="320040"/>
          </a:xfrm>
          <a:prstGeom prst="ellipse">
            <a:avLst/>
          </a:prstGeom>
          <a:solidFill>
            <a:srgbClr val="5391D5">
              <a:alpha val="20000"/>
            </a:srgbClr>
          </a:solidFill>
          <a:ln w="9525">
            <a:solidFill>
              <a:srgbClr val="5391D5"/>
            </a:solidFill>
            <a:prstDash val="solid"/>
          </a:ln>
        </p:spPr>
      </p:sp>
      <p:pic>
        <p:nvPicPr>
          <p:cNvPr id="13" name="Image 1" descr="C:\Users\AimanSadeq\OneDrive - Virginia Institute of Finance\VIFM eLearning Portal\vifm-elearning\scripts\lesson-generator\assets\icons\search.png"/>
          <p:cNvPicPr>
            <a:picLocks noChangeAspect="1"/>
          </p:cNvPicPr>
          <p:nvPr/>
        </p:nvPicPr>
        <p:blipFill>
          <a:blip r:embed="rId6"/>
          <a:stretch>
            <a:fillRect/>
          </a:stretch>
        </p:blipFill>
        <p:spPr>
          <a:xfrm>
            <a:off x="3380537" y="820217"/>
            <a:ext cx="179222" cy="179222"/>
          </a:xfrm>
          <a:prstGeom prst="rect">
            <a:avLst/>
          </a:prstGeom>
        </p:spPr>
      </p:pic>
      <p:sp>
        <p:nvSpPr>
          <p:cNvPr id="14" name="Text 10"/>
          <p:cNvSpPr/>
          <p:nvPr/>
        </p:nvSpPr>
        <p:spPr>
          <a:xfrm>
            <a:off x="3703320" y="73152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Descriptive analytics answers 'What happened?' and sits at the foundation of the analytics maturity spectrum</a:t>
            </a:r>
            <a:endParaRPr lang="en-US" sz="1000" dirty="0"/>
          </a:p>
        </p:txBody>
      </p:sp>
      <p:sp>
        <p:nvSpPr>
          <p:cNvPr id="15" name="Shape 11"/>
          <p:cNvSpPr/>
          <p:nvPr/>
        </p:nvSpPr>
        <p:spPr>
          <a:xfrm>
            <a:off x="3200400" y="1645920"/>
            <a:ext cx="5486400" cy="914400"/>
          </a:xfrm>
          <a:prstGeom prst="rect">
            <a:avLst/>
          </a:prstGeom>
          <a:solidFill>
            <a:srgbClr val="111D2E"/>
          </a:solidFill>
          <a:ln w="6350">
            <a:solidFill>
              <a:srgbClr val="0A1525"/>
            </a:solidFill>
            <a:prstDash val="solid"/>
          </a:ln>
        </p:spPr>
      </p:sp>
      <p:sp>
        <p:nvSpPr>
          <p:cNvPr id="16" name="Shape 12"/>
          <p:cNvSpPr/>
          <p:nvPr/>
        </p:nvSpPr>
        <p:spPr>
          <a:xfrm>
            <a:off x="3310128" y="1755648"/>
            <a:ext cx="320040" cy="320040"/>
          </a:xfrm>
          <a:prstGeom prst="ellipse">
            <a:avLst/>
          </a:prstGeom>
          <a:solidFill>
            <a:srgbClr val="5391D5">
              <a:alpha val="20000"/>
            </a:srgbClr>
          </a:solidFill>
          <a:ln w="9525">
            <a:solidFill>
              <a:srgbClr val="5391D5"/>
            </a:solidFill>
            <a:prstDash val="solid"/>
          </a:ln>
        </p:spPr>
      </p:sp>
      <p:pic>
        <p:nvPicPr>
          <p:cNvPr id="17" name="Image 2" descr="C:\Users\AimanSadeq\OneDrive - Virginia Institute of Finance\VIFM eLearning Portal\vifm-elearning\scripts\lesson-generator\assets\icons\trend.png"/>
          <p:cNvPicPr>
            <a:picLocks noChangeAspect="1"/>
          </p:cNvPicPr>
          <p:nvPr/>
        </p:nvPicPr>
        <p:blipFill>
          <a:blip r:embed="rId7"/>
          <a:stretch>
            <a:fillRect/>
          </a:stretch>
        </p:blipFill>
        <p:spPr>
          <a:xfrm>
            <a:off x="3380537" y="1826057"/>
            <a:ext cx="179222" cy="179222"/>
          </a:xfrm>
          <a:prstGeom prst="rect">
            <a:avLst/>
          </a:prstGeom>
        </p:spPr>
      </p:pic>
      <p:sp>
        <p:nvSpPr>
          <p:cNvPr id="18" name="Text 13"/>
          <p:cNvSpPr/>
          <p:nvPr/>
        </p:nvSpPr>
        <p:spPr>
          <a:xfrm>
            <a:off x="3703320" y="173736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The three core techniques are trend analysis, variance decomposition, and cohort analysis</a:t>
            </a:r>
            <a:endParaRPr lang="en-US" sz="1000" dirty="0"/>
          </a:p>
        </p:txBody>
      </p:sp>
      <p:sp>
        <p:nvSpPr>
          <p:cNvPr id="19" name="Shape 14"/>
          <p:cNvSpPr/>
          <p:nvPr/>
        </p:nvSpPr>
        <p:spPr>
          <a:xfrm>
            <a:off x="3200400" y="2651760"/>
            <a:ext cx="5486400" cy="914400"/>
          </a:xfrm>
          <a:prstGeom prst="rect">
            <a:avLst/>
          </a:prstGeom>
          <a:solidFill>
            <a:srgbClr val="111D2E"/>
          </a:solidFill>
          <a:ln w="6350">
            <a:solidFill>
              <a:srgbClr val="0A1525"/>
            </a:solidFill>
            <a:prstDash val="solid"/>
          </a:ln>
        </p:spPr>
      </p:sp>
      <p:sp>
        <p:nvSpPr>
          <p:cNvPr id="20" name="Shape 15"/>
          <p:cNvSpPr/>
          <p:nvPr/>
        </p:nvSpPr>
        <p:spPr>
          <a:xfrm>
            <a:off x="3310128" y="2761488"/>
            <a:ext cx="320040" cy="320040"/>
          </a:xfrm>
          <a:prstGeom prst="ellipse">
            <a:avLst/>
          </a:prstGeom>
          <a:solidFill>
            <a:srgbClr val="5391D5">
              <a:alpha val="20000"/>
            </a:srgbClr>
          </a:solidFill>
          <a:ln w="9525">
            <a:solidFill>
              <a:srgbClr val="5391D5"/>
            </a:solidFill>
            <a:prstDash val="solid"/>
          </a:ln>
        </p:spPr>
      </p:sp>
      <p:pic>
        <p:nvPicPr>
          <p:cNvPr id="21" name="Image 3" descr="C:\Users\AimanSadeq\OneDrive - Virginia Institute of Finance\VIFM eLearning Portal\vifm-elearning\scripts\lesson-generator\assets\icons\clipboard.png"/>
          <p:cNvPicPr>
            <a:picLocks noChangeAspect="1"/>
          </p:cNvPicPr>
          <p:nvPr/>
        </p:nvPicPr>
        <p:blipFill>
          <a:blip r:embed="rId8"/>
          <a:stretch>
            <a:fillRect/>
          </a:stretch>
        </p:blipFill>
        <p:spPr>
          <a:xfrm>
            <a:off x="3380537" y="2831897"/>
            <a:ext cx="179222" cy="179222"/>
          </a:xfrm>
          <a:prstGeom prst="rect">
            <a:avLst/>
          </a:prstGeom>
        </p:spPr>
      </p:pic>
      <p:sp>
        <p:nvSpPr>
          <p:cNvPr id="22" name="Text 16"/>
          <p:cNvSpPr/>
          <p:nvPr/>
        </p:nvSpPr>
        <p:spPr>
          <a:xfrm>
            <a:off x="3703320" y="274320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Financial statement analysis uses common-size, horizontal, ratio, and DuPont frameworks</a:t>
            </a:r>
            <a:endParaRPr lang="en-US" sz="1000" dirty="0"/>
          </a:p>
        </p:txBody>
      </p:sp>
      <p:sp>
        <p:nvSpPr>
          <p:cNvPr id="23" name="Shape 17"/>
          <p:cNvSpPr/>
          <p:nvPr/>
        </p:nvSpPr>
        <p:spPr>
          <a:xfrm>
            <a:off x="3200400" y="3657600"/>
            <a:ext cx="5486400" cy="914400"/>
          </a:xfrm>
          <a:prstGeom prst="rect">
            <a:avLst/>
          </a:prstGeom>
          <a:solidFill>
            <a:srgbClr val="111D2E"/>
          </a:solidFill>
          <a:ln w="6350">
            <a:solidFill>
              <a:srgbClr val="0A1525"/>
            </a:solidFill>
            <a:prstDash val="solid"/>
          </a:ln>
        </p:spPr>
      </p:sp>
      <p:sp>
        <p:nvSpPr>
          <p:cNvPr id="24" name="Shape 18"/>
          <p:cNvSpPr/>
          <p:nvPr/>
        </p:nvSpPr>
        <p:spPr>
          <a:xfrm>
            <a:off x="3310128" y="3767328"/>
            <a:ext cx="320040" cy="320040"/>
          </a:xfrm>
          <a:prstGeom prst="ellipse">
            <a:avLst/>
          </a:prstGeom>
          <a:solidFill>
            <a:srgbClr val="5391D5">
              <a:alpha val="20000"/>
            </a:srgbClr>
          </a:solidFill>
          <a:ln w="9525">
            <a:solidFill>
              <a:srgbClr val="5391D5"/>
            </a:solidFill>
            <a:prstDash val="solid"/>
          </a:ln>
        </p:spPr>
      </p:sp>
      <p:pic>
        <p:nvPicPr>
          <p:cNvPr id="25" name="Image 4" descr="C:\Users\AimanSadeq\OneDrive - Virginia Institute of Finance\VIFM eLearning Portal\vifm-elearning\scripts\lesson-generator\assets\icons\target.png"/>
          <p:cNvPicPr>
            <a:picLocks noChangeAspect="1"/>
          </p:cNvPicPr>
          <p:nvPr/>
        </p:nvPicPr>
        <p:blipFill>
          <a:blip r:embed="rId9"/>
          <a:stretch>
            <a:fillRect/>
          </a:stretch>
        </p:blipFill>
        <p:spPr>
          <a:xfrm>
            <a:off x="3380537" y="3837737"/>
            <a:ext cx="179222" cy="179222"/>
          </a:xfrm>
          <a:prstGeom prst="rect">
            <a:avLst/>
          </a:prstGeom>
        </p:spPr>
      </p:pic>
      <p:sp>
        <p:nvSpPr>
          <p:cNvPr id="26" name="Text 19"/>
          <p:cNvSpPr/>
          <p:nvPr/>
        </p:nvSpPr>
        <p:spPr>
          <a:xfrm>
            <a:off x="3703320" y="3749040"/>
            <a:ext cx="4846320" cy="731520"/>
          </a:xfrm>
          <a:prstGeom prst="rect">
            <a:avLst/>
          </a:prstGeom>
          <a:noFill/>
          <a:ln/>
        </p:spPr>
        <p:txBody>
          <a:bodyPr wrap="square" lIns="0" tIns="0" rIns="0" bIns="0" rtlCol="0" anchor="ctr"/>
          <a:lstStyle/>
          <a:p>
            <a:pPr marL="0" indent="0">
              <a:buNone/>
            </a:pPr>
            <a:r>
              <a:rPr lang="en-US" sz="1000" dirty="0">
                <a:solidFill>
                  <a:srgbClr val="F5F0E8"/>
                </a:solidFill>
                <a:latin typeface="Arial" pitchFamily="34" charset="0"/>
                <a:ea typeface="Arial" pitchFamily="34" charset="-122"/>
                <a:cs typeface="Arial" pitchFamily="34" charset="-120"/>
              </a:rPr>
              <a:t>Performance baselines require a three to five year window with adjustments for one-time items and structural changes</a:t>
            </a:r>
            <a:endParaRPr lang="en-US" sz="1000" dirty="0"/>
          </a:p>
        </p:txBody>
      </p:sp>
      <p:pic>
        <p:nvPicPr>
          <p:cNvPr id="27"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0058400" y="6057900"/>
            <a:ext cx="9144" cy="9144"/>
          </a:xfrm>
          <a:prstGeom prst="rect">
            <a:avLst/>
          </a:prstGeom>
        </p:spPr>
      </p:pic>
      <p:sp>
        <p:nvSpPr>
          <p:cNvPr id="29" name="Text 20"/>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9 / 10</a:t>
            </a:r>
            <a:endParaRPr lang="en-US" sz="800" dirty="0"/>
          </a:p>
        </p:txBody>
      </p:sp>
    </p:spTree>
  </p:cSld>
  <p:clrMapOvr>
    <a:masterClrMapping/>
  </p:clrMapOvr>
  <p:transition advClick="0" advTm="53689">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lIns="0" tIns="0" rIns="0" bIns="0" rtlCol="0" anchor="ctr"/>
          <a:lstStyle/>
          <a:p>
            <a:pPr marL="0" indent="0" algn="ctr">
              <a:buNone/>
            </a:pPr>
            <a:r>
              <a:rPr lang="en-US" sz="3000" b="1" dirty="0">
                <a:solidFill>
                  <a:srgbClr val="F5F0E8"/>
                </a:solidFill>
                <a:latin typeface="Arial" pitchFamily="34" charset="0"/>
                <a:ea typeface="Arial" pitchFamily="34" charset="-122"/>
                <a:cs typeface="Arial" pitchFamily="34" charset="-120"/>
              </a:rPr>
              <a:t>Lesson Complete</a:t>
            </a:r>
            <a:endParaRPr lang="en-US" sz="3000" dirty="0"/>
          </a:p>
        </p:txBody>
      </p:sp>
      <p:sp>
        <p:nvSpPr>
          <p:cNvPr id="3" name="Shape 1"/>
          <p:cNvSpPr/>
          <p:nvPr/>
        </p:nvSpPr>
        <p:spPr>
          <a:xfrm>
            <a:off x="3200400" y="2286000"/>
            <a:ext cx="2743200" cy="0"/>
          </a:xfrm>
          <a:prstGeom prst="line">
            <a:avLst/>
          </a:prstGeom>
          <a:noFill/>
          <a:ln w="12700">
            <a:solidFill>
              <a:srgbClr val="5391D5"/>
            </a:solidFill>
            <a:prstDash val="solid"/>
          </a:ln>
        </p:spPr>
      </p:sp>
      <p:sp>
        <p:nvSpPr>
          <p:cNvPr id="4" name="Text 2"/>
          <p:cNvSpPr/>
          <p:nvPr/>
        </p:nvSpPr>
        <p:spPr>
          <a:xfrm>
            <a:off x="914400" y="2560320"/>
            <a:ext cx="7315200" cy="274320"/>
          </a:xfrm>
          <a:prstGeom prst="rect">
            <a:avLst/>
          </a:prstGeom>
          <a:noFill/>
          <a:ln/>
        </p:spPr>
        <p:txBody>
          <a:bodyPr wrap="square" lIns="0" tIns="0" rIns="0" bIns="0" rtlCol="0" anchor="ctr"/>
          <a:lstStyle/>
          <a:p>
            <a:pPr marL="0" indent="0" algn="ctr">
              <a:buNone/>
            </a:pPr>
            <a:r>
              <a:rPr lang="en-US" sz="1000" kern="0" spc="300" dirty="0">
                <a:solidFill>
                  <a:srgbClr val="5391D5"/>
                </a:solidFill>
                <a:latin typeface="Arial" pitchFamily="34" charset="0"/>
                <a:ea typeface="Arial" pitchFamily="34" charset="-122"/>
                <a:cs typeface="Arial" pitchFamily="34" charset="-120"/>
              </a:rPr>
              <a:t>UP NEXT</a:t>
            </a:r>
            <a:endParaRPr lang="en-US" sz="1000" dirty="0"/>
          </a:p>
        </p:txBody>
      </p:sp>
      <p:sp>
        <p:nvSpPr>
          <p:cNvPr id="5" name="Text 3"/>
          <p:cNvSpPr/>
          <p:nvPr/>
        </p:nvSpPr>
        <p:spPr>
          <a:xfrm>
            <a:off x="914400" y="2926080"/>
            <a:ext cx="7315200" cy="457200"/>
          </a:xfrm>
          <a:prstGeom prst="rect">
            <a:avLst/>
          </a:prstGeom>
          <a:noFill/>
          <a:ln/>
        </p:spPr>
        <p:txBody>
          <a:bodyPr wrap="square" lIns="0" tIns="0" rIns="0" bIns="0" rtlCol="0" anchor="ctr"/>
          <a:lstStyle/>
          <a:p>
            <a:pPr marL="0" indent="0" algn="ctr">
              <a:buNone/>
            </a:pPr>
            <a:r>
              <a:rPr lang="en-US" sz="1600" dirty="0">
                <a:solidFill>
                  <a:srgbClr val="8A9BB5"/>
                </a:solidFill>
                <a:latin typeface="Arial" pitchFamily="34" charset="0"/>
                <a:ea typeface="Arial" pitchFamily="34" charset="-122"/>
                <a:cs typeface="Arial" pitchFamily="34" charset="-120"/>
              </a:rPr>
              <a:t>Predictive Models for Financial KPIs</a:t>
            </a:r>
            <a:endParaRPr lang="en-US" sz="1600" dirty="0"/>
          </a:p>
        </p:txBody>
      </p:sp>
      <p:pic>
        <p:nvPicPr>
          <p:cNvPr id="6" name="Image 0" descr="C:\Users\AimanSadeq\OneDrive - Virginia Institute of Finance\VIFM eLearning Portal\vifm-elearning\scripts\lesson-generator\assets\vifm-logo-white.png"/>
          <p:cNvPicPr>
            <a:picLocks noChangeAspect="1"/>
          </p:cNvPicPr>
          <p:nvPr/>
        </p:nvPicPr>
        <p:blipFill>
          <a:blip r:embed="rId5"/>
          <a:stretch>
            <a:fillRect/>
          </a:stretch>
        </p:blipFill>
        <p:spPr>
          <a:xfrm>
            <a:off x="457200" y="4686300"/>
            <a:ext cx="810491" cy="182880"/>
          </a:xfrm>
          <a:prstGeom prst="rect">
            <a:avLst/>
          </a:prstGeom>
        </p:spPr>
      </p:pic>
      <p:sp>
        <p:nvSpPr>
          <p:cNvPr id="7" name="Shape 4"/>
          <p:cNvSpPr/>
          <p:nvPr/>
        </p:nvSpPr>
        <p:spPr>
          <a:xfrm>
            <a:off x="0" y="5106924"/>
            <a:ext cx="9144000" cy="36576"/>
          </a:xfrm>
          <a:prstGeom prst="rect">
            <a:avLst/>
          </a:prstGeom>
          <a:solidFill>
            <a:srgbClr val="5391D5"/>
          </a:solidFill>
          <a:ln/>
        </p:spPr>
      </p:sp>
      <p:pic>
        <p:nvPicPr>
          <p:cNvPr id="8" name="Media 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58400" y="6057900"/>
            <a:ext cx="9144" cy="9144"/>
          </a:xfrm>
          <a:prstGeom prst="rect">
            <a:avLst/>
          </a:prstGeom>
        </p:spPr>
      </p:pic>
      <p:sp>
        <p:nvSpPr>
          <p:cNvPr id="10" name="Text 5"/>
          <p:cNvSpPr/>
          <p:nvPr/>
        </p:nvSpPr>
        <p:spPr>
          <a:xfrm>
            <a:off x="7955280" y="4732020"/>
            <a:ext cx="731520" cy="228600"/>
          </a:xfrm>
          <a:prstGeom prst="rect">
            <a:avLst/>
          </a:prstGeom>
          <a:noFill/>
          <a:ln/>
        </p:spPr>
        <p:txBody>
          <a:bodyPr wrap="square" lIns="0" tIns="0" rIns="0" bIns="0" rtlCol="0" anchor="ctr"/>
          <a:lstStyle/>
          <a:p>
            <a:pPr marL="0" indent="0" algn="r">
              <a:buNone/>
            </a:pPr>
            <a:r>
              <a:rPr lang="en-US" sz="800" dirty="0">
                <a:solidFill>
                  <a:srgbClr val="8A9BB5"/>
                </a:solidFill>
                <a:latin typeface="Arial" pitchFamily="34" charset="0"/>
                <a:ea typeface="Arial" pitchFamily="34" charset="-122"/>
                <a:cs typeface="Arial" pitchFamily="34" charset="-120"/>
              </a:rPr>
              <a:t>10 / 10</a:t>
            </a:r>
            <a:endParaRPr lang="en-US" sz="800" dirty="0"/>
          </a:p>
        </p:txBody>
      </p:sp>
    </p:spTree>
  </p:cSld>
  <p:clrMapOvr>
    <a:masterClrMapping/>
  </p:clrMapOvr>
  <p:transition advClick="0" advTm="2741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2161</Words>
  <Application>Microsoft Office PowerPoint</Application>
  <PresentationFormat>On-screen Show (16:9)</PresentationFormat>
  <Paragraphs>126</Paragraphs>
  <Slides>10</Slides>
  <Notes>10</Notes>
  <HiddenSlides>0</HiddenSlides>
  <MMClips>10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Certified AI Finance Leader</dc:title>
  <dc:subject>PptxGenJS Presentation</dc:subject>
  <dc:creator>Virginia Institute of Finance and Management</dc:creator>
  <cp:lastModifiedBy>Aiman Sadeq</cp:lastModifiedBy>
  <cp:revision>1</cp:revision>
  <dcterms:created xsi:type="dcterms:W3CDTF">2026-03-04T22:22:44Z</dcterms:created>
  <dcterms:modified xsi:type="dcterms:W3CDTF">2026-03-04T22:23:51Z</dcterms:modified>
</cp:coreProperties>
</file>